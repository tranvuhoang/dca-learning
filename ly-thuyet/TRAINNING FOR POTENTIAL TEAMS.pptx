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128" r:id="rId1"/>
  </p:sldMasterIdLst>
  <p:notesMasterIdLst>
    <p:notesMasterId r:id="rId81"/>
  </p:notesMasterIdLst>
  <p:sldIdLst>
    <p:sldId id="256" r:id="rId2"/>
    <p:sldId id="308" r:id="rId3"/>
    <p:sldId id="345" r:id="rId4"/>
    <p:sldId id="346" r:id="rId5"/>
    <p:sldId id="347" r:id="rId6"/>
    <p:sldId id="348" r:id="rId7"/>
    <p:sldId id="349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79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67" r:id="rId37"/>
    <p:sldId id="368" r:id="rId38"/>
    <p:sldId id="380" r:id="rId39"/>
    <p:sldId id="381" r:id="rId40"/>
    <p:sldId id="402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89" r:id="rId49"/>
    <p:sldId id="390" r:id="rId50"/>
    <p:sldId id="391" r:id="rId51"/>
    <p:sldId id="392" r:id="rId52"/>
    <p:sldId id="393" r:id="rId53"/>
    <p:sldId id="394" r:id="rId54"/>
    <p:sldId id="395" r:id="rId55"/>
    <p:sldId id="396" r:id="rId56"/>
    <p:sldId id="397" r:id="rId57"/>
    <p:sldId id="398" r:id="rId58"/>
    <p:sldId id="399" r:id="rId59"/>
    <p:sldId id="400" r:id="rId60"/>
    <p:sldId id="401" r:id="rId61"/>
    <p:sldId id="403" r:id="rId62"/>
    <p:sldId id="404" r:id="rId63"/>
    <p:sldId id="405" r:id="rId64"/>
    <p:sldId id="406" r:id="rId65"/>
    <p:sldId id="408" r:id="rId66"/>
    <p:sldId id="409" r:id="rId67"/>
    <p:sldId id="410" r:id="rId68"/>
    <p:sldId id="411" r:id="rId69"/>
    <p:sldId id="412" r:id="rId70"/>
    <p:sldId id="413" r:id="rId71"/>
    <p:sldId id="420" r:id="rId72"/>
    <p:sldId id="421" r:id="rId73"/>
    <p:sldId id="422" r:id="rId74"/>
    <p:sldId id="414" r:id="rId75"/>
    <p:sldId id="415" r:id="rId76"/>
    <p:sldId id="416" r:id="rId77"/>
    <p:sldId id="418" r:id="rId78"/>
    <p:sldId id="417" r:id="rId79"/>
    <p:sldId id="419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7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78.wmf"/><Relationship Id="rId4" Type="http://schemas.openxmlformats.org/officeDocument/2006/relationships/image" Target="../media/image8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50C6C-FCA5-4C62-A4DA-0A44394558E5}" type="datetimeFigureOut">
              <a:rPr lang="vi-VN" smtClean="0"/>
              <a:t>15/12/21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789BA-291B-490B-8953-4940253F814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20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59630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24124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120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68144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6388" name="Slide Number Placeholder 1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81F87CD-F0F1-4772-9CC7-1C1E0669E16D}" type="slidenum">
              <a:rPr lang="vi-VN" altLang="en-US" smtClean="0">
                <a:latin typeface="Arial" panose="020B0604020202020204" pitchFamily="34" charset="0"/>
              </a:rPr>
              <a:pPr/>
              <a:t>12</a:t>
            </a:fld>
            <a:endParaRPr lang="vi-VN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587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13046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900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86220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28456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370421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418440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875315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604454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878761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622860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765941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103125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4095557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503515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832537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164254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0382278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702665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34870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4537677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41128366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0225742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42898175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4651261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160713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4995408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0026911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3374072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744841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6259038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1839795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7583425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9885524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5116630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8576789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9360691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8906583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13391112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6830334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vi-VN" altLang="en-US" smtClean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241951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93E8-B0F6-4F4F-8CA5-52DBC7CD32AA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375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98AEC-C9D9-41E2-865C-619E56DD71D6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8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09A02-4B37-4F83-B108-E99B94D0B3C5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11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8B03D-73E4-414F-825F-2A68F0241492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73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B9C0-51C8-407D-8BC7-22224A237B29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630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E3055-E72A-442F-B09E-4085743786EE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83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39D9-C050-40E6-ADF0-BD45B6D6BB38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89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5EF5511-1FAD-48DA-8D86-A4F401BC6711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94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2C405-9BBD-4956-9DBB-742AD77613C0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6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6871-2D3C-4C45-B052-1162E0CB9706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8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6A5BA-CDA8-4B08-9AE5-285C59500843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4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EBEAD4-5C0F-4B8C-91DD-062A2945BA7B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84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kdd.ics.uci.edu/databases/kddcup99/kddcup99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18" Type="http://schemas.openxmlformats.org/officeDocument/2006/relationships/image" Target="../media/image3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25.jpeg"/><Relationship Id="rId17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5" Type="http://schemas.openxmlformats.org/officeDocument/2006/relationships/image" Target="../media/image28.jpeg"/><Relationship Id="rId10" Type="http://schemas.openxmlformats.org/officeDocument/2006/relationships/image" Target="../media/image23.jpeg"/><Relationship Id="rId19" Type="http://schemas.openxmlformats.org/officeDocument/2006/relationships/image" Target="../media/image32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Relationship Id="rId1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3" Type="http://schemas.openxmlformats.org/officeDocument/2006/relationships/image" Target="../media/image33.jpeg"/><Relationship Id="rId7" Type="http://schemas.openxmlformats.org/officeDocument/2006/relationships/image" Target="../media/image20.jpeg"/><Relationship Id="rId12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5" Type="http://schemas.openxmlformats.org/officeDocument/2006/relationships/image" Target="../media/image2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Relationship Id="rId14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13" Type="http://schemas.openxmlformats.org/officeDocument/2006/relationships/image" Target="../media/image13.jpeg"/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jpeg"/><Relationship Id="rId11" Type="http://schemas.openxmlformats.org/officeDocument/2006/relationships/image" Target="../media/image11.jpeg"/><Relationship Id="rId5" Type="http://schemas.openxmlformats.org/officeDocument/2006/relationships/image" Target="../media/image43.jpeg"/><Relationship Id="rId15" Type="http://schemas.openxmlformats.org/officeDocument/2006/relationships/image" Target="../media/image47.jpeg"/><Relationship Id="rId10" Type="http://schemas.openxmlformats.org/officeDocument/2006/relationships/image" Target="../media/image10.jpeg"/><Relationship Id="rId4" Type="http://schemas.openxmlformats.org/officeDocument/2006/relationships/image" Target="../media/image42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image" Target="../media/image57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11" Type="http://schemas.openxmlformats.org/officeDocument/2006/relationships/image" Target="../media/image56.jpeg"/><Relationship Id="rId5" Type="http://schemas.openxmlformats.org/officeDocument/2006/relationships/image" Target="../media/image50.jpeg"/><Relationship Id="rId15" Type="http://schemas.openxmlformats.org/officeDocument/2006/relationships/image" Target="../media/image59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Relationship Id="rId14" Type="http://schemas.openxmlformats.org/officeDocument/2006/relationships/image" Target="../media/image5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5.png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5.png"/><Relationship Id="rId7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6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ml/datasets/iris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hyperlink" Target="https://drive.google.com/file/d/1BTP95ymUGRy39wQoZicTBkGzX8YBoByq/view?usp=sharing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7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hyperlink" Target="https://drive.google.com/file/d/1sSDETVUba4ihEenj4_WvvzNddPFlJl7z/view?usp=sharing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66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hyperlink" Target="https://drive.google.com/file/d/1kkbKFQ6JFOROphWronvo0r6cD7wMnzxz/view?usp=sharing" TargetMode="Externa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.bin"/><Relationship Id="rId4" Type="http://schemas.openxmlformats.org/officeDocument/2006/relationships/hyperlink" Target="https://drive.google.com/file/d/1XewXuCaPZvnxg7j48RtnCWLkXa1rUzuf/view?usp=sharin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video" Target="file:///D:\HAUI\2%20ENSEIGNEMENT\DOSSIER%20D'ENGEIGNEMENT\M&#212;N%20DATA%20MINING\SVM%20with%20polynomial%20kernel%20visualization%20-%20YouTube1.mp4" TargetMode="External"/><Relationship Id="rId7" Type="http://schemas.openxmlformats.org/officeDocument/2006/relationships/oleObject" Target="../embeddings/oleObject13.bin"/><Relationship Id="rId2" Type="http://schemas.microsoft.com/office/2007/relationships/media" Target="file:///D:\HAUI\2%20ENSEIGNEMENT\DOSSIER%20D'ENGEIGNEMENT\M&#212;N%20DATA%20MINING\SVM%20with%20polynomial%20kernel%20visualization%20-%20YouTube1.mp4" TargetMode="Externa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12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80.png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78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1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80.png"/><Relationship Id="rId7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83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members.loria.fr/YGuermeur/GuermeurFinalVersion.pdf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8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eltarion.com/knowledge-center/documentation/evaluation-view/classification-loss-metrics/macro-f1-score" TargetMode="External"/><Relationship Id="rId2" Type="http://schemas.openxmlformats.org/officeDocument/2006/relationships/hyperlink" Target="https://peltarion.com/knowledge-center/documentation/evaluation-view/classification-loss-metrics/micro-f1-scor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OTAucwYZlfo_-YyIvbAZKLQiRgaKTjU2" TargetMode="External"/><Relationship Id="rId2" Type="http://schemas.openxmlformats.org/officeDocument/2006/relationships/hyperlink" Target="https://drive.google.com/file/d/1OTAucwYZlfo_-YyIvbAZKLQiRgaKTjU2/view?usp=sharing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VCnUYM1cHVWmM8AsP445uEt8xyTR3Exg" TargetMode="External"/><Relationship Id="rId2" Type="http://schemas.openxmlformats.org/officeDocument/2006/relationships/hyperlink" Target="https://drive.google.com/file/d/1VCnUYM1cHVWmM8AsP445uEt8xyTR3Exg/view?usp=sharing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fVTQ_9CIpy9EMkSGifERVLn2I-0q2lP_#scrollTo=ZbdR_2xCgyOG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27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28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3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99.wmf"/><Relationship Id="rId4" Type="http://schemas.openxmlformats.org/officeDocument/2006/relationships/oleObject" Target="../embeddings/oleObject30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99.wmf"/><Relationship Id="rId4" Type="http://schemas.openxmlformats.org/officeDocument/2006/relationships/oleObject" Target="../embeddings/oleObject30.bin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gi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hav4ik.github.io/articles/deep-metric-learning-survey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4389" y="3224488"/>
            <a:ext cx="9917599" cy="1169551"/>
          </a:xfrm>
        </p:spPr>
        <p:txBody>
          <a:bodyPr>
            <a:normAutofit/>
          </a:bodyPr>
          <a:lstStyle/>
          <a:p>
            <a:r>
              <a:rPr lang="en-US" b="1" dirty="0" smtClean="0"/>
              <a:t>MACHINE LEARNING</a:t>
            </a:r>
            <a:endParaRPr lang="vi-V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4390" y="4601073"/>
            <a:ext cx="8144134" cy="655633"/>
          </a:xfrm>
        </p:spPr>
        <p:txBody>
          <a:bodyPr>
            <a:normAutofit/>
          </a:bodyPr>
          <a:lstStyle/>
          <a:p>
            <a:r>
              <a:rPr lang="en-US" b="1" dirty="0" smtClean="0"/>
              <a:t>POTENTIAL TEAMS TRAINING</a:t>
            </a:r>
            <a:endParaRPr lang="vi-VN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9007901" y="5921874"/>
            <a:ext cx="2360010" cy="2418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err="1" smtClean="0"/>
              <a:t>Manh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CuoNG</a:t>
            </a:r>
            <a:r>
              <a:rPr lang="en-US" sz="1400" b="1" dirty="0" smtClean="0"/>
              <a:t> NGUYEN</a:t>
            </a:r>
            <a:endParaRPr lang="vi-VN" sz="1400" b="1" dirty="0"/>
          </a:p>
        </p:txBody>
      </p:sp>
    </p:spTree>
    <p:extLst>
      <p:ext uri="{BB962C8B-B14F-4D97-AF65-F5344CB8AC3E}">
        <p14:creationId xmlns:p14="http://schemas.microsoft.com/office/powerpoint/2010/main" val="61360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4150"/>
          </a:xfrm>
          <a:solidFill>
            <a:srgbClr val="FF6600"/>
          </a:solidFill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MODULE 1</a:t>
            </a:r>
            <a:endParaRPr lang="vi-VN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979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3408675" y="1269242"/>
            <a:ext cx="5374649" cy="3957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/>
              <a:t>POTENTIAL TEAMS TRAINING</a:t>
            </a:r>
            <a:endParaRPr lang="vi-VN" sz="28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929129" y="2912533"/>
            <a:ext cx="6491783" cy="1625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6000" b="1" dirty="0" smtClean="0"/>
              <a:t>DATA CLASSIFICATON</a:t>
            </a:r>
          </a:p>
          <a:p>
            <a:pPr algn="ctr">
              <a:lnSpc>
                <a:spcPct val="120000"/>
              </a:lnSpc>
            </a:pPr>
            <a:r>
              <a:rPr lang="en-US" sz="3000" b="1" dirty="0"/>
              <a:t>CLASSICAL APPROACHES</a:t>
            </a:r>
            <a:endParaRPr lang="vi-VN" sz="30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872C9-B36E-4CA2-9A6A-33E7BDED6744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0" y="762000"/>
            <a:ext cx="12192000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vi-VN" altLang="vi-VN" sz="2400">
              <a:solidFill>
                <a:srgbClr val="00FFCC"/>
              </a:solidFill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228600" y="7620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vi-VN" sz="2000" b="1">
                <a:solidFill>
                  <a:schemeClr val="bg1"/>
                </a:solidFill>
                <a:latin typeface="Arial" panose="020B0604020202020204" pitchFamily="34" charset="0"/>
              </a:rPr>
              <a:t>BÀI TOÁN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49238" y="14097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Nhận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dạng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gói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tin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hệ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thống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thư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điện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tử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62000" y="2057400"/>
            <a:ext cx="86868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Cho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biết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gói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tin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là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Nguy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hiểm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” hay “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thường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”.</a:t>
            </a:r>
          </a:p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Nếu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là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Nguy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hiểm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”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thì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loại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tấn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công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gì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9238" y="3054350"/>
            <a:ext cx="8686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Dữ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liệu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về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các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gói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hlinkClick r:id="rId2"/>
              </a:rPr>
              <a:t> tin: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(KDD CUP 99 10%)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2439" y="3693584"/>
            <a:ext cx="11479918" cy="2123658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sz="1100" dirty="0"/>
              <a:t>0, tcp, http, SF, 181, 5450, 0, 0, 0, 0, 0, 1, 0, 0, 0, 0, 0, 0, 0, 0, 0, 0, 8, 8, 0.00, 0.00, 0.00, 0.00, 1.00, 0.00, 0.00, 9, 9, 1.00, 0.00, 0.11, 0.00, 0.00, 0.00, 0.00, 0.00, normal.</a:t>
            </a:r>
          </a:p>
          <a:p>
            <a:pPr>
              <a:defRPr/>
            </a:pPr>
            <a:r>
              <a:rPr lang="vi-VN" sz="1100" dirty="0"/>
              <a:t>0, tcp, http, SF, 239, 486, 0, 0, 0, 0, 0, 1, 0, 0, 0, 0, 0, 0, 0, 0, 0, 0, 8, 8, 0.00, 0.00, 0.00, 0.00, 1.00, 0.00, 0.00, 19, 19, 1.00, 0.00, 0.05, 0.00, 0.00, 0.00, 0.00, 0.00, normal.</a:t>
            </a:r>
          </a:p>
          <a:p>
            <a:pPr>
              <a:defRPr/>
            </a:pPr>
            <a:r>
              <a:rPr lang="vi-VN" sz="1100" dirty="0"/>
              <a:t>0, tcp, http, SF, 235, 1337, 0, 0, 0, 0, 0, 1, 0, 0, 0, 0, 0, 0, 0, 0, 0, 0, 8, 8, 0.00, 0.00, 0.00, 0.00, 1.00, 0.00, 0.00, 29, 29, 1.00, 0.00, 0.03, 0.00, 0.00, 0.00, 0.00, 0.00, normal.</a:t>
            </a:r>
          </a:p>
          <a:p>
            <a:pPr>
              <a:defRPr/>
            </a:pPr>
            <a:r>
              <a:rPr lang="vi-VN" sz="1100" dirty="0"/>
              <a:t>0, tcp, http, SF, 219, 1337, 0, 0, 0, 0, 0, 1, 0, 0, 0, 0, 0, 0, 0, 0, 0, 0, 6, 6, 0.00, 0.00, 0.00, 0.00, 1.00, 0.00, 0.00, 39, 39, 1.00, 0.00, 0.03, 0.00, 0.00, 0.00, 0.00, 0.00, normal.</a:t>
            </a:r>
          </a:p>
          <a:p>
            <a:pPr>
              <a:defRPr/>
            </a:pPr>
            <a:r>
              <a:rPr lang="vi-VN" sz="1100" dirty="0"/>
              <a:t>0, tcp, http, SF, 54540, 8314, 0, 0, 0, 2, 0, 1, 1, 0, 0, 0, 0, 0, 0, 0, 0, 0, 4, 4, 0.00, 0.00, 0.25, 0.25, 1.00, 0.00, 0.00, 255, 255, 1.00, 0.00, 0.00, 0.00, 0.00, 0.00, 0.03, 0.03, back.</a:t>
            </a:r>
          </a:p>
          <a:p>
            <a:pPr>
              <a:defRPr/>
            </a:pPr>
            <a:r>
              <a:rPr lang="vi-VN" sz="1100" dirty="0"/>
              <a:t>0, tcp, http, SF, 54540, 8314, 0, 0, 0, 2, 0, 1, 1, 0, 0, 0, 0, 0, 0, 0, 0, 0, 3, 3, 0.00, 0.00, 0.00, 0.00, 1.00, 0.00, 0.00, 255, 255, 1.00, 0.00, 0.00, 0.00, 0.00, 0.00, 0.03, 0.03,back.</a:t>
            </a:r>
          </a:p>
          <a:p>
            <a:pPr>
              <a:defRPr/>
            </a:pPr>
            <a:r>
              <a:rPr lang="vi-VN" sz="1100" dirty="0"/>
              <a:t>0, tcp, http, SF, 54540, 8314, 0, 0, 0, 2, 0, 1, 1, 0, 0, 0, 0, 0, 0, 0, 0, 0, 4, 4, 0.00, 0.00, 0.00, 0.00, 1.00, 0.00, 0.00, 255, 255, 1.00, 0.00, 0.00, 0.00, 0.00, 0.00, 0.03, 0.03, back.</a:t>
            </a:r>
          </a:p>
          <a:p>
            <a:pPr>
              <a:defRPr/>
            </a:pPr>
            <a:r>
              <a:rPr lang="vi-VN" sz="1100" dirty="0"/>
              <a:t>0, tcp, http, SF, 54540, 8314, 0, 0, 0, 2, 0, 1, 1, 0, 0, 0, 0, 0, 0, 0, 0, 0, 4, 4, 0.00, 0.00, 0.00, 0.00, 1.00, 0.00, 0.00, 255, 255, 1.00, 0.00, 0.00, 0.00, 0.00, 0.00, 0.03, 0.03, back.</a:t>
            </a:r>
          </a:p>
          <a:p>
            <a:pPr>
              <a:defRPr/>
            </a:pPr>
            <a:r>
              <a:rPr lang="vi-VN" sz="1100" dirty="0"/>
              <a:t>0, icmp, ecr_i, SF, 1032, 0, 0, 0, 0, 0, 0, 0, 0, 0, 0, 0, 0, 0, 0, 0, 0, 0, 511, 511, 0.00, 0.00, 0.00, 0.00, 1.00, 0.00, 0.00, 255, 255, 1.00, 0.00, 1.00, 0.00, 0.00, 0.00, 0.00, 0.00, smurf.</a:t>
            </a:r>
          </a:p>
          <a:p>
            <a:pPr>
              <a:defRPr/>
            </a:pPr>
            <a:r>
              <a:rPr lang="vi-VN" sz="1100" dirty="0"/>
              <a:t>0, icmp, ecr_i, SF, 1032, 0, 0, 0, 0, 0, 0, 0, 0, 0, 0, 0, 0, 0, 0, 0, 0, 0, 511, 511, 0.00, 0.00, 0.00, 0.00, 1.00, 0.00, 0.00, 255, 255, 1.00, 0.00, 1.00, 0.00, 0.00, 0.00, 0.00, 0.00, smurf.</a:t>
            </a:r>
          </a:p>
          <a:p>
            <a:pPr>
              <a:defRPr/>
            </a:pPr>
            <a:r>
              <a:rPr lang="vi-VN" sz="1100" dirty="0"/>
              <a:t>0, icmp, ecr_i, SF, 1032, 0, 0, 0, 0, 0, 0, 0, 0, 0, 0, 0, 0, 0, 0, 0, 0, 0, 511, 511, 0.00, 0.00, 0.00, 0.00, 1.00, 0.00, 0.00, 255, 255, 1.00, 0.00, 1.00, 0.00, 0.00, 0.00, 0.00, 0.00, smurf.</a:t>
            </a:r>
          </a:p>
          <a:p>
            <a:pPr>
              <a:defRPr/>
            </a:pPr>
            <a:r>
              <a:rPr lang="vi-VN" sz="1100" dirty="0"/>
              <a:t>0, icmp, ecr_i, SF, 1032, 0, 0, 0, 0, 0, 0, 0, 0, 0, 0, 0, 0, 0, 0, 0, 0, 0, 511, 511, 0.00, 0.00, 0.00, 0.00, 1.00, 0.00, 0.00, 255, 255, 1.00, 0.00, 1.00, 0.00, 0.00, 0.00, 0.00, 0.00, smurf.</a:t>
            </a:r>
          </a:p>
        </p:txBody>
      </p:sp>
      <p:sp>
        <p:nvSpPr>
          <p:cNvPr id="7885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8EC1795-A71D-46F7-8C75-061489DE14F8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32349-78FC-4324-96CE-E6DDF623DC2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373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0" y="762000"/>
            <a:ext cx="12192000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vi-VN" altLang="vi-VN" sz="2400">
              <a:solidFill>
                <a:srgbClr val="00FFCC"/>
              </a:solidFill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228600" y="7620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vi-VN" sz="2000" b="1">
                <a:solidFill>
                  <a:schemeClr val="bg1"/>
                </a:solidFill>
                <a:latin typeface="Arial" panose="020B0604020202020204" pitchFamily="34" charset="0"/>
              </a:rPr>
              <a:t>BÀI TOÁN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49238" y="14097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Các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loại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tấn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công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9238" y="3824288"/>
            <a:ext cx="8686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bài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toán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9878" name="Rectangle 1"/>
          <p:cNvSpPr>
            <a:spLocks noChangeArrowheads="1"/>
          </p:cNvSpPr>
          <p:nvPr/>
        </p:nvSpPr>
        <p:spPr bwMode="auto">
          <a:xfrm>
            <a:off x="685800" y="2057400"/>
            <a:ext cx="112569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400">
                <a:latin typeface="Arial" panose="020B0604020202020204" pitchFamily="34" charset="0"/>
              </a:rPr>
              <a:t>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altLang="vi-VN" sz="2400">
                <a:latin typeface="Arial" panose="020B0604020202020204" pitchFamily="34" charset="0"/>
              </a:rPr>
              <a:t>R2L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altLang="vi-VN" sz="2400">
                <a:latin typeface="Arial" panose="020B0604020202020204" pitchFamily="34" charset="0"/>
              </a:rPr>
              <a:t>U2R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altLang="vi-VN" sz="2400">
                <a:latin typeface="Arial" panose="020B0604020202020204" pitchFamily="34" charset="0"/>
              </a:rPr>
              <a:t>Probing</a:t>
            </a:r>
          </a:p>
        </p:txBody>
      </p:sp>
      <p:pic>
        <p:nvPicPr>
          <p:cNvPr id="80903" name="Picture 8" descr="im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336925"/>
            <a:ext cx="83820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4" name="Rectangle 11"/>
          <p:cNvSpPr>
            <a:spLocks noChangeArrowheads="1"/>
          </p:cNvSpPr>
          <p:nvPr/>
        </p:nvSpPr>
        <p:spPr bwMode="auto">
          <a:xfrm>
            <a:off x="4191000" y="3332163"/>
            <a:ext cx="1600200" cy="12954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vi-VN" sz="1600" b="1"/>
              <a:t>IDS</a:t>
            </a:r>
          </a:p>
        </p:txBody>
      </p:sp>
      <p:sp>
        <p:nvSpPr>
          <p:cNvPr id="80905" name="Line 13"/>
          <p:cNvSpPr>
            <a:spLocks noChangeShapeType="1"/>
          </p:cNvSpPr>
          <p:nvPr/>
        </p:nvSpPr>
        <p:spPr bwMode="auto">
          <a:xfrm>
            <a:off x="3352800" y="4022725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80906" name="Line 25"/>
          <p:cNvSpPr>
            <a:spLocks noChangeShapeType="1"/>
          </p:cNvSpPr>
          <p:nvPr/>
        </p:nvSpPr>
        <p:spPr bwMode="auto">
          <a:xfrm flipV="1">
            <a:off x="5791200" y="2286000"/>
            <a:ext cx="1600200" cy="1677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80907" name="Line 25"/>
          <p:cNvSpPr>
            <a:spLocks noChangeShapeType="1"/>
          </p:cNvSpPr>
          <p:nvPr/>
        </p:nvSpPr>
        <p:spPr bwMode="auto">
          <a:xfrm flipV="1">
            <a:off x="5791200" y="3141663"/>
            <a:ext cx="1600200" cy="822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80908" name="Rectangle 16"/>
          <p:cNvSpPr>
            <a:spLocks noChangeArrowheads="1"/>
          </p:cNvSpPr>
          <p:nvPr/>
        </p:nvSpPr>
        <p:spPr bwMode="auto">
          <a:xfrm>
            <a:off x="7391400" y="1954213"/>
            <a:ext cx="1212850" cy="64135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vi-VN" sz="1600" b="1"/>
              <a:t>Normal</a:t>
            </a:r>
          </a:p>
        </p:txBody>
      </p:sp>
      <p:sp>
        <p:nvSpPr>
          <p:cNvPr id="80909" name="Rectangle 17"/>
          <p:cNvSpPr>
            <a:spLocks noChangeArrowheads="1"/>
          </p:cNvSpPr>
          <p:nvPr/>
        </p:nvSpPr>
        <p:spPr bwMode="auto">
          <a:xfrm>
            <a:off x="7391400" y="2792413"/>
            <a:ext cx="1212850" cy="64135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vi-VN" sz="1600" b="1"/>
              <a:t>DOS</a:t>
            </a:r>
          </a:p>
        </p:txBody>
      </p:sp>
      <p:sp>
        <p:nvSpPr>
          <p:cNvPr id="80910" name="Rectangle 18"/>
          <p:cNvSpPr>
            <a:spLocks noChangeArrowheads="1"/>
          </p:cNvSpPr>
          <p:nvPr/>
        </p:nvSpPr>
        <p:spPr bwMode="auto">
          <a:xfrm>
            <a:off x="7391400" y="3609975"/>
            <a:ext cx="1212850" cy="639763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vi-VN" sz="1600" b="1"/>
              <a:t>R2L</a:t>
            </a:r>
          </a:p>
        </p:txBody>
      </p:sp>
      <p:sp>
        <p:nvSpPr>
          <p:cNvPr id="80911" name="Rectangle 19"/>
          <p:cNvSpPr>
            <a:spLocks noChangeArrowheads="1"/>
          </p:cNvSpPr>
          <p:nvPr/>
        </p:nvSpPr>
        <p:spPr bwMode="auto">
          <a:xfrm>
            <a:off x="7391400" y="4427538"/>
            <a:ext cx="1212850" cy="6397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vi-VN" sz="1600" b="1"/>
              <a:t>U2R</a:t>
            </a:r>
          </a:p>
        </p:txBody>
      </p:sp>
      <p:sp>
        <p:nvSpPr>
          <p:cNvPr id="80912" name="Rectangle 20"/>
          <p:cNvSpPr>
            <a:spLocks noChangeArrowheads="1"/>
          </p:cNvSpPr>
          <p:nvPr/>
        </p:nvSpPr>
        <p:spPr bwMode="auto">
          <a:xfrm>
            <a:off x="7391400" y="5268913"/>
            <a:ext cx="1212850" cy="639762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vi-VN" sz="1600" b="1"/>
              <a:t>Probing</a:t>
            </a:r>
          </a:p>
        </p:txBody>
      </p:sp>
      <p:sp>
        <p:nvSpPr>
          <p:cNvPr id="80913" name="Line 25"/>
          <p:cNvSpPr>
            <a:spLocks noChangeShapeType="1"/>
          </p:cNvSpPr>
          <p:nvPr/>
        </p:nvSpPr>
        <p:spPr bwMode="auto">
          <a:xfrm flipV="1">
            <a:off x="5791200" y="3960813"/>
            <a:ext cx="15557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80914" name="Line 25"/>
          <p:cNvSpPr>
            <a:spLocks noChangeShapeType="1"/>
          </p:cNvSpPr>
          <p:nvPr/>
        </p:nvSpPr>
        <p:spPr bwMode="auto">
          <a:xfrm>
            <a:off x="5791200" y="3963988"/>
            <a:ext cx="155575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80915" name="Line 25"/>
          <p:cNvSpPr>
            <a:spLocks noChangeShapeType="1"/>
          </p:cNvSpPr>
          <p:nvPr/>
        </p:nvSpPr>
        <p:spPr bwMode="auto">
          <a:xfrm>
            <a:off x="5835650" y="3960813"/>
            <a:ext cx="1555750" cy="16240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284163" y="5622925"/>
            <a:ext cx="8686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0917" name="Rectangle 3"/>
          <p:cNvSpPr>
            <a:spLocks noChangeArrowheads="1"/>
          </p:cNvSpPr>
          <p:nvPr/>
        </p:nvSpPr>
        <p:spPr bwMode="auto">
          <a:xfrm>
            <a:off x="284163" y="5589588"/>
            <a:ext cx="8686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</a:rPr>
              <a:t>Bài toán nhận dạng </a:t>
            </a: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 Bài toán phân lớp</a:t>
            </a:r>
            <a:endParaRPr lang="en-US" altLang="vi-VN" sz="2000" b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7989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AB61840-9D64-4BD1-AC7E-820AF2CA91A1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DB39E3-281C-4A6F-94E7-183F68C90A2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94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0904" grpId="0" animBg="1"/>
      <p:bldP spid="80908" grpId="0" animBg="1"/>
      <p:bldP spid="80909" grpId="0" animBg="1"/>
      <p:bldP spid="80910" grpId="0" animBg="1"/>
      <p:bldP spid="80911" grpId="0" animBg="1"/>
      <p:bldP spid="80912" grpId="0" animBg="1"/>
      <p:bldP spid="809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436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BÀI TOÁN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089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FF81C48-2DE3-4812-AF21-787E5145EB68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090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13D3630-9BD6-4FDF-BCDC-1BCA8FE9753E}" type="slidenum">
              <a:rPr lang="en-US" altLang="vi-VN" sz="1800" smtClean="0">
                <a:solidFill>
                  <a:srgbClr val="FFFFFF"/>
                </a:solidFill>
              </a:rPr>
              <a:pPr/>
              <a:t>5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2928938" y="1117600"/>
            <a:ext cx="6743700" cy="396875"/>
          </a:xfrm>
          <a:prstGeom prst="rect">
            <a:avLst/>
          </a:prstGeom>
        </p:spPr>
        <p:txBody>
          <a:bodyPr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endParaRPr lang="vi-V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3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1131888" y="2149475"/>
            <a:ext cx="9155112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Input: 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	</a:t>
            </a:r>
            <a:r>
              <a:rPr lang="en-US" altLang="vi-VN" sz="2000" b="1" dirty="0">
                <a:solidFill>
                  <a:srgbClr val="0070C0"/>
                </a:solidFill>
              </a:rPr>
              <a:t>-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Mẫu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dữ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liệu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cần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nhận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dạng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(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phân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lớp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 smtClean="0">
                <a:solidFill>
                  <a:srgbClr val="0070C0"/>
                </a:solidFill>
              </a:rPr>
              <a:t>             -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Số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lớp</a:t>
            </a:r>
            <a:endParaRPr lang="en-US" altLang="vi-VN" sz="2000" b="1" dirty="0" smtClean="0">
              <a:solidFill>
                <a:srgbClr val="0070C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>
                <a:solidFill>
                  <a:srgbClr val="0070C0"/>
                </a:solidFill>
              </a:rPr>
              <a:t> 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           - Dữ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liệu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huấn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luyện</a:t>
            </a:r>
            <a:endParaRPr lang="en-US" altLang="vi-VN" sz="2000" b="1" dirty="0">
              <a:solidFill>
                <a:srgbClr val="0070C0"/>
              </a:solidFill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096963" y="4173538"/>
            <a:ext cx="7570787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Output: 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	</a:t>
            </a:r>
            <a:r>
              <a:rPr lang="en-US" altLang="vi-VN" sz="2000" b="1" dirty="0">
                <a:solidFill>
                  <a:srgbClr val="0070C0"/>
                </a:solidFill>
              </a:rPr>
              <a:t>- </a:t>
            </a:r>
            <a:r>
              <a:rPr lang="en-US" altLang="vi-VN" sz="2000" b="1" dirty="0" err="1">
                <a:solidFill>
                  <a:srgbClr val="0070C0"/>
                </a:solidFill>
              </a:rPr>
              <a:t>Lớp</a:t>
            </a:r>
            <a:r>
              <a:rPr lang="en-US" altLang="vi-VN" sz="2000" b="1" dirty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</a:rPr>
              <a:t>của</a:t>
            </a:r>
            <a:r>
              <a:rPr lang="en-US" altLang="vi-VN" sz="2000" b="1" dirty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mẫu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: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Thuộc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một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trong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các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lớp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cho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trước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endParaRPr lang="en-US" altLang="vi-VN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75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436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192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C2CF9C1-A056-4B61-BD79-B4DD32947B8B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192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83B254-26D2-47AC-985B-0D0AA8B2BDD8}" type="slidenum">
              <a:rPr lang="en-US" altLang="vi-VN" sz="1800" smtClean="0">
                <a:solidFill>
                  <a:srgbClr val="FFFFFF"/>
                </a:solidFill>
              </a:rPr>
              <a:pPr/>
              <a:t>6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2928938" y="1117600"/>
            <a:ext cx="6743700" cy="396875"/>
          </a:xfrm>
          <a:prstGeom prst="rect">
            <a:avLst/>
          </a:prstGeom>
        </p:spPr>
        <p:txBody>
          <a:bodyPr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endParaRPr lang="vi-V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27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81928" name="Line 25"/>
          <p:cNvSpPr>
            <a:spLocks noChangeShapeType="1"/>
          </p:cNvSpPr>
          <p:nvPr/>
        </p:nvSpPr>
        <p:spPr bwMode="auto">
          <a:xfrm>
            <a:off x="4114800" y="29718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598488" y="1985963"/>
            <a:ext cx="2971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Bước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1.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luyện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681038" y="3917950"/>
            <a:ext cx="6710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Bước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2.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bộ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loại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để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2955" name="Line 30"/>
          <p:cNvSpPr>
            <a:spLocks noChangeShapeType="1"/>
          </p:cNvSpPr>
          <p:nvPr/>
        </p:nvSpPr>
        <p:spPr bwMode="auto">
          <a:xfrm>
            <a:off x="4070350" y="5253038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3" name="Flowchart: Multidocument 2"/>
          <p:cNvSpPr/>
          <p:nvPr/>
        </p:nvSpPr>
        <p:spPr>
          <a:xfrm>
            <a:off x="914400" y="2492375"/>
            <a:ext cx="3200400" cy="114300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Training set</a:t>
            </a:r>
          </a:p>
          <a:p>
            <a:pPr algn="ctr" eaLnBrk="1" hangingPunct="1">
              <a:defRPr/>
            </a:pP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vi-VN" b="1" dirty="0" err="1">
                <a:solidFill>
                  <a:schemeClr val="bg1"/>
                </a:solidFill>
                <a:latin typeface="Arial" panose="020B0604020202020204" pitchFamily="34" charset="0"/>
              </a:rPr>
              <a:t>dữ</a:t>
            </a: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Arial" panose="020B0604020202020204" pitchFamily="34" charset="0"/>
              </a:rPr>
              <a:t>liệu</a:t>
            </a: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Arial" panose="020B0604020202020204" pitchFamily="34" charset="0"/>
              </a:rPr>
              <a:t>huấn</a:t>
            </a: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Arial" panose="020B0604020202020204" pitchFamily="34" charset="0"/>
              </a:rPr>
              <a:t>luyện</a:t>
            </a: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ctr">
              <a:defRPr/>
            </a:pPr>
            <a:endParaRPr lang="vi-VN" dirty="0"/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4876800" y="2492375"/>
            <a:ext cx="2559050" cy="1143000"/>
          </a:xfrm>
          <a:prstGeom prst="rect">
            <a:avLst/>
          </a:prstGeom>
          <a:solidFill>
            <a:schemeClr val="bg2">
              <a:lumMod val="25000"/>
            </a:schemeClr>
          </a:solidFill>
          <a:ln w="2857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vi-VN" sz="1800" b="1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Trainning</a:t>
            </a:r>
            <a:endParaRPr lang="en-US" altLang="vi-VN" sz="1800" b="1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defRPr/>
            </a:pPr>
            <a:r>
              <a:rPr lang="en-US" altLang="vi-VN" sz="1800" b="1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vi-VN" sz="1800" b="1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Huấn</a:t>
            </a:r>
            <a:r>
              <a:rPr lang="en-US" altLang="vi-VN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vi-VN" sz="1800" b="1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luyện</a:t>
            </a:r>
            <a:r>
              <a:rPr lang="en-US" altLang="vi-VN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vi-VN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1934" name="Line 25"/>
          <p:cNvSpPr>
            <a:spLocks noChangeShapeType="1"/>
          </p:cNvSpPr>
          <p:nvPr/>
        </p:nvSpPr>
        <p:spPr bwMode="auto">
          <a:xfrm>
            <a:off x="7435850" y="30480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28" name="Flowchart: Multidocument 27"/>
          <p:cNvSpPr/>
          <p:nvPr/>
        </p:nvSpPr>
        <p:spPr>
          <a:xfrm>
            <a:off x="958850" y="4654550"/>
            <a:ext cx="3078163" cy="1125538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vi-VN" b="1" dirty="0">
                <a:latin typeface="Arial" panose="020B0604020202020204" pitchFamily="34" charset="0"/>
                <a:cs typeface="Arial" panose="020B0604020202020204" pitchFamily="34" charset="0"/>
              </a:rPr>
              <a:t>Input Pattern</a:t>
            </a:r>
          </a:p>
          <a:p>
            <a:pPr algn="ctr" eaLnBrk="1" hangingPunct="1">
              <a:defRPr/>
            </a:pPr>
            <a:r>
              <a:rPr lang="en-US" altLang="vi-VN" b="1" dirty="0">
                <a:latin typeface="Arial" panose="020B0604020202020204" pitchFamily="34" charset="0"/>
                <a:cs typeface="Arial" panose="020B0604020202020204" pitchFamily="34" charset="0"/>
              </a:rPr>
              <a:t>(Dữ </a:t>
            </a:r>
            <a:r>
              <a:rPr lang="en-US" alt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altLang="vi-V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altLang="vi-V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vi-V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altLang="vi-VN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9" name="Flowchart: Internal Storage 28"/>
          <p:cNvSpPr/>
          <p:nvPr/>
        </p:nvSpPr>
        <p:spPr>
          <a:xfrm>
            <a:off x="8197850" y="2549525"/>
            <a:ext cx="2743200" cy="108585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Classifier</a:t>
            </a:r>
          </a:p>
          <a:p>
            <a:pPr algn="ctr" eaLnBrk="1" hangingPunct="1">
              <a:defRPr/>
            </a:pP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(Bộ </a:t>
            </a:r>
            <a:r>
              <a:rPr lang="en-US" altLang="vi-VN" b="1" dirty="0" err="1">
                <a:solidFill>
                  <a:schemeClr val="bg1"/>
                </a:solidFill>
                <a:latin typeface="Arial" panose="020B0604020202020204" pitchFamily="34" charset="0"/>
              </a:rPr>
              <a:t>phân</a:t>
            </a: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vi-VN" b="1" dirty="0" err="1">
                <a:solidFill>
                  <a:schemeClr val="bg1"/>
                </a:solidFill>
                <a:latin typeface="Arial" panose="020B0604020202020204" pitchFamily="34" charset="0"/>
              </a:rPr>
              <a:t>loại</a:t>
            </a:r>
            <a:r>
              <a:rPr lang="en-US" altLang="vi-VN" b="1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82961" name="Line 25"/>
          <p:cNvSpPr>
            <a:spLocks noChangeShapeType="1"/>
          </p:cNvSpPr>
          <p:nvPr/>
        </p:nvSpPr>
        <p:spPr bwMode="auto">
          <a:xfrm>
            <a:off x="7391400" y="52578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vi-VN"/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4832350" y="4654550"/>
            <a:ext cx="2559050" cy="1125538"/>
          </a:xfrm>
          <a:prstGeom prst="rect">
            <a:avLst/>
          </a:prstGeom>
          <a:solidFill>
            <a:schemeClr val="bg2">
              <a:lumMod val="25000"/>
            </a:schemeClr>
          </a:solidFill>
          <a:ln w="2857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vi-VN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Classification</a:t>
            </a:r>
            <a:endParaRPr lang="en-US" altLang="vi-VN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 eaLnBrk="1" hangingPunct="1">
              <a:defRPr/>
            </a:pPr>
            <a:r>
              <a:rPr lang="en-US" altLang="vi-VN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vi-VN" sz="1800" b="1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Phân</a:t>
            </a:r>
            <a:r>
              <a:rPr lang="en-US" altLang="vi-VN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vi-VN" sz="1800" b="1" dirty="0" err="1" smtClean="0">
                <a:solidFill>
                  <a:schemeClr val="bg1"/>
                </a:solidFill>
                <a:latin typeface="Arial" panose="020B0604020202020204" pitchFamily="34" charset="0"/>
              </a:rPr>
              <a:t>lớp</a:t>
            </a:r>
            <a:r>
              <a:rPr lang="en-US" altLang="vi-VN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vi-VN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Flowchart: Terminator 5"/>
          <p:cNvSpPr/>
          <p:nvPr/>
        </p:nvSpPr>
        <p:spPr>
          <a:xfrm>
            <a:off x="8197850" y="4654550"/>
            <a:ext cx="2743200" cy="112553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Class Label of input pattern</a:t>
            </a:r>
          </a:p>
          <a:p>
            <a:pPr algn="ctr"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vi-VN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92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 animBg="1"/>
      <p:bldP spid="31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2947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7280A9A-CC7F-4610-B59B-3A75350CE0D3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294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382BDB9-56DB-43DB-A150-D1C5C9A9E5F9}" type="slidenum">
              <a:rPr lang="en-US" altLang="vi-VN" sz="1800" smtClean="0">
                <a:solidFill>
                  <a:srgbClr val="FFFFFF"/>
                </a:solidFill>
              </a:rPr>
              <a:pPr/>
              <a:t>7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2724150" y="1228725"/>
            <a:ext cx="6743700" cy="396875"/>
          </a:xfrm>
          <a:prstGeom prst="rect">
            <a:avLst/>
          </a:prstGeom>
        </p:spPr>
        <p:txBody>
          <a:bodyPr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endParaRPr lang="vi-V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951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7" name="Rectangle 16"/>
          <p:cNvSpPr/>
          <p:nvPr/>
        </p:nvSpPr>
        <p:spPr>
          <a:xfrm>
            <a:off x="1527175" y="2198688"/>
            <a:ext cx="9137650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lớp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dựa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trên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xác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suất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7175" y="2782888"/>
            <a:ext cx="913765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lớp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dựa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trên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khoảng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cách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7175" y="3443288"/>
            <a:ext cx="913765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lớp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dựa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trên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cây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quyết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định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27175" y="4103688"/>
            <a:ext cx="9137650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lớp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dựa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trên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mô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hình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SVM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2413" y="4730750"/>
            <a:ext cx="913765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lớp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dựa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trên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mô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hình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mạng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nơ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ron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nhân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tạo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522413" y="5295900"/>
            <a:ext cx="9137650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4999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7" name="Rectangle 18"/>
          <p:cNvSpPr>
            <a:spLocks noChangeArrowheads="1"/>
          </p:cNvSpPr>
          <p:nvPr/>
        </p:nvSpPr>
        <p:spPr bwMode="auto">
          <a:xfrm>
            <a:off x="2057400" y="13716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2971800" y="2590800"/>
            <a:ext cx="5843588" cy="3194050"/>
            <a:chOff x="1447800" y="2590800"/>
            <a:chExt cx="5843625" cy="3194153"/>
          </a:xfrm>
        </p:grpSpPr>
        <p:pic>
          <p:nvPicPr>
            <p:cNvPr id="101389" name="Picture 55" descr="cam 5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1" y="2667001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0" name="Picture 56" descr="cam1 - Copy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3505200"/>
              <a:ext cx="583425" cy="536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1" name="Picture 57" descr="cam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590800"/>
              <a:ext cx="585825" cy="538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2" name="Picture 58" descr="cam2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4572000"/>
              <a:ext cx="469163" cy="469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3" name="Picture 59" descr="cam3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81400"/>
              <a:ext cx="490613" cy="47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4" name="Picture 60" descr="cam4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2667000"/>
              <a:ext cx="464014" cy="42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5" name="Picture 61" descr="tao 6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0" y="3657600"/>
              <a:ext cx="533400" cy="604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6" name="Picture 62" descr="tao1.jp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2590800"/>
              <a:ext cx="640688" cy="62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7" name="Picture 63" descr="tao2.jpg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648200"/>
              <a:ext cx="609600" cy="606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8" name="Picture 64" descr="tao3.jpg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572000"/>
              <a:ext cx="951654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399" name="Picture 65" descr="tao4.jpg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581400"/>
              <a:ext cx="654427" cy="524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400" name="Picture 66" descr="tao5.jpg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2895600"/>
              <a:ext cx="715617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401" name="Picture 67" descr="tao7.jpg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5334000"/>
              <a:ext cx="414337" cy="450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7" name="Straight Connector 26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4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5" name="Rectangle 18"/>
          <p:cNvSpPr>
            <a:spLocks noChangeArrowheads="1"/>
          </p:cNvSpPr>
          <p:nvPr/>
        </p:nvSpPr>
        <p:spPr bwMode="auto">
          <a:xfrm>
            <a:off x="2057400" y="13716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grpSp>
        <p:nvGrpSpPr>
          <p:cNvPr id="103436" name="Group 69"/>
          <p:cNvGrpSpPr>
            <a:grpSpLocks/>
          </p:cNvGrpSpPr>
          <p:nvPr/>
        </p:nvGrpSpPr>
        <p:grpSpPr bwMode="auto">
          <a:xfrm>
            <a:off x="8229600" y="1524000"/>
            <a:ext cx="1957388" cy="1219200"/>
            <a:chOff x="1981200" y="2514600"/>
            <a:chExt cx="5843625" cy="3270353"/>
          </a:xfrm>
        </p:grpSpPr>
        <p:pic>
          <p:nvPicPr>
            <p:cNvPr id="103452" name="Picture 55" descr="cam 5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1" y="2590801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3" name="Picture 56" descr="cam1 - Copy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3429000"/>
              <a:ext cx="583425" cy="536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4" name="Picture 57" descr="cam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9000" y="2514600"/>
              <a:ext cx="585825" cy="538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5" name="Picture 58" descr="cam2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572000"/>
              <a:ext cx="469163" cy="469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6" name="Picture 59" descr="cam3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0400" y="3505200"/>
              <a:ext cx="490613" cy="47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7" name="Picture 60" descr="cam4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2590800"/>
              <a:ext cx="464014" cy="42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8" name="Picture 61" descr="tao 6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400" y="3581400"/>
              <a:ext cx="533400" cy="604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59" name="Picture 62" descr="tao1.jp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2514600"/>
              <a:ext cx="640688" cy="62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60" name="Picture 63" descr="tao2.jpg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4572000"/>
              <a:ext cx="609600" cy="606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61" name="Picture 64" descr="tao3.jpg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4495800"/>
              <a:ext cx="951654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62" name="Picture 65" descr="tao4.jpg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3505200"/>
              <a:ext cx="654427" cy="524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63" name="Picture 66" descr="tao5.jpg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2819400"/>
              <a:ext cx="715617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64" name="Picture 67" descr="tao7.jpg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5334000"/>
              <a:ext cx="414337" cy="450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65" name="Picture 68" descr="tao8.jpg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657600"/>
              <a:ext cx="685800" cy="587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3437" name="Rectangle 18"/>
          <p:cNvSpPr>
            <a:spLocks noChangeArrowheads="1"/>
          </p:cNvSpPr>
          <p:nvPr/>
        </p:nvSpPr>
        <p:spPr bwMode="auto">
          <a:xfrm>
            <a:off x="2133600" y="1981201"/>
            <a:ext cx="5715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- Cần xác định một ánh xạ f: ánh xạ mỗi ảnh vật thể vào một lớp (CAM/ TÁO) mong muốn</a:t>
            </a: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822826" y="2819400"/>
            <a:ext cx="2492375" cy="1466850"/>
            <a:chOff x="3429000" y="3124200"/>
            <a:chExt cx="2492990" cy="1466910"/>
          </a:xfrm>
        </p:grpSpPr>
        <p:sp>
          <p:nvSpPr>
            <p:cNvPr id="103446" name="Rectangle 27"/>
            <p:cNvSpPr>
              <a:spLocks noChangeArrowheads="1"/>
            </p:cNvSpPr>
            <p:nvPr/>
          </p:nvSpPr>
          <p:spPr bwMode="auto">
            <a:xfrm>
              <a:off x="3429000" y="3200400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f(    ) = “TÁO”</a:t>
              </a:r>
              <a:endPara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3447" name="Picture 28" descr="tao 6.jpg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3124200"/>
              <a:ext cx="399433" cy="452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8" name="Rectangle 29"/>
            <p:cNvSpPr>
              <a:spLocks noChangeArrowheads="1"/>
            </p:cNvSpPr>
            <p:nvPr/>
          </p:nvSpPr>
          <p:spPr bwMode="auto">
            <a:xfrm>
              <a:off x="3429000" y="3657600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f(    ) = “TÁO”</a:t>
              </a:r>
              <a:endPara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3449" name="Picture 30" descr="tao8.jpg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3571052"/>
              <a:ext cx="457200" cy="391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50" name="Rectangle 31"/>
            <p:cNvSpPr>
              <a:spLocks noChangeArrowheads="1"/>
            </p:cNvSpPr>
            <p:nvPr/>
          </p:nvSpPr>
          <p:spPr bwMode="auto">
            <a:xfrm>
              <a:off x="3429000" y="4191000"/>
              <a:ext cx="24929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f(    ) = “CAM”</a:t>
              </a:r>
              <a:endPara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3451" name="Picture 32" descr="cam1.jp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4114800"/>
              <a:ext cx="504825" cy="463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8143" name="Rectangle 33"/>
          <p:cNvSpPr>
            <a:spLocks noChangeArrowheads="1"/>
          </p:cNvSpPr>
          <p:nvPr/>
        </p:nvSpPr>
        <p:spPr bwMode="auto">
          <a:xfrm>
            <a:off x="4572000" y="4495801"/>
            <a:ext cx="2971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00FF"/>
                </a:solidFill>
                <a:latin typeface="Arial Black" panose="020B0A04020102020204" pitchFamily="34" charset="0"/>
                <a:cs typeface="Courier New" panose="02070309020205020404" pitchFamily="49" charset="0"/>
              </a:rPr>
              <a:t>Y = f(X)</a:t>
            </a:r>
            <a:endParaRPr lang="en-US" altLang="en-US" sz="4000" b="1">
              <a:latin typeface="Arial Black" panose="020B0A04020102020204" pitchFamily="34" charset="0"/>
              <a:cs typeface="Courier New" panose="02070309020205020404" pitchFamily="49" charset="0"/>
            </a:endParaRPr>
          </a:p>
        </p:txBody>
      </p:sp>
      <p:sp>
        <p:nvSpPr>
          <p:cNvPr id="48144" name="TextBox 34"/>
          <p:cNvSpPr txBox="1">
            <a:spLocks noChangeArrowheads="1"/>
          </p:cNvSpPr>
          <p:nvPr/>
        </p:nvSpPr>
        <p:spPr bwMode="auto">
          <a:xfrm>
            <a:off x="2362200" y="4572001"/>
            <a:ext cx="1447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Đầu ra: Cam/ Táo</a:t>
            </a:r>
          </a:p>
        </p:txBody>
      </p:sp>
      <p:sp>
        <p:nvSpPr>
          <p:cNvPr id="48145" name="TextBox 36"/>
          <p:cNvSpPr txBox="1">
            <a:spLocks noChangeArrowheads="1"/>
          </p:cNvSpPr>
          <p:nvPr/>
        </p:nvSpPr>
        <p:spPr bwMode="auto">
          <a:xfrm>
            <a:off x="5464175" y="5692775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Hàm dự báo</a:t>
            </a:r>
          </a:p>
        </p:txBody>
      </p:sp>
      <p:sp>
        <p:nvSpPr>
          <p:cNvPr id="48146" name="TextBox 37"/>
          <p:cNvSpPr txBox="1">
            <a:spLocks noChangeArrowheads="1"/>
          </p:cNvSpPr>
          <p:nvPr/>
        </p:nvSpPr>
        <p:spPr bwMode="auto">
          <a:xfrm>
            <a:off x="7947025" y="4648201"/>
            <a:ext cx="259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Đầu vào: ảnh vật thể hoặc đặc trưng của ảnh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0895043-D243-4E0A-B1BA-C0A728FE67ED}"/>
              </a:ext>
            </a:extLst>
          </p:cNvPr>
          <p:cNvCxnSpPr>
            <a:stCxn id="48144" idx="3"/>
          </p:cNvCxnSpPr>
          <p:nvPr/>
        </p:nvCxnSpPr>
        <p:spPr>
          <a:xfrm flipV="1">
            <a:off x="3810000" y="4876800"/>
            <a:ext cx="1143000" cy="190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C1F2B9-BF22-4666-8C86-1FE512D161E9}"/>
              </a:ext>
            </a:extLst>
          </p:cNvPr>
          <p:cNvCxnSpPr/>
          <p:nvPr/>
        </p:nvCxnSpPr>
        <p:spPr>
          <a:xfrm rot="5400000" flipH="1" flipV="1">
            <a:off x="5953919" y="5334794"/>
            <a:ext cx="457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F910B90-3817-4F1F-9272-A50FA9BB194B}"/>
              </a:ext>
            </a:extLst>
          </p:cNvPr>
          <p:cNvCxnSpPr/>
          <p:nvPr/>
        </p:nvCxnSpPr>
        <p:spPr>
          <a:xfrm rot="10800000">
            <a:off x="6858000" y="4876800"/>
            <a:ext cx="1143000" cy="762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2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3" grpId="0"/>
      <p:bldP spid="48144" grpId="0"/>
      <p:bldP spid="48145" grpId="0"/>
      <p:bldP spid="481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3" name="Rectangle 18"/>
          <p:cNvSpPr>
            <a:spLocks noChangeArrowheads="1"/>
          </p:cNvSpPr>
          <p:nvPr/>
        </p:nvSpPr>
        <p:spPr bwMode="auto">
          <a:xfrm>
            <a:off x="2057400" y="12192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grpSp>
        <p:nvGrpSpPr>
          <p:cNvPr id="105484" name="Group 52"/>
          <p:cNvGrpSpPr>
            <a:grpSpLocks/>
          </p:cNvGrpSpPr>
          <p:nvPr/>
        </p:nvGrpSpPr>
        <p:grpSpPr bwMode="auto">
          <a:xfrm>
            <a:off x="3200400" y="2209801"/>
            <a:ext cx="6172200" cy="3281363"/>
            <a:chOff x="1676400" y="2209800"/>
            <a:chExt cx="6172200" cy="3281722"/>
          </a:xfrm>
        </p:grpSpPr>
        <p:pic>
          <p:nvPicPr>
            <p:cNvPr id="105491" name="Picture 55" descr="cam 5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2209800"/>
              <a:ext cx="482907" cy="468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2" name="Picture 56" descr="cam1 - Copy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2082" y="3147252"/>
              <a:ext cx="616230" cy="549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3" name="Picture 57" descr="cam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9835" y="2209800"/>
              <a:ext cx="618765" cy="551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4" name="Picture 58" descr="cam2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4191000"/>
              <a:ext cx="495543" cy="480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5" name="Picture 59" descr="cam3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8382" y="3225373"/>
              <a:ext cx="518199" cy="483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6" name="Picture 60" descr="cam4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3051" y="2287921"/>
              <a:ext cx="490105" cy="437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7" name="Picture 61" descr="tao 6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999" y="3303494"/>
              <a:ext cx="563392" cy="619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8" name="Picture 62" descr="tao1.jp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3669" y="2209800"/>
              <a:ext cx="676713" cy="642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499" name="Picture 63" descr="tao2.jpg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3360" y="4319068"/>
              <a:ext cx="643877" cy="622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500" name="Picture 64" descr="tao3.jpg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3184" y="4240947"/>
              <a:ext cx="1005164" cy="624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501" name="Picture 65" descr="tao4.jpg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3184" y="3225373"/>
              <a:ext cx="691224" cy="537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502" name="Picture 66" descr="tao5.jpg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522284"/>
              <a:ext cx="755855" cy="624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503" name="Picture 67" descr="tao7.jpg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5029200"/>
              <a:ext cx="437634" cy="462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9" name="Picture 68" descr="tao8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429001"/>
            <a:ext cx="723900" cy="6016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86" name="Rectangle 18"/>
          <p:cNvSpPr>
            <a:spLocks noChangeArrowheads="1"/>
          </p:cNvSpPr>
          <p:nvPr/>
        </p:nvSpPr>
        <p:spPr bwMode="auto">
          <a:xfrm>
            <a:off x="2057400" y="1752600"/>
            <a:ext cx="571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- Phương pháp k-láng giềng gần nhất: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A680D5C-4CB0-4AD1-BB5B-6ABE2D219338}"/>
              </a:ext>
            </a:extLst>
          </p:cNvPr>
          <p:cNvCxnSpPr>
            <a:stCxn id="69" idx="1"/>
            <a:endCxn id="62" idx="3"/>
          </p:cNvCxnSpPr>
          <p:nvPr/>
        </p:nvCxnSpPr>
        <p:spPr>
          <a:xfrm rot="10800000">
            <a:off x="5856288" y="3613151"/>
            <a:ext cx="163512" cy="1174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8">
            <a:extLst>
              <a:ext uri="{FF2B5EF4-FFF2-40B4-BE49-F238E27FC236}">
                <a16:creationId xmlns:a16="http://schemas.microsoft.com/office/drawing/2014/main" id="{18EFE263-5DB3-4802-916C-E4FCBD9E2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105400"/>
            <a:ext cx="571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b="1">
                <a:solidFill>
                  <a:srgbClr val="0000FF"/>
                </a:solidFill>
                <a:latin typeface="+mj-lt"/>
                <a:cs typeface="Arial" charset="0"/>
              </a:rPr>
              <a:t>Y = f(X) = Lớp của đối tượng gần X nhất</a:t>
            </a:r>
          </a:p>
        </p:txBody>
      </p:sp>
      <p:sp>
        <p:nvSpPr>
          <p:cNvPr id="51" name="Rectangle 18">
            <a:extLst>
              <a:ext uri="{FF2B5EF4-FFF2-40B4-BE49-F238E27FC236}">
                <a16:creationId xmlns:a16="http://schemas.microsoft.com/office/drawing/2014/main" id="{E74A14B5-DF89-4FE3-9171-24DBD62E1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562600"/>
            <a:ext cx="571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>
                <a:latin typeface="+mj-lt"/>
                <a:cs typeface="Arial" charset="0"/>
              </a:rPr>
              <a:t>Chỉ cần sử dụng hàm khoảng cách để tính toán</a:t>
            </a:r>
          </a:p>
        </p:txBody>
      </p:sp>
      <p:sp>
        <p:nvSpPr>
          <p:cNvPr id="52" name="Rectangle 18">
            <a:extLst>
              <a:ext uri="{FF2B5EF4-FFF2-40B4-BE49-F238E27FC236}">
                <a16:creationId xmlns:a16="http://schemas.microsoft.com/office/drawing/2014/main" id="{115F1A6F-A02A-4BB3-A336-4700B4D37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943600"/>
            <a:ext cx="739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Hệ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thống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không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cần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được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huấn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luyện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(</a:t>
            </a:r>
            <a:r>
              <a:rPr lang="en-US" sz="2000" b="1" dirty="0" err="1">
                <a:solidFill>
                  <a:srgbClr val="FF0000"/>
                </a:solidFill>
                <a:latin typeface="+mj-lt"/>
                <a:cs typeface="Arial" charset="0"/>
              </a:rPr>
              <a:t>không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Arial" charset="0"/>
              </a:rPr>
              <a:t> học) ?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9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31" name="Rectangle 18"/>
          <p:cNvSpPr>
            <a:spLocks noChangeArrowheads="1"/>
          </p:cNvSpPr>
          <p:nvPr/>
        </p:nvSpPr>
        <p:spPr bwMode="auto">
          <a:xfrm>
            <a:off x="2057400" y="12192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sp>
        <p:nvSpPr>
          <p:cNvPr id="107532" name="Rectangle 18"/>
          <p:cNvSpPr>
            <a:spLocks noChangeArrowheads="1"/>
          </p:cNvSpPr>
          <p:nvPr/>
        </p:nvSpPr>
        <p:spPr bwMode="auto">
          <a:xfrm>
            <a:off x="2133601" y="1635125"/>
            <a:ext cx="514115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Xét phương pháp sử dụng siêu phẳng phân tách:</a:t>
            </a:r>
          </a:p>
        </p:txBody>
      </p:sp>
      <p:sp>
        <p:nvSpPr>
          <p:cNvPr id="107533" name="Rectangle 18"/>
          <p:cNvSpPr>
            <a:spLocks noChangeArrowheads="1"/>
          </p:cNvSpPr>
          <p:nvPr/>
        </p:nvSpPr>
        <p:spPr bwMode="auto">
          <a:xfrm>
            <a:off x="3810001" y="2209800"/>
            <a:ext cx="4786313" cy="101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 Mỗi mẫu được biểu diễn bằng 4 đặc trưng: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          “Red”, “Green”,  “Blue”, “Shape”</a:t>
            </a:r>
          </a:p>
        </p:txBody>
      </p:sp>
      <p:pic>
        <p:nvPicPr>
          <p:cNvPr id="107534" name="Picture 37" descr="tao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05201"/>
            <a:ext cx="723900" cy="6016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062E63A-0579-4596-A338-C70E5FDD79E4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4572001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RED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GREEN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BLUE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SHAPE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158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125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52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1.08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7FF25-6267-40CA-BD19-BBF1A1BFB320}"/>
              </a:ext>
            </a:extLst>
          </p:cNvPr>
          <p:cNvCxnSpPr>
            <a:stCxn id="38" idx="2"/>
          </p:cNvCxnSpPr>
          <p:nvPr/>
        </p:nvCxnSpPr>
        <p:spPr>
          <a:xfrm rot="16200000" flipH="1">
            <a:off x="5968207" y="4368007"/>
            <a:ext cx="541337" cy="190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62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3"/>
          <p:cNvSpPr>
            <a:spLocks noChangeArrowheads="1"/>
          </p:cNvSpPr>
          <p:nvPr/>
        </p:nvSpPr>
        <p:spPr bwMode="auto">
          <a:xfrm>
            <a:off x="0" y="762000"/>
            <a:ext cx="1219200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altLang="en-US" sz="1800" b="1" dirty="0" err="1" smtClean="0">
                <a:solidFill>
                  <a:schemeClr val="accent6">
                    <a:lumMod val="50000"/>
                  </a:schemeClr>
                </a:solidFill>
              </a:rPr>
              <a:t>Các</a:t>
            </a:r>
            <a:r>
              <a:rPr lang="en-US" altLang="en-US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en-US" sz="1800" b="1" dirty="0" err="1" smtClean="0">
                <a:solidFill>
                  <a:schemeClr val="accent6">
                    <a:lumMod val="50000"/>
                  </a:schemeClr>
                </a:solidFill>
              </a:rPr>
              <a:t>khái</a:t>
            </a:r>
            <a:r>
              <a:rPr lang="en-US" altLang="en-US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en-US" sz="1800" b="1" dirty="0" err="1" smtClean="0">
                <a:solidFill>
                  <a:schemeClr val="accent6">
                    <a:lumMod val="50000"/>
                  </a:schemeClr>
                </a:solidFill>
              </a:rPr>
              <a:t>niệm</a:t>
            </a:r>
            <a:endParaRPr lang="en-US" altLang="en-US" sz="1800" b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42900" y="1290638"/>
            <a:ext cx="4862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2060"/>
                </a:solidFill>
                <a:latin typeface="Arial" panose="020B0604020202020204" pitchFamily="34" charset="0"/>
              </a:rPr>
              <a:t>  3. Mẫu, Lớp, Thuộc tính</a:t>
            </a:r>
          </a:p>
        </p:txBody>
      </p:sp>
      <p:pic>
        <p:nvPicPr>
          <p:cNvPr id="15364" name="Picture 18" descr="TAO D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878013"/>
            <a:ext cx="828675" cy="881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5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1847850"/>
            <a:ext cx="801688" cy="901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23" descr="TÁ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4048125"/>
            <a:ext cx="822325" cy="895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7" name="Picture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2960688"/>
            <a:ext cx="827087" cy="8794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26" descr="images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5194300"/>
            <a:ext cx="835025" cy="885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9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2951163"/>
            <a:ext cx="801688" cy="901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4038600"/>
            <a:ext cx="801687" cy="901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1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3" y="5176838"/>
            <a:ext cx="801687" cy="901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63975" y="2190750"/>
          <a:ext cx="1941512" cy="238125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23583">
                  <a:extLst>
                    <a:ext uri="{9D8B030D-6E8A-4147-A177-3AD203B41FA5}">
                      <a16:colId xmlns:a16="http://schemas.microsoft.com/office/drawing/2014/main" val="2476655406"/>
                    </a:ext>
                  </a:extLst>
                </a:gridCol>
                <a:gridCol w="532790">
                  <a:extLst>
                    <a:ext uri="{9D8B030D-6E8A-4147-A177-3AD203B41FA5}">
                      <a16:colId xmlns:a16="http://schemas.microsoft.com/office/drawing/2014/main" val="2435859698"/>
                    </a:ext>
                  </a:extLst>
                </a:gridCol>
                <a:gridCol w="532536">
                  <a:extLst>
                    <a:ext uri="{9D8B030D-6E8A-4147-A177-3AD203B41FA5}">
                      <a16:colId xmlns:a16="http://schemas.microsoft.com/office/drawing/2014/main" val="2557452863"/>
                    </a:ext>
                  </a:extLst>
                </a:gridCol>
                <a:gridCol w="452603">
                  <a:extLst>
                    <a:ext uri="{9D8B030D-6E8A-4147-A177-3AD203B41FA5}">
                      <a16:colId xmlns:a16="http://schemas.microsoft.com/office/drawing/2014/main" val="563189905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186</a:t>
                      </a:r>
                      <a:endParaRPr lang="vi-VN" sz="13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150</a:t>
                      </a:r>
                      <a:endParaRPr lang="vi-VN" sz="13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110</a:t>
                      </a:r>
                      <a:endParaRPr lang="vi-VN" sz="13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1,04</a:t>
                      </a:r>
                      <a:endParaRPr lang="vi-VN" sz="13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7" marR="68577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953611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870325" y="3260725"/>
          <a:ext cx="1935162" cy="238125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22198">
                  <a:extLst>
                    <a:ext uri="{9D8B030D-6E8A-4147-A177-3AD203B41FA5}">
                      <a16:colId xmlns:a16="http://schemas.microsoft.com/office/drawing/2014/main" val="2476655406"/>
                    </a:ext>
                  </a:extLst>
                </a:gridCol>
                <a:gridCol w="531047">
                  <a:extLst>
                    <a:ext uri="{9D8B030D-6E8A-4147-A177-3AD203B41FA5}">
                      <a16:colId xmlns:a16="http://schemas.microsoft.com/office/drawing/2014/main" val="2435859698"/>
                    </a:ext>
                  </a:extLst>
                </a:gridCol>
                <a:gridCol w="530794">
                  <a:extLst>
                    <a:ext uri="{9D8B030D-6E8A-4147-A177-3AD203B41FA5}">
                      <a16:colId xmlns:a16="http://schemas.microsoft.com/office/drawing/2014/main" val="2557452863"/>
                    </a:ext>
                  </a:extLst>
                </a:gridCol>
                <a:gridCol w="451123">
                  <a:extLst>
                    <a:ext uri="{9D8B030D-6E8A-4147-A177-3AD203B41FA5}">
                      <a16:colId xmlns:a16="http://schemas.microsoft.com/office/drawing/2014/main" val="563189905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102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100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90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1,01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953611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862388" y="4387850"/>
          <a:ext cx="1943099" cy="238125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23930">
                  <a:extLst>
                    <a:ext uri="{9D8B030D-6E8A-4147-A177-3AD203B41FA5}">
                      <a16:colId xmlns:a16="http://schemas.microsoft.com/office/drawing/2014/main" val="2476655406"/>
                    </a:ext>
                  </a:extLst>
                </a:gridCol>
                <a:gridCol w="533225">
                  <a:extLst>
                    <a:ext uri="{9D8B030D-6E8A-4147-A177-3AD203B41FA5}">
                      <a16:colId xmlns:a16="http://schemas.microsoft.com/office/drawing/2014/main" val="2435859698"/>
                    </a:ext>
                  </a:extLst>
                </a:gridCol>
                <a:gridCol w="532971">
                  <a:extLst>
                    <a:ext uri="{9D8B030D-6E8A-4147-A177-3AD203B41FA5}">
                      <a16:colId xmlns:a16="http://schemas.microsoft.com/office/drawing/2014/main" val="2557452863"/>
                    </a:ext>
                  </a:extLst>
                </a:gridCol>
                <a:gridCol w="452973">
                  <a:extLst>
                    <a:ext uri="{9D8B030D-6E8A-4147-A177-3AD203B41FA5}">
                      <a16:colId xmlns:a16="http://schemas.microsoft.com/office/drawing/2014/main" val="563189905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90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200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140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1,06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95361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39415"/>
              </p:ext>
            </p:extLst>
          </p:nvPr>
        </p:nvGraphicFramePr>
        <p:xfrm>
          <a:off x="7010400" y="2697163"/>
          <a:ext cx="4837111" cy="275590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839460">
                  <a:extLst>
                    <a:ext uri="{9D8B030D-6E8A-4147-A177-3AD203B41FA5}">
                      <a16:colId xmlns:a16="http://schemas.microsoft.com/office/drawing/2014/main" val="2476655406"/>
                    </a:ext>
                  </a:extLst>
                </a:gridCol>
                <a:gridCol w="1055889">
                  <a:extLst>
                    <a:ext uri="{9D8B030D-6E8A-4147-A177-3AD203B41FA5}">
                      <a16:colId xmlns:a16="http://schemas.microsoft.com/office/drawing/2014/main" val="2435859698"/>
                    </a:ext>
                  </a:extLst>
                </a:gridCol>
                <a:gridCol w="962948">
                  <a:extLst>
                    <a:ext uri="{9D8B030D-6E8A-4147-A177-3AD203B41FA5}">
                      <a16:colId xmlns:a16="http://schemas.microsoft.com/office/drawing/2014/main" val="2557452863"/>
                    </a:ext>
                  </a:extLst>
                </a:gridCol>
                <a:gridCol w="989407">
                  <a:extLst>
                    <a:ext uri="{9D8B030D-6E8A-4147-A177-3AD203B41FA5}">
                      <a16:colId xmlns:a16="http://schemas.microsoft.com/office/drawing/2014/main" val="563189905"/>
                    </a:ext>
                  </a:extLst>
                </a:gridCol>
                <a:gridCol w="989407">
                  <a:extLst>
                    <a:ext uri="{9D8B030D-6E8A-4147-A177-3AD203B41FA5}">
                      <a16:colId xmlns:a16="http://schemas.microsoft.com/office/drawing/2014/main" val="3424132618"/>
                    </a:ext>
                  </a:extLst>
                </a:gridCol>
              </a:tblGrid>
              <a:tr h="506234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vi-VN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  <a:endParaRPr lang="vi-VN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BLUE</a:t>
                      </a:r>
                      <a:endParaRPr lang="vi-VN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SHAPE</a:t>
                      </a:r>
                      <a:endParaRPr lang="vi-VN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vi-VN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953611"/>
                  </a:ext>
                </a:extLst>
              </a:tr>
              <a:tr h="56241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186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150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110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1,04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TÁO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25922"/>
                  </a:ext>
                </a:extLst>
              </a:tr>
              <a:tr h="56241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102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100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90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1,01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CAM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248867"/>
                  </a:ext>
                </a:extLst>
              </a:tr>
              <a:tr h="56241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90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200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140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1,06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TÁO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965255"/>
                  </a:ext>
                </a:extLst>
              </a:tr>
              <a:tr h="562417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60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80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1,05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KHÁC</a:t>
                      </a:r>
                      <a:endParaRPr lang="vi-VN" sz="1800" b="1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75399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870325" y="5526088"/>
          <a:ext cx="1935162" cy="238125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22198">
                  <a:extLst>
                    <a:ext uri="{9D8B030D-6E8A-4147-A177-3AD203B41FA5}">
                      <a16:colId xmlns:a16="http://schemas.microsoft.com/office/drawing/2014/main" val="2476655406"/>
                    </a:ext>
                  </a:extLst>
                </a:gridCol>
                <a:gridCol w="531047">
                  <a:extLst>
                    <a:ext uri="{9D8B030D-6E8A-4147-A177-3AD203B41FA5}">
                      <a16:colId xmlns:a16="http://schemas.microsoft.com/office/drawing/2014/main" val="2435859698"/>
                    </a:ext>
                  </a:extLst>
                </a:gridCol>
                <a:gridCol w="530794">
                  <a:extLst>
                    <a:ext uri="{9D8B030D-6E8A-4147-A177-3AD203B41FA5}">
                      <a16:colId xmlns:a16="http://schemas.microsoft.com/office/drawing/2014/main" val="2557452863"/>
                    </a:ext>
                  </a:extLst>
                </a:gridCol>
                <a:gridCol w="451123">
                  <a:extLst>
                    <a:ext uri="{9D8B030D-6E8A-4147-A177-3AD203B41FA5}">
                      <a16:colId xmlns:a16="http://schemas.microsoft.com/office/drawing/2014/main" val="563189905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60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</a:rPr>
                        <a:t>80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smtClean="0">
                          <a:solidFill>
                            <a:schemeClr val="accent1">
                              <a:lumMod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1,05</a:t>
                      </a:r>
                      <a:endParaRPr lang="vi-VN" sz="1300" dirty="0">
                        <a:solidFill>
                          <a:schemeClr val="accent1">
                            <a:lumMod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8" marR="68608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953611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1612900" y="3754438"/>
            <a:ext cx="414338" cy="3857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sp>
        <p:nvSpPr>
          <p:cNvPr id="40" name="Right Arrow 39"/>
          <p:cNvSpPr/>
          <p:nvPr/>
        </p:nvSpPr>
        <p:spPr>
          <a:xfrm>
            <a:off x="6219825" y="3951288"/>
            <a:ext cx="415925" cy="384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cxnSp>
        <p:nvCxnSpPr>
          <p:cNvPr id="27" name="Straight Connector 26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78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9" name="Rectangle 18"/>
          <p:cNvSpPr>
            <a:spLocks noChangeArrowheads="1"/>
          </p:cNvSpPr>
          <p:nvPr/>
        </p:nvSpPr>
        <p:spPr bwMode="auto">
          <a:xfrm>
            <a:off x="2057400" y="12192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pic>
        <p:nvPicPr>
          <p:cNvPr id="109580" name="Picture 55" descr="cam 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1" name="Picture 56" descr="cam1 - Copy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505201"/>
            <a:ext cx="5842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2" name="Picture 57" descr="cam1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590801"/>
            <a:ext cx="585788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3" name="Picture 58" descr="cam2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6482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4" name="Picture 59" descr="cam3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581400"/>
            <a:ext cx="49053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5" name="Picture 60" descr="cam4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667000"/>
            <a:ext cx="4635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6" name="Picture 61" descr="tao 6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57600"/>
            <a:ext cx="5334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7" name="Picture 62" descr="tao1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590801"/>
            <a:ext cx="6413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8" name="Picture 63" descr="tao2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648201"/>
            <a:ext cx="6096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9" name="Picture 64" descr="tao3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1" y="4572000"/>
            <a:ext cx="9509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90" name="Picture 65" descr="tao4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81401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91" name="Picture 66" descr="tao5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2895600"/>
            <a:ext cx="7159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92" name="Picture 67" descr="tao7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334000"/>
            <a:ext cx="414338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93" name="Rectangle 18"/>
          <p:cNvSpPr>
            <a:spLocks noChangeArrowheads="1"/>
          </p:cNvSpPr>
          <p:nvPr/>
        </p:nvSpPr>
        <p:spPr bwMode="auto">
          <a:xfrm>
            <a:off x="2133601" y="1635125"/>
            <a:ext cx="514115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Xét phương pháp sử dụng siêu phẳng phân tách: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8C442D-74EA-471C-B90A-604ED5D76F9C}"/>
              </a:ext>
            </a:extLst>
          </p:cNvPr>
          <p:cNvCxnSpPr>
            <a:endCxn id="31" idx="3"/>
          </p:cNvCxnSpPr>
          <p:nvPr/>
        </p:nvCxnSpPr>
        <p:spPr>
          <a:xfrm>
            <a:off x="6629400" y="2362201"/>
            <a:ext cx="647700" cy="36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E470EE-9BDF-43FC-B266-754B19862C52}"/>
              </a:ext>
            </a:extLst>
          </p:cNvPr>
          <p:cNvCxnSpPr/>
          <p:nvPr/>
        </p:nvCxnSpPr>
        <p:spPr>
          <a:xfrm flipV="1">
            <a:off x="6629400" y="2133600"/>
            <a:ext cx="160020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8305801" y="1676401"/>
            <a:ext cx="1960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w, x + b = 0</a:t>
            </a: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1752601" y="5334000"/>
            <a:ext cx="388439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x(x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, x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, x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3,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Times New Roman" panose="02020603050405020304" pitchFamily="18" charset="0"/>
              </a:rPr>
              <a:t>: mẫu cần nhận dạng</a:t>
            </a: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1752600" y="5715000"/>
            <a:ext cx="55245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w(w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, w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, w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3,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w</a:t>
            </a:r>
            <a:r>
              <a:rPr lang="en-US" altLang="en-US" sz="20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), b</a:t>
            </a:r>
            <a:r>
              <a:rPr lang="en-US" altLang="en-US" sz="2000">
                <a:latin typeface="Times New Roman" panose="02020603050405020304" pitchFamily="18" charset="0"/>
              </a:rPr>
              <a:t>: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các hệ số xác định siêu phẳng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94B08D-A2FC-4138-B3A2-8C0CA8A86F55}"/>
              </a:ext>
            </a:extLst>
          </p:cNvPr>
          <p:cNvCxnSpPr/>
          <p:nvPr/>
        </p:nvCxnSpPr>
        <p:spPr>
          <a:xfrm rot="16200000" flipH="1">
            <a:off x="4610100" y="2552700"/>
            <a:ext cx="3733800" cy="33528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600" name="Rectangle 18"/>
          <p:cNvSpPr>
            <a:spLocks noChangeArrowheads="1"/>
          </p:cNvSpPr>
          <p:nvPr/>
        </p:nvSpPr>
        <p:spPr bwMode="auto">
          <a:xfrm>
            <a:off x="2743200" y="3886200"/>
            <a:ext cx="609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109601" name="Rectangle 18"/>
          <p:cNvSpPr>
            <a:spLocks noChangeArrowheads="1"/>
          </p:cNvSpPr>
          <p:nvPr/>
        </p:nvSpPr>
        <p:spPr bwMode="auto">
          <a:xfrm>
            <a:off x="9525000" y="3657600"/>
            <a:ext cx="6096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8229600" y="5334001"/>
            <a:ext cx="225425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Hàm dự báo: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Y = sgn(</a:t>
            </a:r>
            <a:r>
              <a:rPr lang="en-US" altLang="en-US" sz="2000" b="1">
                <a:latin typeface="Times New Roman" panose="02020603050405020304" pitchFamily="18" charset="0"/>
                <a:sym typeface="Symbol" panose="05050102010706020507" pitchFamily="18" charset="2"/>
              </a:rPr>
              <a:t>w, x + b)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68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1" grpId="0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7" name="Rectangle 18"/>
          <p:cNvSpPr>
            <a:spLocks noChangeArrowheads="1"/>
          </p:cNvSpPr>
          <p:nvPr/>
        </p:nvSpPr>
        <p:spPr bwMode="auto">
          <a:xfrm>
            <a:off x="2046111" y="9144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sp>
        <p:nvSpPr>
          <p:cNvPr id="111628" name="Rectangle 18"/>
          <p:cNvSpPr>
            <a:spLocks noChangeArrowheads="1"/>
          </p:cNvSpPr>
          <p:nvPr/>
        </p:nvSpPr>
        <p:spPr bwMode="auto">
          <a:xfrm>
            <a:off x="2122312" y="1330325"/>
            <a:ext cx="514115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Xét phương pháp sử dụng siêu phẳng phân tách:</a:t>
            </a:r>
          </a:p>
        </p:txBody>
      </p:sp>
      <p:pic>
        <p:nvPicPr>
          <p:cNvPr id="111629" name="Picture 47" descr="tao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111" y="1905001"/>
            <a:ext cx="723900" cy="6016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FB0C29A-71BC-484C-868B-0E01DE110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10072"/>
              </p:ext>
            </p:extLst>
          </p:nvPr>
        </p:nvGraphicFramePr>
        <p:xfrm>
          <a:off x="3189111" y="2971801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RED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GREEN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BLUE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SHAPE</a:t>
                      </a:r>
                    </a:p>
                  </a:txBody>
                  <a:tcPr marT="45700" marB="45700"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158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125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52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1.08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F78FD1B-6EC7-43EC-AFB8-AA9100BEA8AF}"/>
              </a:ext>
            </a:extLst>
          </p:cNvPr>
          <p:cNvCxnSpPr/>
          <p:nvPr/>
        </p:nvCxnSpPr>
        <p:spPr>
          <a:xfrm rot="16200000" flipH="1">
            <a:off x="5956918" y="2767807"/>
            <a:ext cx="541337" cy="190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48" name="Rectangle 18"/>
          <p:cNvSpPr>
            <a:spLocks noChangeArrowheads="1"/>
          </p:cNvSpPr>
          <p:nvPr/>
        </p:nvSpPr>
        <p:spPr bwMode="auto">
          <a:xfrm>
            <a:off x="5169939" y="3810000"/>
            <a:ext cx="2342308" cy="55399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x(158, 125, 52, 1.08)</a:t>
            </a:r>
          </a:p>
        </p:txBody>
      </p:sp>
      <p:sp>
        <p:nvSpPr>
          <p:cNvPr id="111649" name="Rectangle 18"/>
          <p:cNvSpPr>
            <a:spLocks noChangeArrowheads="1"/>
          </p:cNvSpPr>
          <p:nvPr/>
        </p:nvSpPr>
        <p:spPr bwMode="auto">
          <a:xfrm>
            <a:off x="2274711" y="4419600"/>
            <a:ext cx="7696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 Giả sử bộ w, b được lấy ngẫu nhiên: 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w(-0.2, -0.3, 0.8, 0.1) và b = 2.</a:t>
            </a:r>
          </a:p>
        </p:txBody>
      </p:sp>
      <p:sp>
        <p:nvSpPr>
          <p:cNvPr id="111650" name="Rectangle 18"/>
          <p:cNvSpPr>
            <a:spLocks noChangeArrowheads="1"/>
          </p:cNvSpPr>
          <p:nvPr/>
        </p:nvSpPr>
        <p:spPr bwMode="auto">
          <a:xfrm>
            <a:off x="2274711" y="5029200"/>
            <a:ext cx="7696200" cy="5540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Y = sgn(-0.2*158 – 0.3*125 + 0.8*52 + 0.1*1.08 + 2) = sgn(-25.39) = -1 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51" name="Rectangle 18"/>
          <p:cNvSpPr>
            <a:spLocks noChangeArrowheads="1"/>
          </p:cNvSpPr>
          <p:nvPr/>
        </p:nvSpPr>
        <p:spPr bwMode="auto">
          <a:xfrm>
            <a:off x="2274711" y="5562600"/>
            <a:ext cx="7696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 Mẫu được nhận dạng là CAM 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nhận dạng sai.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0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5" name="Rectangle 18"/>
          <p:cNvSpPr>
            <a:spLocks noChangeArrowheads="1"/>
          </p:cNvSpPr>
          <p:nvPr/>
        </p:nvSpPr>
        <p:spPr bwMode="auto">
          <a:xfrm>
            <a:off x="2023533" y="817563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sp>
        <p:nvSpPr>
          <p:cNvPr id="113676" name="Rectangle 18"/>
          <p:cNvSpPr>
            <a:spLocks noChangeArrowheads="1"/>
          </p:cNvSpPr>
          <p:nvPr/>
        </p:nvSpPr>
        <p:spPr bwMode="auto">
          <a:xfrm>
            <a:off x="2099734" y="1233488"/>
            <a:ext cx="514115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Xét phương pháp sử dụng siêu phẳng phân tách:</a:t>
            </a:r>
          </a:p>
        </p:txBody>
      </p:sp>
      <p:grpSp>
        <p:nvGrpSpPr>
          <p:cNvPr id="113677" name="Group 37"/>
          <p:cNvGrpSpPr>
            <a:grpSpLocks/>
          </p:cNvGrpSpPr>
          <p:nvPr/>
        </p:nvGrpSpPr>
        <p:grpSpPr bwMode="auto">
          <a:xfrm>
            <a:off x="3242733" y="1884363"/>
            <a:ext cx="6553200" cy="3048000"/>
            <a:chOff x="1219200" y="2590800"/>
            <a:chExt cx="7391400" cy="3194153"/>
          </a:xfrm>
        </p:grpSpPr>
        <p:pic>
          <p:nvPicPr>
            <p:cNvPr id="113682" name="Picture 55" descr="cam 5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590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3" name="Picture 56" descr="cam1 - Copy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3505200"/>
              <a:ext cx="583425" cy="536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4" name="Picture 57" descr="cam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590800"/>
              <a:ext cx="585825" cy="538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5" name="Picture 58" descr="cam2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648200"/>
              <a:ext cx="469163" cy="469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6" name="Picture 59" descr="cam3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81400"/>
              <a:ext cx="490613" cy="47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7" name="Picture 60" descr="cam4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2667000"/>
              <a:ext cx="464014" cy="42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8" name="Picture 61" descr="tao 6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0" y="3657600"/>
              <a:ext cx="533400" cy="604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89" name="Picture 62" descr="tao1.jp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2590800"/>
              <a:ext cx="640688" cy="62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90" name="Picture 63" descr="tao2.jpg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648200"/>
              <a:ext cx="609600" cy="606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91" name="Picture 64" descr="tao3.jpg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572000"/>
              <a:ext cx="951654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92" name="Picture 65" descr="tao4.jpg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581400"/>
              <a:ext cx="654427" cy="524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93" name="Picture 66" descr="tao5.jpg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2895600"/>
              <a:ext cx="715617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694" name="Picture 67" descr="tao7.jpg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5334000"/>
              <a:ext cx="414337" cy="450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95" name="Rectangle 18"/>
            <p:cNvSpPr>
              <a:spLocks noChangeArrowheads="1"/>
            </p:cNvSpPr>
            <p:nvPr/>
          </p:nvSpPr>
          <p:spPr bwMode="auto">
            <a:xfrm>
              <a:off x="1219200" y="3886200"/>
              <a:ext cx="859465" cy="774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113696" name="Rectangle 18"/>
            <p:cNvSpPr>
              <a:spLocks noChangeArrowheads="1"/>
            </p:cNvSpPr>
            <p:nvPr/>
          </p:nvSpPr>
          <p:spPr bwMode="auto">
            <a:xfrm>
              <a:off x="8001000" y="3657600"/>
              <a:ext cx="609600" cy="774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</p:grpSp>
      <p:sp>
        <p:nvSpPr>
          <p:cNvPr id="113678" name="Rectangle 18"/>
          <p:cNvSpPr>
            <a:spLocks noChangeArrowheads="1"/>
          </p:cNvSpPr>
          <p:nvPr/>
        </p:nvSpPr>
        <p:spPr bwMode="auto">
          <a:xfrm>
            <a:off x="1718733" y="4826002"/>
            <a:ext cx="769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  Quá trình huấn luyện cho ta bộ (w, b) tốt nhất.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  Ví dụ: w(0.3, 0.5, 0.7, -0.2) và b = 1.</a:t>
            </a:r>
          </a:p>
        </p:txBody>
      </p:sp>
      <p:sp>
        <p:nvSpPr>
          <p:cNvPr id="113679" name="Rectangle 18"/>
          <p:cNvSpPr>
            <a:spLocks noChangeArrowheads="1"/>
          </p:cNvSpPr>
          <p:nvPr/>
        </p:nvSpPr>
        <p:spPr bwMode="auto">
          <a:xfrm>
            <a:off x="1947333" y="5541963"/>
            <a:ext cx="7696200" cy="5540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Y = sgn (0.3*158 + 0.5*125 + 0.7*52 - 0.2*1.08 + 1) = sgn(147.08) = +1 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3680" name="Picture 42" descr="tao8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33" y="3103564"/>
            <a:ext cx="723900" cy="6016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15A32E-BCBB-4F16-A332-D611AE1CB27B}"/>
              </a:ext>
            </a:extLst>
          </p:cNvPr>
          <p:cNvCxnSpPr/>
          <p:nvPr/>
        </p:nvCxnSpPr>
        <p:spPr>
          <a:xfrm rot="16200000" flipH="1">
            <a:off x="4804833" y="1922463"/>
            <a:ext cx="3733800" cy="335280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87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23" name="Rectangle 18"/>
          <p:cNvSpPr>
            <a:spLocks noChangeArrowheads="1"/>
          </p:cNvSpPr>
          <p:nvPr/>
        </p:nvSpPr>
        <p:spPr bwMode="auto">
          <a:xfrm>
            <a:off x="2057400" y="1219200"/>
            <a:ext cx="474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Ví dụ: Xét bài toán nhận dạng cam và táo</a:t>
            </a:r>
          </a:p>
        </p:txBody>
      </p:sp>
      <p:sp>
        <p:nvSpPr>
          <p:cNvPr id="115724" name="Rectangle 18"/>
          <p:cNvSpPr>
            <a:spLocks noChangeArrowheads="1"/>
          </p:cNvSpPr>
          <p:nvPr/>
        </p:nvSpPr>
        <p:spPr bwMode="auto">
          <a:xfrm>
            <a:off x="2133601" y="1635125"/>
            <a:ext cx="514115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Xét phương pháp sử dụng siêu phẳng phân tách:</a:t>
            </a:r>
          </a:p>
        </p:txBody>
      </p:sp>
      <p:grpSp>
        <p:nvGrpSpPr>
          <p:cNvPr id="115725" name="Group 37"/>
          <p:cNvGrpSpPr>
            <a:grpSpLocks/>
          </p:cNvGrpSpPr>
          <p:nvPr/>
        </p:nvGrpSpPr>
        <p:grpSpPr bwMode="auto">
          <a:xfrm>
            <a:off x="2057400" y="2590800"/>
            <a:ext cx="5105400" cy="2209800"/>
            <a:chOff x="1219200" y="2590800"/>
            <a:chExt cx="7391400" cy="3194153"/>
          </a:xfrm>
        </p:grpSpPr>
        <p:pic>
          <p:nvPicPr>
            <p:cNvPr id="115730" name="Picture 55" descr="cam 5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59080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1" name="Picture 56" descr="cam1 - Copy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3505200"/>
              <a:ext cx="583425" cy="536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2" name="Picture 57" descr="cam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590800"/>
              <a:ext cx="585825" cy="538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3" name="Picture 58" descr="cam2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648200"/>
              <a:ext cx="469163" cy="469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4" name="Picture 59" descr="cam3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81400"/>
              <a:ext cx="490613" cy="47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5" name="Picture 60" descr="cam4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2667000"/>
              <a:ext cx="464014" cy="42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6" name="Picture 61" descr="tao 6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0" y="3657600"/>
              <a:ext cx="533400" cy="604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7" name="Picture 62" descr="tao1.jpg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2590800"/>
              <a:ext cx="640688" cy="62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8" name="Picture 63" descr="tao2.jpg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4648200"/>
              <a:ext cx="609600" cy="606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39" name="Picture 64" descr="tao3.jpg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4572000"/>
              <a:ext cx="951654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40" name="Picture 65" descr="tao4.jpg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3581400"/>
              <a:ext cx="654427" cy="524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41" name="Picture 66" descr="tao5.jpg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2895600"/>
              <a:ext cx="715617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742" name="Picture 67" descr="tao7.jpg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5334000"/>
              <a:ext cx="414337" cy="450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743" name="Rectangle 18"/>
            <p:cNvSpPr>
              <a:spLocks noChangeArrowheads="1"/>
            </p:cNvSpPr>
            <p:nvPr/>
          </p:nvSpPr>
          <p:spPr bwMode="auto">
            <a:xfrm>
              <a:off x="1219200" y="3886201"/>
              <a:ext cx="1503336" cy="800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115744" name="Rectangle 18"/>
            <p:cNvSpPr>
              <a:spLocks noChangeArrowheads="1"/>
            </p:cNvSpPr>
            <p:nvPr/>
          </p:nvSpPr>
          <p:spPr bwMode="auto">
            <a:xfrm>
              <a:off x="7357820" y="3657601"/>
              <a:ext cx="1252780" cy="800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</p:grpSp>
      <p:sp>
        <p:nvSpPr>
          <p:cNvPr id="35" name="Right Arrow 34">
            <a:extLst>
              <a:ext uri="{FF2B5EF4-FFF2-40B4-BE49-F238E27FC236}">
                <a16:creationId xmlns:a16="http://schemas.microsoft.com/office/drawing/2014/main" id="{AD004171-0CB7-4437-ACA8-6E8E57B22FC4}"/>
              </a:ext>
            </a:extLst>
          </p:cNvPr>
          <p:cNvSpPr/>
          <p:nvPr/>
        </p:nvSpPr>
        <p:spPr>
          <a:xfrm>
            <a:off x="6705600" y="3505200"/>
            <a:ext cx="2057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8466A61-5B3F-47A5-8D9C-EA8E302226E9}"/>
              </a:ext>
            </a:extLst>
          </p:cNvPr>
          <p:cNvSpPr/>
          <p:nvPr/>
        </p:nvSpPr>
        <p:spPr>
          <a:xfrm>
            <a:off x="8952840" y="3276601"/>
            <a:ext cx="1337994" cy="8309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400">
                <a:solidFill>
                  <a:srgbClr val="0000FF"/>
                </a:solidFill>
                <a:cs typeface="Arial" charset="0"/>
              </a:rPr>
              <a:t>Bộ (w, b) </a:t>
            </a:r>
          </a:p>
          <a:p>
            <a:pPr algn="ctr" eaLnBrk="1" hangingPunct="1">
              <a:defRPr/>
            </a:pPr>
            <a:r>
              <a:rPr lang="en-US" sz="2400">
                <a:solidFill>
                  <a:srgbClr val="0000FF"/>
                </a:solidFill>
                <a:cs typeface="Arial" charset="0"/>
              </a:rPr>
              <a:t>tốt nhất</a:t>
            </a:r>
            <a:endParaRPr lang="en-US" sz="2400">
              <a:cs typeface="Arial" charset="0"/>
            </a:endParaRPr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6477000" y="3810001"/>
            <a:ext cx="259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Quá trình huấn luyện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Quá trình học (Learning)</a:t>
            </a:r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3124200" y="4953001"/>
            <a:ext cx="25908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Dữ liệu huấn luyện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PHƯƠNG PHÁP</a:t>
            </a:r>
            <a:endParaRPr lang="vi-V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82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4150"/>
          </a:xfrm>
          <a:solidFill>
            <a:srgbClr val="FF6600"/>
          </a:solidFill>
        </p:spPr>
        <p:txBody>
          <a:bodyPr>
            <a:normAutofit/>
          </a:bodyPr>
          <a:lstStyle/>
          <a:p>
            <a:pPr algn="ctr"/>
            <a:endParaRPr lang="vi-VN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979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872C9-B36E-4CA2-9A6A-33E7BDED6744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61396" y="2197289"/>
            <a:ext cx="6491783" cy="20620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0" b="1" dirty="0" smtClean="0"/>
              <a:t>SVM</a:t>
            </a:r>
            <a:endParaRPr lang="vi-VN" sz="12000" b="1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30729" y="4220732"/>
            <a:ext cx="6491783" cy="11388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 smtClean="0"/>
              <a:t>MÔ HÌNH PHÂN LỚP</a:t>
            </a:r>
            <a:endParaRPr lang="vi-VN" sz="6000" b="1" dirty="0"/>
          </a:p>
        </p:txBody>
      </p:sp>
    </p:spTree>
    <p:extLst>
      <p:ext uri="{BB962C8B-B14F-4D97-AF65-F5344CB8AC3E}">
        <p14:creationId xmlns:p14="http://schemas.microsoft.com/office/powerpoint/2010/main" val="401482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3971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538F856-588D-4139-A9C8-FF82E103F32B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397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03538D0-9C07-48BA-85E0-D09A2AF3E9E4}" type="slidenum">
              <a:rPr lang="en-US" altLang="vi-VN" sz="1800" smtClean="0">
                <a:solidFill>
                  <a:srgbClr val="FFFFFF"/>
                </a:solidFill>
              </a:rPr>
              <a:pPr/>
              <a:t>18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974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MÔ HÌNH SVM</a:t>
            </a: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325438" y="2203450"/>
            <a:ext cx="65452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Xuất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phát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từ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luyện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người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ta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tìm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ra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một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chia "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tốt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nhất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"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tập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325438" y="3065463"/>
            <a:ext cx="629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spcBef>
                <a:spcPct val="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altLang="vi-VN" sz="20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</a:t>
            </a:r>
            <a:r>
              <a:rPr lang="en-US" altLang="vi-VN" sz="2000" b="1" dirty="0" err="1" smtClean="0">
                <a:solidFill>
                  <a:srgbClr val="FF0000"/>
                </a:solidFill>
              </a:rPr>
              <a:t>w,x</a:t>
            </a:r>
            <a:r>
              <a:rPr lang="en-US" altLang="vi-VN" sz="20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</a:t>
            </a:r>
            <a:r>
              <a:rPr lang="en-US" altLang="vi-VN" sz="2000" b="1" dirty="0" smtClean="0">
                <a:solidFill>
                  <a:srgbClr val="FF0000"/>
                </a:solidFill>
              </a:rPr>
              <a:t> </a:t>
            </a:r>
            <a:r>
              <a:rPr lang="en-US" altLang="vi-VN" sz="2000" b="1" dirty="0">
                <a:solidFill>
                  <a:srgbClr val="FF0000"/>
                </a:solidFill>
              </a:rPr>
              <a:t>+ b =</a:t>
            </a:r>
            <a:r>
              <a:rPr lang="en-US" altLang="vi-VN" sz="2000" b="1" dirty="0" smtClean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325438" y="3671888"/>
            <a:ext cx="62912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spcBef>
                <a:spcPct val="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chia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tốt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nhất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khoảng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cách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từ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các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đối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tượng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gần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nhất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tới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là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cực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đại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còn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gọi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là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khoảng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cách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cực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đại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</a:p>
        </p:txBody>
      </p:sp>
      <p:pic>
        <p:nvPicPr>
          <p:cNvPr id="83979" name="Picture 14" descr="Svm_separating_hyperpla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513" y="2106613"/>
            <a:ext cx="3810000" cy="363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719138" y="5543550"/>
            <a:ext cx="629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defRPr/>
            </a:pP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(w: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véc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tơ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chỉ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phương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của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i="1" dirty="0" err="1" smtClean="0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</a:rPr>
              <a:t>, b: bias)</a:t>
            </a:r>
          </a:p>
        </p:txBody>
      </p:sp>
    </p:spTree>
    <p:extLst>
      <p:ext uri="{BB962C8B-B14F-4D97-AF65-F5344CB8AC3E}">
        <p14:creationId xmlns:p14="http://schemas.microsoft.com/office/powerpoint/2010/main" val="139218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4995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52C11FC-B6DF-4FCA-95EC-E0100B64C0E6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499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874446A-EC53-4164-8C94-C408DB21777B}" type="slidenum">
              <a:rPr lang="en-US" altLang="vi-VN" sz="1800" smtClean="0">
                <a:solidFill>
                  <a:srgbClr val="FFFFFF"/>
                </a:solidFill>
              </a:rPr>
              <a:pPr/>
              <a:t>19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998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MÔ HÌNH SVM</a:t>
            </a: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296863" y="1782763"/>
            <a:ext cx="6546850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Với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một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bất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kỳ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dạng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</a:t>
            </a:r>
            <a:r>
              <a:rPr lang="en-US" altLang="vi-VN" sz="2000" b="1" dirty="0" err="1" smtClean="0">
                <a:solidFill>
                  <a:srgbClr val="FF0000"/>
                </a:solidFill>
              </a:rPr>
              <a:t>w,x</a:t>
            </a:r>
            <a:r>
              <a:rPr lang="en-US" altLang="vi-VN" sz="20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</a:t>
            </a:r>
            <a:r>
              <a:rPr lang="en-US" altLang="vi-VN" sz="2000" b="1" dirty="0" smtClean="0">
                <a:solidFill>
                  <a:srgbClr val="FF0000"/>
                </a:solidFill>
              </a:rPr>
              <a:t> + b =0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về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mặt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học, LỀ =  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85001" name="Picture 11" descr="Svm_max_sep_hyperplane_with_marg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985963"/>
            <a:ext cx="39592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96863" y="3200400"/>
            <a:ext cx="685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Bài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toán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trở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thành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Tìm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w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R</a:t>
            </a:r>
            <a:r>
              <a:rPr lang="en-US" altLang="vi-VN" sz="2000" b="1" baseline="30000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và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b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R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sao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cho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cực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đại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903288" y="4454525"/>
          <a:ext cx="19050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0" name="Equation" r:id="rId4" imgW="787400" imgH="469900" progId="Equation.3">
                  <p:embed/>
                </p:oleObj>
              </mc:Choice>
              <mc:Fallback>
                <p:oleObj name="Equation" r:id="rId4" imgW="787400" imgH="46990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4454525"/>
                        <a:ext cx="19050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3308350" y="4430713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1" name="Equation" r:id="rId6" imgW="1180588" imgH="393529" progId="Equation.3">
                  <p:embed/>
                </p:oleObj>
              </mc:Choice>
              <mc:Fallback>
                <p:oleObj name="Equation" r:id="rId6" imgW="1180588" imgH="393529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4430713"/>
                        <a:ext cx="2857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1893888" y="5597525"/>
          <a:ext cx="34671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2" name="Equation" r:id="rId8" imgW="1460500" imgH="228600" progId="Equation.3">
                  <p:embed/>
                </p:oleObj>
              </mc:Choice>
              <mc:Fallback>
                <p:oleObj name="Equation" r:id="rId8" imgW="1460500" imgH="228600" progId="Equation.3">
                  <p:embed/>
                  <p:pic>
                    <p:nvPicPr>
                      <p:cNvPr id="1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5597525"/>
                        <a:ext cx="34671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21"/>
          <p:cNvGraphicFramePr>
            <a:graphicFrameLocks noChangeAspect="1"/>
          </p:cNvGraphicFramePr>
          <p:nvPr/>
        </p:nvGraphicFramePr>
        <p:xfrm>
          <a:off x="3048000" y="2174875"/>
          <a:ext cx="5794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3" name="Equation" r:id="rId10" imgW="317362" imgH="469696" progId="Equation.3">
                  <p:embed/>
                </p:oleObj>
              </mc:Choice>
              <mc:Fallback>
                <p:oleObj name="Equation" r:id="rId10" imgW="317362" imgH="469696" progId="Equation.3">
                  <p:embed/>
                  <p:pic>
                    <p:nvPicPr>
                      <p:cNvPr id="8500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74875"/>
                        <a:ext cx="5794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42900" y="4016375"/>
            <a:ext cx="6858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SVM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cứng</a:t>
            </a:r>
            <a:endParaRPr lang="en-US" altLang="vi-VN" sz="2000" b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51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601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14FD145-0766-4998-BCFD-C52FCDC5DC30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602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DBEE532-27BC-4F5B-93C8-D61CE7E1C0C6}" type="slidenum">
              <a:rPr lang="en-US" altLang="vi-VN" sz="1800" smtClean="0">
                <a:solidFill>
                  <a:srgbClr val="FFFFFF"/>
                </a:solidFill>
              </a:rPr>
              <a:pPr/>
              <a:t>20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022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MÔ HÌNH SVM</a:t>
            </a:r>
          </a:p>
        </p:txBody>
      </p:sp>
      <p:pic>
        <p:nvPicPr>
          <p:cNvPr id="86024" name="Picture 11" descr="Svm_max_sep_hyperplane_with_marg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985963"/>
            <a:ext cx="39592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381000" y="2111375"/>
            <a:ext cx="6858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SVM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mềm</a:t>
            </a:r>
            <a:endParaRPr lang="en-US" altLang="vi-VN" sz="2000" b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86026" name="Object 11"/>
          <p:cNvGraphicFramePr>
            <a:graphicFrameLocks noChangeAspect="1"/>
          </p:cNvGraphicFramePr>
          <p:nvPr/>
        </p:nvGraphicFramePr>
        <p:xfrm>
          <a:off x="3968750" y="1887538"/>
          <a:ext cx="31638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7" name="Equation" r:id="rId4" imgW="1536700" imgH="431800" progId="Equation.3">
                  <p:embed/>
                </p:oleObj>
              </mc:Choice>
              <mc:Fallback>
                <p:oleObj name="Equation" r:id="rId4" imgW="1536700" imgH="431800" progId="Equation.3">
                  <p:embed/>
                  <p:pic>
                    <p:nvPicPr>
                      <p:cNvPr id="860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1887538"/>
                        <a:ext cx="31638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7" name="Object 12"/>
          <p:cNvGraphicFramePr>
            <a:graphicFrameLocks noChangeAspect="1"/>
          </p:cNvGraphicFramePr>
          <p:nvPr/>
        </p:nvGraphicFramePr>
        <p:xfrm>
          <a:off x="3910013" y="2854325"/>
          <a:ext cx="37988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8" name="Equation" r:id="rId6" imgW="1600200" imgH="228600" progId="Equation.3">
                  <p:embed/>
                </p:oleObj>
              </mc:Choice>
              <mc:Fallback>
                <p:oleObj name="Equation" r:id="rId6" imgW="1600200" imgH="228600" progId="Equation.3">
                  <p:embed/>
                  <p:pic>
                    <p:nvPicPr>
                      <p:cNvPr id="860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013" y="2854325"/>
                        <a:ext cx="37988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346075" y="5146675"/>
            <a:ext cx="2611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Hàm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24" name="Object 14"/>
          <p:cNvGraphicFramePr>
            <a:graphicFrameLocks noChangeAspect="1"/>
          </p:cNvGraphicFramePr>
          <p:nvPr/>
        </p:nvGraphicFramePr>
        <p:xfrm>
          <a:off x="3414713" y="4968875"/>
          <a:ext cx="36671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" name="Equation" r:id="rId8" imgW="1562100" imgH="228600" progId="Equation.3">
                  <p:embed/>
                </p:oleObj>
              </mc:Choice>
              <mc:Fallback>
                <p:oleObj name="Equation" r:id="rId8" imgW="1562100" imgH="228600" progId="Equation.3">
                  <p:embed/>
                  <p:pic>
                    <p:nvPicPr>
                      <p:cNvPr id="2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4968875"/>
                        <a:ext cx="3667125" cy="5365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381000" y="5765800"/>
            <a:ext cx="4648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vi-VN" sz="2000" b="1">
                <a:solidFill>
                  <a:schemeClr val="accent2"/>
                </a:solidFill>
                <a:latin typeface="Arial" panose="020B0604020202020204" pitchFamily="34" charset="0"/>
              </a:rPr>
              <a:t>Véc tơ hỗ trợ: </a:t>
            </a:r>
            <a:r>
              <a:rPr lang="en-US" altLang="vi-VN" sz="2000" b="1">
                <a:latin typeface="Arial" panose="020B0604020202020204" pitchFamily="34" charset="0"/>
              </a:rPr>
              <a:t>nằm trên biên</a:t>
            </a:r>
            <a:endParaRPr lang="en-US" altLang="vi-VN" sz="2000">
              <a:latin typeface="Arial" panose="020B0604020202020204" pitchFamily="34" charset="0"/>
            </a:endParaRPr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741363" y="3546475"/>
            <a:ext cx="6781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GiảI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bài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toán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tối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ưu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này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cho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ta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nghiệm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(w</a:t>
            </a:r>
            <a:r>
              <a:rPr lang="en-US" altLang="vi-VN" sz="2000" b="1" baseline="30000" dirty="0">
                <a:solidFill>
                  <a:srgbClr val="0070C0"/>
                </a:solidFill>
                <a:latin typeface="Arial" panose="020B0604020202020204" pitchFamily="34" charset="0"/>
              </a:rPr>
              <a:t>*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, b</a:t>
            </a:r>
            <a:r>
              <a:rPr lang="en-US" altLang="vi-VN" sz="2000" b="1" baseline="30000" dirty="0">
                <a:solidFill>
                  <a:srgbClr val="0070C0"/>
                </a:solidFill>
                <a:latin typeface="Arial" panose="020B0604020202020204" pitchFamily="34" charset="0"/>
              </a:rPr>
              <a:t>*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)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tối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ưu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, (w</a:t>
            </a:r>
            <a:r>
              <a:rPr lang="en-US" altLang="vi-VN" sz="2000" b="1" baseline="30000" dirty="0">
                <a:solidFill>
                  <a:srgbClr val="0070C0"/>
                </a:solidFill>
                <a:latin typeface="Arial" panose="020B0604020202020204" pitchFamily="34" charset="0"/>
              </a:rPr>
              <a:t>*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, b</a:t>
            </a:r>
            <a:r>
              <a:rPr lang="en-US" altLang="vi-VN" sz="2000" b="1" baseline="30000" dirty="0">
                <a:solidFill>
                  <a:srgbClr val="0070C0"/>
                </a:solidFill>
                <a:latin typeface="Arial" panose="020B0604020202020204" pitchFamily="34" charset="0"/>
              </a:rPr>
              <a:t>*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)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xác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định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một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siêu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phẳng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phân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tách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  <a:latin typeface="Arial" panose="020B0604020202020204" pitchFamily="34" charset="0"/>
              </a:rPr>
              <a:t>tốt</a:t>
            </a:r>
            <a:r>
              <a:rPr lang="en-US" altLang="vi-VN" sz="20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nhất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tập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dữ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liệu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thành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hai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vi-VN" sz="2000" b="1" dirty="0" err="1">
                <a:solidFill>
                  <a:srgbClr val="0070C0"/>
                </a:solidFill>
                <a:latin typeface="Arial" panose="020B0604020202020204" pitchFamily="34" charset="0"/>
              </a:rPr>
              <a:t>lớp</a:t>
            </a:r>
            <a:r>
              <a:rPr lang="en-US" altLang="vi-VN" sz="2000" b="1" dirty="0">
                <a:solidFill>
                  <a:srgbClr val="0070C0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9556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704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E3A38E1-2197-4ED4-A632-63AC753A6A38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704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934DDD8-B146-4859-924B-B922065B2D7A}" type="slidenum">
              <a:rPr lang="en-US" altLang="vi-VN" sz="1800" smtClean="0">
                <a:solidFill>
                  <a:srgbClr val="FFFFFF"/>
                </a:solidFill>
              </a:rPr>
              <a:pPr/>
              <a:t>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046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VÍ DỤ VỀ MÔ HÌNH SVM</a:t>
            </a:r>
          </a:p>
        </p:txBody>
      </p:sp>
      <p:pic>
        <p:nvPicPr>
          <p:cNvPr id="8704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50" y="1938338"/>
            <a:ext cx="5553075" cy="2847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533400" y="2039938"/>
            <a:ext cx="46482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>
              <a:spcBef>
                <a:spcPct val="0"/>
              </a:spcBef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Cho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bộ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luyện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gồm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6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, 4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tính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và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1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tính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. Dữ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được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vào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một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hai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{1, -1}.</a:t>
            </a:r>
            <a:endParaRPr lang="en-US" altLang="vi-VN" sz="18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 algn="just">
              <a:spcBef>
                <a:spcPct val="0"/>
              </a:spcBef>
              <a:defRPr/>
            </a:pP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5583238" y="5407025"/>
            <a:ext cx="5551487" cy="55403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 marL="304800" indent="-3048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indent="0" algn="ctr">
              <a:defRPr/>
            </a:pPr>
            <a:r>
              <a:rPr lang="en-US" altLang="vi-VN" sz="3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6.1   </a:t>
            </a:r>
            <a:r>
              <a:rPr lang="en-US" altLang="vi-VN" sz="3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1.2 </a:t>
            </a:r>
            <a:r>
              <a:rPr lang="en-US" altLang="vi-VN" sz="3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vi-VN" sz="3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3.5  </a:t>
            </a:r>
            <a:r>
              <a:rPr lang="en-US" altLang="vi-VN" sz="3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1.9</a:t>
            </a:r>
            <a:endParaRPr lang="en-US" altLang="vi-VN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304800" y="5294313"/>
            <a:ext cx="4648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phương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pháp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SVM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bản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ghi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sau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838200" y="3362325"/>
            <a:ext cx="4343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defRPr/>
            </a:pP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Bộ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dữ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liệu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iris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đầy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đủ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lấy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tại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đây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 algn="just">
              <a:spcBef>
                <a:spcPct val="0"/>
              </a:spcBef>
              <a:defRPr/>
            </a:pP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08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8067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E2E521D-9309-413C-B412-48FFAD63A151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806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60BDA50-032E-490F-99F1-99CC0811C0C7}" type="slidenum">
              <a:rPr lang="en-US" altLang="vi-VN" sz="1800" smtClean="0">
                <a:solidFill>
                  <a:srgbClr val="FFFFFF"/>
                </a:solidFill>
              </a:rPr>
              <a:pPr/>
              <a:t>22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070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VÍ DỤ VỀ MÔ HÌNH SVM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1000" y="2028825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cứng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8073" name="Rectangle 2"/>
          <p:cNvSpPr>
            <a:spLocks noChangeArrowheads="1"/>
          </p:cNvSpPr>
          <p:nvPr/>
        </p:nvSpPr>
        <p:spPr bwMode="auto">
          <a:xfrm>
            <a:off x="4457700" y="1868488"/>
            <a:ext cx="6705600" cy="4278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problem name ABC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minimize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obj: </a:t>
            </a:r>
            <a:r>
              <a:rPr lang="vi-VN" altLang="vi-VN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[w1*w1]/2 + [w2*w2]/2 + [w3*w3]/2 + [w4*w4]/2</a:t>
            </a:r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subject to</a:t>
            </a:r>
          </a:p>
          <a:p>
            <a:pPr eaLnBrk="1" hangingPunct="1"/>
            <a:r>
              <a:rPr lang="vi-VN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R1:  1.1 w1 + 3.5 w2 + 1.4 w3 + 0.2 w4 + b &gt;=1</a:t>
            </a:r>
          </a:p>
          <a:p>
            <a:pPr eaLnBrk="1" hangingPunct="1"/>
            <a:r>
              <a:rPr lang="vi-VN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  4.9 w1 + 3.0 w2 + 1.4 w3 + 0.2 w4 + b &gt;=1</a:t>
            </a:r>
          </a:p>
          <a:p>
            <a:pPr eaLnBrk="1" hangingPunct="1"/>
            <a:r>
              <a:rPr lang="vi-VN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  4.7 w1 + 3.2 w2 + 1.3 w3 + 0.2 w4 + b &gt;=1</a:t>
            </a:r>
          </a:p>
          <a:p>
            <a:pPr eaLnBrk="1" hangingPunct="1"/>
            <a:r>
              <a:rPr lang="vi-VN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 -6.5w1 - 1.8 w2 - 4.6 w3 - 1.5 w4 - b &gt;=1</a:t>
            </a:r>
          </a:p>
          <a:p>
            <a:pPr eaLnBrk="1" hangingPunct="1"/>
            <a:r>
              <a:rPr lang="vi-VN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R5: -9.7w1 - 1.8 w2 - 4.5 w3 - 1.3 w4 - b &gt;=1</a:t>
            </a:r>
          </a:p>
          <a:p>
            <a:pPr eaLnBrk="1" hangingPunct="1"/>
            <a:r>
              <a:rPr lang="vi-VN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 -7.7w1 - 0.8 w2 - 6.5 w3 - 3.3 w4 - b &gt;=1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w1 &lt;= +inf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w2 &lt;= +inf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w3 &lt;= +inf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w4 &lt;= +inf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b &lt;= +inf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173163" y="2735263"/>
          <a:ext cx="2120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8" name="Equation" r:id="rId3" imgW="875920" imgH="393529" progId="Equation.3">
                  <p:embed/>
                </p:oleObj>
              </mc:Choice>
              <mc:Fallback>
                <p:oleObj name="Equation" r:id="rId3" imgW="875920" imgH="393529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2735263"/>
                        <a:ext cx="2120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39763" y="3886200"/>
          <a:ext cx="34671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9" name="Equation" r:id="rId5" imgW="1460500" imgH="228600" progId="Equation.3">
                  <p:embed/>
                </p:oleObj>
              </mc:Choice>
              <mc:Fallback>
                <p:oleObj name="Equation" r:id="rId5" imgW="1460500" imgH="228600" progId="Equation.3">
                  <p:embed/>
                  <p:pic>
                    <p:nvPicPr>
                      <p:cNvPr id="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3886200"/>
                        <a:ext cx="34671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81000" y="5572125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File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mô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hình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bài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toán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lấy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tại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đây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88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89091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3C5B468-4A6F-4EFF-9CFD-6EC84DD4D2A8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8909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EA23697-0136-476E-8149-CE1412538053}" type="slidenum">
              <a:rPr lang="en-US" altLang="vi-VN" sz="1800" smtClean="0">
                <a:solidFill>
                  <a:srgbClr val="FFFFFF"/>
                </a:solidFill>
              </a:rPr>
              <a:pPr/>
              <a:t>23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094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VÍ DỤ VỀ MÔ HÌNH SVM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81000" y="2028825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mềm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7" name="Object 11"/>
          <p:cNvGraphicFramePr>
            <a:graphicFrameLocks noChangeAspect="1"/>
          </p:cNvGraphicFramePr>
          <p:nvPr/>
        </p:nvGraphicFramePr>
        <p:xfrm>
          <a:off x="439738" y="2719388"/>
          <a:ext cx="31638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2" name="Equation" r:id="rId3" imgW="1536700" imgH="431800" progId="Equation.3">
                  <p:embed/>
                </p:oleObj>
              </mc:Choice>
              <mc:Fallback>
                <p:oleObj name="Equation" r:id="rId3" imgW="1536700" imgH="431800" progId="Equation.3">
                  <p:embed/>
                  <p:pic>
                    <p:nvPicPr>
                      <p:cNvPr id="1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2719388"/>
                        <a:ext cx="31638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381000" y="3687763"/>
          <a:ext cx="37988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3" name="Equation" r:id="rId5" imgW="1600200" imgH="228600" progId="Equation.3">
                  <p:embed/>
                </p:oleObj>
              </mc:Choice>
              <mc:Fallback>
                <p:oleObj name="Equation" r:id="rId5" imgW="1600200" imgH="228600" progId="Equation.3">
                  <p:embed/>
                  <p:pic>
                    <p:nvPicPr>
                      <p:cNvPr id="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687763"/>
                        <a:ext cx="37988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9" name="Rectangle 2"/>
          <p:cNvSpPr>
            <a:spLocks noChangeArrowheads="1"/>
          </p:cNvSpPr>
          <p:nvPr/>
        </p:nvSpPr>
        <p:spPr bwMode="auto">
          <a:xfrm>
            <a:off x="4495800" y="1779588"/>
            <a:ext cx="7467600" cy="4524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problem name ABC</a:t>
            </a:r>
          </a:p>
          <a:p>
            <a:pPr eaLnBrk="1" hangingPunct="1"/>
            <a:r>
              <a:rPr lang="vi-VN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minimize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obj: </a:t>
            </a:r>
            <a:r>
              <a:rPr lang="pl-PL" altLang="vi-VN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[w1*w1]/2 + [w2*w2]/2 + [w3*w3]/2 + [w4*w4]/2 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l-PL" altLang="vi-VN" sz="16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+ 0.5 C1 + 0.5 C2 + 0.5 C3 + 0.5 C4 + 0.5 C5 + 0.5 C6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subject to</a:t>
            </a:r>
          </a:p>
          <a:p>
            <a:pPr eaLnBrk="1" hangingPunct="1"/>
            <a:r>
              <a:rPr lang="pl-PL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R1: 1.1 w1 + 3.5 w2 + 1.4 w3 + 0.2 w4 + b + C1 &gt;=1</a:t>
            </a:r>
          </a:p>
          <a:p>
            <a:pPr eaLnBrk="1" hangingPunct="1"/>
            <a:r>
              <a:rPr lang="pl-PL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R2: 4.9	w1 + 3.0 w2 + 1.4 w3 + 0.2 w4 + b + C2 &gt;=1</a:t>
            </a:r>
          </a:p>
          <a:p>
            <a:pPr eaLnBrk="1" hangingPunct="1"/>
            <a:r>
              <a:rPr lang="pl-PL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R3: 4.7	w1 + 3.2 w2 + 1.3 w3 + 0.2 w4 + b + C3 &gt;=1</a:t>
            </a:r>
          </a:p>
          <a:p>
            <a:pPr eaLnBrk="1" hangingPunct="1"/>
            <a:r>
              <a:rPr lang="pl-PL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R4: -6.5w1 - 1.8 w2 - 4.6 w3 - 1.5 w4 - b + C4 &gt;=1</a:t>
            </a:r>
          </a:p>
          <a:p>
            <a:pPr eaLnBrk="1" hangingPunct="1"/>
            <a:r>
              <a:rPr lang="pl-PL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R5: -9.7w1 - 1.8 w2 - 4.5 w3 - 1.3 w4 - b + C5 &gt;=1</a:t>
            </a:r>
          </a:p>
          <a:p>
            <a:pPr eaLnBrk="1" hangingPunct="1"/>
            <a:r>
              <a:rPr lang="pl-PL" altLang="vi-VN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R6: -7.7w1 - 0.8 w2 - 6.5 w3 - 3.3 w4 - b + C6 &gt;=1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Bounds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w1 &lt;= +inf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w2 &lt;= +inf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w3 &lt;= +inf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w4 &lt;= +inf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-inf &lt;= b &lt;= +inf</a:t>
            </a:r>
          </a:p>
          <a:p>
            <a:pPr eaLnBrk="1" hangingPunct="1"/>
            <a:r>
              <a:rPr lang="pl-PL" altLang="vi-VN" sz="1600" b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vi-VN" altLang="vi-VN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81000" y="5572125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File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mô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hình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bài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toán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lấy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tại</a:t>
            </a:r>
            <a:r>
              <a:rPr lang="en-US" altLang="vi-VN" sz="1800" dirty="0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 </a:t>
            </a:r>
            <a:r>
              <a:rPr lang="en-US" altLang="vi-VN" sz="1800" dirty="0" err="1" smtClean="0">
                <a:solidFill>
                  <a:schemeClr val="accent6">
                    <a:lumMod val="50000"/>
                  </a:schemeClr>
                </a:solidFill>
                <a:hlinkClick r:id="rId7"/>
              </a:rPr>
              <a:t>đây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46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0115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DF3F2D0-04B2-4AC1-B5E3-CABEF3416EFB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011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0CDCA74-22E9-4569-AF1B-F89C84719B14}" type="slidenum">
              <a:rPr lang="en-US" altLang="vi-VN" sz="1800" smtClean="0">
                <a:solidFill>
                  <a:srgbClr val="FFFFFF"/>
                </a:solidFill>
              </a:rPr>
              <a:pPr/>
              <a:t>24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18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VÍ DỤ VỀ MÔ HÌNH SVM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09600" y="2028825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Giải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528763" y="2570163"/>
            <a:ext cx="98250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một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công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cụ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(solver)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để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giải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bài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toán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trên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.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ví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này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, ta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IBM CPLEX Solver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558800" y="3640138"/>
            <a:ext cx="10261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Kết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quả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ta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thu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được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tối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ưu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Chú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ý: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chỉ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1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2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):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609600" y="5672138"/>
            <a:ext cx="10261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Kết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thúc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quá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trình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luyện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455738" y="4389438"/>
            <a:ext cx="9359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SVM hard margin</a:t>
            </a:r>
            <a:r>
              <a:rPr lang="en-US" altLang="vi-VN" sz="1800" b="1" dirty="0">
                <a:solidFill>
                  <a:srgbClr val="0070C0"/>
                </a:solidFill>
              </a:rPr>
              <a:t>:   w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(-0.132077</a:t>
            </a:r>
            <a:r>
              <a:rPr lang="en-US" altLang="vi-VN" sz="1800" b="1" dirty="0">
                <a:solidFill>
                  <a:srgbClr val="0070C0"/>
                </a:solidFill>
              </a:rPr>
              <a:t>, 0.132077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, -0.539713, </a:t>
            </a:r>
            <a:r>
              <a:rPr lang="en-US" altLang="vi-VN" sz="1800" b="1" dirty="0">
                <a:solidFill>
                  <a:srgbClr val="0070C0"/>
                </a:solidFill>
              </a:rPr>
              <a:t>-0.191511)    b = 2.282584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1460500" y="4954588"/>
            <a:ext cx="9359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SVM soft margin:    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w</a:t>
            </a:r>
            <a:r>
              <a:rPr lang="en-US" altLang="vi-VN" sz="1800" b="1" dirty="0">
                <a:solidFill>
                  <a:srgbClr val="0070C0"/>
                </a:solidFill>
              </a:rPr>
              <a:t> (-0.132077, 0.053821, -0.539713, -0.191511)    b = 2.282584</a:t>
            </a:r>
          </a:p>
        </p:txBody>
      </p:sp>
    </p:spTree>
    <p:extLst>
      <p:ext uri="{BB962C8B-B14F-4D97-AF65-F5344CB8AC3E}">
        <p14:creationId xmlns:p14="http://schemas.microsoft.com/office/powerpoint/2010/main" val="299659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113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2181F3E-5F65-4B96-9CF5-375F474CC581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114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6F28B27-EE31-4E97-97B4-A19E6237BDE0}" type="slidenum">
              <a:rPr lang="en-US" altLang="vi-VN" sz="1800" smtClean="0">
                <a:solidFill>
                  <a:srgbClr val="FFFFFF"/>
                </a:solidFill>
              </a:rPr>
              <a:pPr/>
              <a:t>25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142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VÍ DỤ VỀ MÔ HÌNH SVM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09600" y="2028825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để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506538" y="2609850"/>
            <a:ext cx="9359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SVM hard margin</a:t>
            </a:r>
            <a:r>
              <a:rPr lang="en-US" altLang="vi-VN" sz="1800" b="1" dirty="0">
                <a:solidFill>
                  <a:srgbClr val="0070C0"/>
                </a:solidFill>
              </a:rPr>
              <a:t>:   w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(-0.132077</a:t>
            </a:r>
            <a:r>
              <a:rPr lang="en-US" altLang="vi-VN" sz="1800" b="1" dirty="0">
                <a:solidFill>
                  <a:srgbClr val="0070C0"/>
                </a:solidFill>
              </a:rPr>
              <a:t>, 0.132077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, -0.539713, </a:t>
            </a:r>
            <a:r>
              <a:rPr lang="en-US" altLang="vi-VN" sz="1800" b="1" dirty="0">
                <a:solidFill>
                  <a:srgbClr val="0070C0"/>
                </a:solidFill>
              </a:rPr>
              <a:t>-0.191511)    b = 2.282584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511300" y="3175000"/>
            <a:ext cx="9359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SVM soft margin:    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w</a:t>
            </a:r>
            <a:r>
              <a:rPr lang="en-US" altLang="vi-VN" sz="1800" b="1" dirty="0">
                <a:solidFill>
                  <a:srgbClr val="0070C0"/>
                </a:solidFill>
              </a:rPr>
              <a:t> (-0.132077, 0.053821, -0.539713, -0.191511)    b = 2.282584</a:t>
            </a:r>
          </a:p>
        </p:txBody>
      </p:sp>
      <p:sp>
        <p:nvSpPr>
          <p:cNvPr id="91147" name="Rectangle 7"/>
          <p:cNvSpPr>
            <a:spLocks noChangeArrowheads="1"/>
          </p:cNvSpPr>
          <p:nvPr/>
        </p:nvSpPr>
        <p:spPr bwMode="auto">
          <a:xfrm>
            <a:off x="890588" y="4646613"/>
            <a:ext cx="10591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vi-VN" sz="2000" b="1">
                <a:latin typeface="Arial" panose="020B0604020202020204" pitchFamily="34" charset="0"/>
              </a:rPr>
              <a:t>G(X) = - </a:t>
            </a:r>
            <a:r>
              <a:rPr lang="en-US" altLang="vi-VN" sz="2000" b="1">
                <a:solidFill>
                  <a:srgbClr val="FF0000"/>
                </a:solidFill>
                <a:latin typeface="Arial" panose="020B0604020202020204" pitchFamily="34" charset="0"/>
              </a:rPr>
              <a:t>6.1</a:t>
            </a:r>
            <a:r>
              <a:rPr lang="en-US" altLang="vi-VN" sz="2000" b="1">
                <a:latin typeface="Arial" panose="020B0604020202020204" pitchFamily="34" charset="0"/>
              </a:rPr>
              <a:t>*</a:t>
            </a:r>
            <a:r>
              <a:rPr lang="en-US" altLang="vi-VN" sz="2000" b="1">
                <a:solidFill>
                  <a:srgbClr val="0070C0"/>
                </a:solidFill>
              </a:rPr>
              <a:t> 0.132077</a:t>
            </a:r>
            <a:r>
              <a:rPr lang="en-US" altLang="vi-VN" sz="2000" b="1">
                <a:latin typeface="Arial" panose="020B0604020202020204" pitchFamily="34" charset="0"/>
              </a:rPr>
              <a:t> + </a:t>
            </a:r>
            <a:r>
              <a:rPr lang="en-US" altLang="vi-VN" sz="2000" b="1">
                <a:solidFill>
                  <a:srgbClr val="FF0000"/>
                </a:solidFill>
                <a:latin typeface="Arial" panose="020B0604020202020204" pitchFamily="34" charset="0"/>
              </a:rPr>
              <a:t>1.2</a:t>
            </a:r>
            <a:r>
              <a:rPr lang="en-US" altLang="vi-VN" sz="2000" b="1">
                <a:latin typeface="Arial" panose="020B0604020202020204" pitchFamily="34" charset="0"/>
              </a:rPr>
              <a:t>*</a:t>
            </a:r>
            <a:r>
              <a:rPr lang="en-US" altLang="vi-VN" sz="2000" b="1">
                <a:solidFill>
                  <a:srgbClr val="0070C0"/>
                </a:solidFill>
              </a:rPr>
              <a:t> 0.132077</a:t>
            </a:r>
            <a:r>
              <a:rPr lang="en-US" altLang="vi-VN" sz="2000" b="1">
                <a:latin typeface="Arial" panose="020B0604020202020204" pitchFamily="34" charset="0"/>
              </a:rPr>
              <a:t> </a:t>
            </a:r>
            <a:r>
              <a:rPr lang="en-US" altLang="vi-VN" sz="2000" b="1">
                <a:solidFill>
                  <a:srgbClr val="FF0000"/>
                </a:solidFill>
                <a:latin typeface="Arial" panose="020B0604020202020204" pitchFamily="34" charset="0"/>
              </a:rPr>
              <a:t>– 3.5</a:t>
            </a:r>
            <a:r>
              <a:rPr lang="en-US" altLang="vi-VN" sz="2000" b="1">
                <a:latin typeface="Arial" panose="020B0604020202020204" pitchFamily="34" charset="0"/>
              </a:rPr>
              <a:t>*</a:t>
            </a:r>
            <a:r>
              <a:rPr lang="en-US" altLang="vi-VN" sz="2000" b="1">
                <a:solidFill>
                  <a:srgbClr val="0070C0"/>
                </a:solidFill>
              </a:rPr>
              <a:t> 0.539713</a:t>
            </a:r>
            <a:r>
              <a:rPr lang="en-US" altLang="vi-VN" sz="2000" b="1">
                <a:latin typeface="Arial" panose="020B0604020202020204" pitchFamily="34" charset="0"/>
              </a:rPr>
              <a:t> – </a:t>
            </a:r>
            <a:r>
              <a:rPr lang="en-US" altLang="vi-VN" sz="2000" b="1">
                <a:solidFill>
                  <a:srgbClr val="FF0000"/>
                </a:solidFill>
                <a:latin typeface="Arial" panose="020B0604020202020204" pitchFamily="34" charset="0"/>
              </a:rPr>
              <a:t>1.9</a:t>
            </a:r>
            <a:r>
              <a:rPr lang="en-US" altLang="vi-VN" sz="2000" b="1">
                <a:latin typeface="Arial" panose="020B0604020202020204" pitchFamily="34" charset="0"/>
              </a:rPr>
              <a:t>*</a:t>
            </a:r>
            <a:r>
              <a:rPr lang="en-US" altLang="vi-VN" sz="2000" b="1">
                <a:solidFill>
                  <a:srgbClr val="0070C0"/>
                </a:solidFill>
              </a:rPr>
              <a:t> 0.191511</a:t>
            </a:r>
            <a:r>
              <a:rPr lang="en-US" altLang="vi-VN" sz="2000" b="1">
                <a:latin typeface="Arial" panose="020B0604020202020204" pitchFamily="34" charset="0"/>
              </a:rPr>
              <a:t> + </a:t>
            </a:r>
            <a:r>
              <a:rPr lang="en-US" altLang="vi-VN" sz="2000" b="1">
                <a:solidFill>
                  <a:srgbClr val="0070C0"/>
                </a:solidFill>
              </a:rPr>
              <a:t>2.282584</a:t>
            </a:r>
          </a:p>
        </p:txBody>
      </p:sp>
      <p:sp>
        <p:nvSpPr>
          <p:cNvPr id="91148" name="Rectangle 7"/>
          <p:cNvSpPr>
            <a:spLocks noChangeArrowheads="1"/>
          </p:cNvSpPr>
          <p:nvPr/>
        </p:nvSpPr>
        <p:spPr bwMode="auto">
          <a:xfrm>
            <a:off x="4740275" y="3873500"/>
            <a:ext cx="889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vi-VN" b="1"/>
              <a:t>X  = </a:t>
            </a:r>
            <a:endParaRPr lang="en-US" altLang="vi-VN" b="1">
              <a:solidFill>
                <a:srgbClr val="002060"/>
              </a:solidFill>
            </a:endParaRPr>
          </a:p>
        </p:txBody>
      </p:sp>
      <p:sp>
        <p:nvSpPr>
          <p:cNvPr id="91149" name="Rectangle 7"/>
          <p:cNvSpPr>
            <a:spLocks noChangeArrowheads="1"/>
          </p:cNvSpPr>
          <p:nvPr/>
        </p:nvSpPr>
        <p:spPr bwMode="auto">
          <a:xfrm>
            <a:off x="1495425" y="5105400"/>
            <a:ext cx="826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vi-VN" sz="2000" b="1">
                <a:latin typeface="Arial" panose="020B0604020202020204" pitchFamily="34" charset="0"/>
              </a:rPr>
              <a:t>G(X) = </a:t>
            </a:r>
            <a:r>
              <a:rPr lang="en-US" altLang="vi-VN" sz="2000" b="1">
                <a:solidFill>
                  <a:srgbClr val="FF0000"/>
                </a:solidFill>
                <a:latin typeface="Arial" panose="020B0604020202020204" pitchFamily="34" charset="0"/>
              </a:rPr>
              <a:t>- </a:t>
            </a:r>
            <a:r>
              <a:rPr lang="vi-VN" altLang="vi-VN" b="1"/>
              <a:t>-0.7114</a:t>
            </a:r>
            <a:r>
              <a:rPr lang="vi-VN" altLang="vi-VN" sz="2000"/>
              <a:t> </a:t>
            </a:r>
            <a:r>
              <a:rPr lang="en-US" altLang="vi-VN" sz="2000" b="1">
                <a:solidFill>
                  <a:srgbClr val="FF0000"/>
                </a:solidFill>
                <a:latin typeface="Arial" panose="020B0604020202020204" pitchFamily="34" charset="0"/>
              </a:rPr>
              <a:t> &lt; 0</a:t>
            </a:r>
          </a:p>
        </p:txBody>
      </p:sp>
      <p:sp>
        <p:nvSpPr>
          <p:cNvPr id="91150" name="Rectangle 7"/>
          <p:cNvSpPr>
            <a:spLocks noChangeArrowheads="1"/>
          </p:cNvSpPr>
          <p:nvPr/>
        </p:nvSpPr>
        <p:spPr bwMode="auto">
          <a:xfrm>
            <a:off x="609600" y="5683250"/>
            <a:ext cx="826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</a:rPr>
              <a:t>X được phân vào lớp -1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5629275" y="3789363"/>
            <a:ext cx="5551488" cy="55403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 marL="304800" indent="-3048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indent="0" algn="ctr">
              <a:defRPr/>
            </a:pPr>
            <a:r>
              <a:rPr lang="en-US" altLang="vi-VN" sz="3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6.1   </a:t>
            </a:r>
            <a:r>
              <a:rPr lang="en-US" altLang="vi-VN" sz="3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1.2 </a:t>
            </a:r>
            <a:r>
              <a:rPr lang="en-US" altLang="vi-VN" sz="3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vi-VN" sz="3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3.5  </a:t>
            </a:r>
            <a:r>
              <a:rPr lang="en-US" altLang="vi-VN" sz="30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1.9</a:t>
            </a:r>
            <a:endParaRPr lang="en-US" altLang="vi-VN" sz="3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506538" y="3910013"/>
            <a:ext cx="29448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Bản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ghi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cần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79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113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2181F3E-5F65-4B96-9CF5-375F474CC581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114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6F28B27-EE31-4E97-97B4-A19E6237BDE0}" type="slidenum">
              <a:rPr lang="en-US" altLang="vi-VN" sz="1800" smtClean="0">
                <a:solidFill>
                  <a:srgbClr val="FFFFFF"/>
                </a:solidFill>
              </a:rPr>
              <a:pPr/>
              <a:t>26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142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BÀI TẬP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740229" y="1921668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Cho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bộ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luyện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sau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12280" y="1921668"/>
            <a:ext cx="4291148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vi-VN" b="1" dirty="0">
                <a:solidFill>
                  <a:srgbClr val="0070C0"/>
                </a:solidFill>
              </a:rPr>
              <a:t>1.1	</a:t>
            </a:r>
            <a:r>
              <a:rPr lang="vi-VN" b="1" dirty="0" smtClean="0">
                <a:solidFill>
                  <a:srgbClr val="0070C0"/>
                </a:solidFill>
              </a:rPr>
              <a:t>	29.1 	3.1 		14.0 	</a:t>
            </a:r>
            <a:r>
              <a:rPr lang="vi-VN" b="1" dirty="0" smtClean="0">
                <a:solidFill>
                  <a:srgbClr val="FF0000"/>
                </a:solidFill>
              </a:rPr>
              <a:t>-</a:t>
            </a:r>
            <a:r>
              <a:rPr lang="vi-VN" b="1" dirty="0">
                <a:solidFill>
                  <a:srgbClr val="FF0000"/>
                </a:solidFill>
              </a:rPr>
              <a:t>1</a:t>
            </a:r>
          </a:p>
          <a:p>
            <a:r>
              <a:rPr lang="vi-VN" b="1" dirty="0">
                <a:solidFill>
                  <a:srgbClr val="0070C0"/>
                </a:solidFill>
              </a:rPr>
              <a:t>1.1	</a:t>
            </a:r>
            <a:r>
              <a:rPr lang="vi-VN" b="1" dirty="0" smtClean="0">
                <a:solidFill>
                  <a:srgbClr val="0070C0"/>
                </a:solidFill>
              </a:rPr>
              <a:t>	43.7 	2.4 		10.0 	</a:t>
            </a:r>
            <a:r>
              <a:rPr lang="vi-VN" b="1" dirty="0" smtClean="0">
                <a:solidFill>
                  <a:srgbClr val="FF0000"/>
                </a:solidFill>
              </a:rPr>
              <a:t>-</a:t>
            </a:r>
            <a:r>
              <a:rPr lang="vi-VN" b="1" dirty="0">
                <a:solidFill>
                  <a:srgbClr val="FF0000"/>
                </a:solidFill>
              </a:rPr>
              <a:t>1</a:t>
            </a:r>
          </a:p>
          <a:p>
            <a:r>
              <a:rPr lang="vi-VN" b="1" dirty="0">
                <a:solidFill>
                  <a:srgbClr val="0070C0"/>
                </a:solidFill>
              </a:rPr>
              <a:t>1.1	</a:t>
            </a:r>
            <a:r>
              <a:rPr lang="vi-VN" b="1" dirty="0" smtClean="0">
                <a:solidFill>
                  <a:srgbClr val="0070C0"/>
                </a:solidFill>
              </a:rPr>
              <a:t>	32.6 	2.9 		13.0 	</a:t>
            </a:r>
            <a:r>
              <a:rPr lang="vi-VN" b="1" dirty="0" smtClean="0">
                <a:solidFill>
                  <a:srgbClr val="FF0000"/>
                </a:solidFill>
              </a:rPr>
              <a:t>-</a:t>
            </a:r>
            <a:r>
              <a:rPr lang="vi-VN" b="1" dirty="0">
                <a:solidFill>
                  <a:srgbClr val="FF0000"/>
                </a:solidFill>
              </a:rPr>
              <a:t>1</a:t>
            </a:r>
          </a:p>
          <a:p>
            <a:r>
              <a:rPr lang="vi-VN" b="1" dirty="0">
                <a:solidFill>
                  <a:srgbClr val="0070C0"/>
                </a:solidFill>
              </a:rPr>
              <a:t>1.1	</a:t>
            </a:r>
            <a:r>
              <a:rPr lang="vi-VN" b="1" dirty="0" smtClean="0">
                <a:solidFill>
                  <a:srgbClr val="0070C0"/>
                </a:solidFill>
              </a:rPr>
              <a:t>	35.1 	3.5 		12.0 	</a:t>
            </a:r>
            <a:r>
              <a:rPr lang="vi-VN" b="1" dirty="0" smtClean="0">
                <a:solidFill>
                  <a:srgbClr val="FF0000"/>
                </a:solidFill>
              </a:rPr>
              <a:t>-</a:t>
            </a:r>
            <a:r>
              <a:rPr lang="vi-VN" b="1" dirty="0">
                <a:solidFill>
                  <a:srgbClr val="FF0000"/>
                </a:solidFill>
              </a:rPr>
              <a:t>1</a:t>
            </a:r>
          </a:p>
          <a:p>
            <a:r>
              <a:rPr lang="vi-VN" b="1" dirty="0">
                <a:solidFill>
                  <a:srgbClr val="0070C0"/>
                </a:solidFill>
              </a:rPr>
              <a:t>1.2	</a:t>
            </a:r>
            <a:r>
              <a:rPr lang="vi-VN" b="1" dirty="0" smtClean="0">
                <a:solidFill>
                  <a:srgbClr val="0070C0"/>
                </a:solidFill>
              </a:rPr>
              <a:t>	53.4 	2.3 		31.0 	</a:t>
            </a:r>
            <a:r>
              <a:rPr lang="vi-VN" b="1" dirty="0" smtClean="0">
                <a:solidFill>
                  <a:srgbClr val="FF0000"/>
                </a:solidFill>
              </a:rPr>
              <a:t>1</a:t>
            </a:r>
            <a:endParaRPr lang="vi-VN" b="1" dirty="0">
              <a:solidFill>
                <a:srgbClr val="FF0000"/>
              </a:solidFill>
            </a:endParaRPr>
          </a:p>
          <a:p>
            <a:r>
              <a:rPr lang="vi-VN" b="1" dirty="0">
                <a:solidFill>
                  <a:srgbClr val="0070C0"/>
                </a:solidFill>
              </a:rPr>
              <a:t>1.2	</a:t>
            </a:r>
            <a:r>
              <a:rPr lang="vi-VN" b="1" dirty="0" smtClean="0">
                <a:solidFill>
                  <a:srgbClr val="0070C0"/>
                </a:solidFill>
              </a:rPr>
              <a:t>	57.7 	3.4 		88.0 	</a:t>
            </a:r>
            <a:r>
              <a:rPr lang="vi-VN" b="1" dirty="0" smtClean="0">
                <a:solidFill>
                  <a:srgbClr val="FF0000"/>
                </a:solidFill>
              </a:rPr>
              <a:t>1</a:t>
            </a:r>
            <a:endParaRPr lang="vi-VN" b="1" dirty="0">
              <a:solidFill>
                <a:srgbClr val="FF0000"/>
              </a:solidFill>
            </a:endParaRPr>
          </a:p>
          <a:p>
            <a:r>
              <a:rPr lang="vi-VN" b="1" dirty="0">
                <a:solidFill>
                  <a:srgbClr val="0070C0"/>
                </a:solidFill>
              </a:rPr>
              <a:t>1.2	</a:t>
            </a:r>
            <a:r>
              <a:rPr lang="vi-VN" b="1" dirty="0" smtClean="0">
                <a:solidFill>
                  <a:srgbClr val="0070C0"/>
                </a:solidFill>
              </a:rPr>
              <a:t>	65.3 	2.6 		92.2 	</a:t>
            </a:r>
            <a:r>
              <a:rPr lang="vi-VN" b="1" dirty="0" smtClean="0">
                <a:solidFill>
                  <a:srgbClr val="FF0000"/>
                </a:solidFill>
              </a:rPr>
              <a:t>1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1074545" y="2317849"/>
            <a:ext cx="4648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Tệp</a:t>
            </a:r>
            <a:r>
              <a:rPr lang="en-US" altLang="vi-VN" sz="14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: DATA_SVM.TRAIN, </a:t>
            </a: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lấy</a:t>
            </a:r>
            <a:r>
              <a:rPr lang="en-US" altLang="vi-VN" sz="14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tại</a:t>
            </a:r>
            <a:r>
              <a:rPr lang="en-US" altLang="vi-VN" sz="1400" dirty="0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 </a:t>
            </a: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3"/>
              </a:rPr>
              <a:t>đây</a:t>
            </a:r>
            <a:endParaRPr lang="en-US" altLang="vi-VN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844732" y="4377797"/>
            <a:ext cx="107028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Hãy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luyện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1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SVM 2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để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bộ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sau</a:t>
            </a:r>
            <a:endParaRPr lang="en-US" altLang="vi-VN" sz="1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12280" y="4908323"/>
            <a:ext cx="4291148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vi-VN" b="1" dirty="0">
                <a:solidFill>
                  <a:srgbClr val="0070C0"/>
                </a:solidFill>
              </a:rPr>
              <a:t>1.5	</a:t>
            </a:r>
            <a:r>
              <a:rPr lang="vi-VN" b="1" dirty="0" smtClean="0">
                <a:solidFill>
                  <a:srgbClr val="0070C0"/>
                </a:solidFill>
              </a:rPr>
              <a:t>	21.0 	3.3 		12.0</a:t>
            </a:r>
            <a:endParaRPr lang="vi-VN" b="1" dirty="0">
              <a:solidFill>
                <a:srgbClr val="0070C0"/>
              </a:solidFill>
            </a:endParaRPr>
          </a:p>
          <a:p>
            <a:r>
              <a:rPr lang="vi-VN" b="1" dirty="0">
                <a:solidFill>
                  <a:srgbClr val="0070C0"/>
                </a:solidFill>
              </a:rPr>
              <a:t>1.2	</a:t>
            </a:r>
            <a:r>
              <a:rPr lang="vi-VN" b="1" dirty="0" smtClean="0">
                <a:solidFill>
                  <a:srgbClr val="0070C0"/>
                </a:solidFill>
              </a:rPr>
              <a:t>	41.1 	2.1 		13.0</a:t>
            </a:r>
            <a:endParaRPr lang="vi-VN" b="1" dirty="0">
              <a:solidFill>
                <a:srgbClr val="0070C0"/>
              </a:solidFill>
            </a:endParaRPr>
          </a:p>
          <a:p>
            <a:r>
              <a:rPr lang="vi-VN" b="1" dirty="0">
                <a:solidFill>
                  <a:srgbClr val="0070C0"/>
                </a:solidFill>
              </a:rPr>
              <a:t>1.6	</a:t>
            </a:r>
            <a:r>
              <a:rPr lang="vi-VN" b="1" dirty="0" smtClean="0">
                <a:solidFill>
                  <a:srgbClr val="0070C0"/>
                </a:solidFill>
              </a:rPr>
              <a:t>	51.2 	3.1 		81.0</a:t>
            </a:r>
            <a:endParaRPr lang="vi-VN" b="1" dirty="0">
              <a:solidFill>
                <a:srgbClr val="0070C0"/>
              </a:solidFill>
            </a:endParaRPr>
          </a:p>
          <a:p>
            <a:r>
              <a:rPr lang="vi-VN" b="1" dirty="0">
                <a:solidFill>
                  <a:srgbClr val="0070C0"/>
                </a:solidFill>
              </a:rPr>
              <a:t>1.4	</a:t>
            </a:r>
            <a:r>
              <a:rPr lang="vi-VN" b="1" dirty="0" smtClean="0">
                <a:solidFill>
                  <a:srgbClr val="0070C0"/>
                </a:solidFill>
              </a:rPr>
              <a:t>	63.1 	2.1 		90.0</a:t>
            </a:r>
            <a:endParaRPr lang="vi-VN" b="1" dirty="0">
              <a:solidFill>
                <a:srgbClr val="0070C0"/>
              </a:solidFill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1097280" y="4802551"/>
            <a:ext cx="4648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04800" indent="-304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Tệp</a:t>
            </a:r>
            <a:r>
              <a:rPr lang="en-US" altLang="vi-VN" sz="1400" dirty="0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: DATA_SVM.TEST, </a:t>
            </a: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lấy</a:t>
            </a:r>
            <a:r>
              <a:rPr lang="en-US" altLang="vi-VN" sz="1400" dirty="0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 </a:t>
            </a: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tại</a:t>
            </a:r>
            <a:r>
              <a:rPr lang="en-US" altLang="vi-VN" sz="1400" dirty="0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 </a:t>
            </a:r>
            <a:r>
              <a:rPr lang="en-US" altLang="vi-VN" sz="1400" dirty="0" err="1" smtClean="0">
                <a:solidFill>
                  <a:schemeClr val="accent6">
                    <a:lumMod val="50000"/>
                  </a:schemeClr>
                </a:solidFill>
                <a:hlinkClick r:id="rId4"/>
              </a:rPr>
              <a:t>đây</a:t>
            </a:r>
            <a:endParaRPr lang="en-US" altLang="vi-VN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780324"/>
              </p:ext>
            </p:extLst>
          </p:nvPr>
        </p:nvGraphicFramePr>
        <p:xfrm>
          <a:off x="1341302" y="2875264"/>
          <a:ext cx="31638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4" name="Equation" r:id="rId5" imgW="1536700" imgH="431800" progId="Equation.3">
                  <p:embed/>
                </p:oleObj>
              </mc:Choice>
              <mc:Fallback>
                <p:oleObj name="Equation" r:id="rId5" imgW="1536700" imgH="431800" progId="Equation.3">
                  <p:embed/>
                  <p:pic>
                    <p:nvPicPr>
                      <p:cNvPr id="860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302" y="2875264"/>
                        <a:ext cx="31638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41835"/>
              </p:ext>
            </p:extLst>
          </p:nvPr>
        </p:nvGraphicFramePr>
        <p:xfrm>
          <a:off x="1521936" y="3681530"/>
          <a:ext cx="37988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5" name="Equation" r:id="rId7" imgW="1600200" imgH="228600" progId="Equation.3">
                  <p:embed/>
                </p:oleObj>
              </mc:Choice>
              <mc:Fallback>
                <p:oleObj name="Equation" r:id="rId7" imgW="1600200" imgH="228600" progId="Equation.3">
                  <p:embed/>
                  <p:pic>
                    <p:nvPicPr>
                      <p:cNvPr id="860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1936" y="3681530"/>
                        <a:ext cx="37988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79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216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C187E1A-6AB3-44B9-8FB5-D7AFCB5ADA87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216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177997C-AD9F-4C6D-9A92-1841E201ADA7}" type="slidenum">
              <a:rPr lang="en-US" altLang="vi-VN" sz="1800" smtClean="0">
                <a:solidFill>
                  <a:srgbClr val="FFFFFF"/>
                </a:solidFill>
              </a:rPr>
              <a:pPr/>
              <a:t>27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66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Kernel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trong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SVM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28600" y="1905000"/>
            <a:ext cx="449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Dữ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tách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tuyến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tính</a:t>
            </a:r>
            <a:endParaRPr lang="en-US" altLang="vi-V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2169" name="Picture 27" descr="images (2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106613"/>
            <a:ext cx="27432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70" name="Picture 28" descr="SVMIntr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100" y="1831975"/>
            <a:ext cx="2514600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71" name="Text Box 29"/>
          <p:cNvSpPr txBox="1">
            <a:spLocks noChangeArrowheads="1"/>
          </p:cNvSpPr>
          <p:nvPr/>
        </p:nvSpPr>
        <p:spPr bwMode="auto">
          <a:xfrm>
            <a:off x="5054600" y="4316413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vi-VN">
                <a:latin typeface="Arial" panose="020B0604020202020204" pitchFamily="34" charset="0"/>
              </a:rPr>
              <a:t>Dữ liệu </a:t>
            </a:r>
            <a:r>
              <a:rPr lang="en-US" altLang="vi-VN" b="1">
                <a:latin typeface="Arial" panose="020B0604020202020204" pitchFamily="34" charset="0"/>
              </a:rPr>
              <a:t>có khả năng </a:t>
            </a:r>
            <a:r>
              <a:rPr lang="en-US" altLang="vi-VN">
                <a:latin typeface="Arial" panose="020B0604020202020204" pitchFamily="34" charset="0"/>
              </a:rPr>
              <a:t>phân tách tuyến tính</a:t>
            </a:r>
          </a:p>
        </p:txBody>
      </p:sp>
      <p:sp>
        <p:nvSpPr>
          <p:cNvPr id="92172" name="Text Box 30"/>
          <p:cNvSpPr txBox="1">
            <a:spLocks noChangeArrowheads="1"/>
          </p:cNvSpPr>
          <p:nvPr/>
        </p:nvSpPr>
        <p:spPr bwMode="auto">
          <a:xfrm>
            <a:off x="8572500" y="4346575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vi-VN">
                <a:latin typeface="Arial" panose="020B0604020202020204" pitchFamily="34" charset="0"/>
              </a:rPr>
              <a:t>Dữ liệu </a:t>
            </a:r>
            <a:r>
              <a:rPr lang="en-US" altLang="vi-VN" b="1">
                <a:latin typeface="Arial" panose="020B0604020202020204" pitchFamily="34" charset="0"/>
              </a:rPr>
              <a:t>không có khả năng </a:t>
            </a:r>
            <a:r>
              <a:rPr lang="en-US" altLang="vi-VN">
                <a:latin typeface="Arial" panose="020B0604020202020204" pitchFamily="34" charset="0"/>
              </a:rPr>
              <a:t>phân tách tuyến tính</a:t>
            </a: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290513" y="5464175"/>
            <a:ext cx="11772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SVM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có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thể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hoạt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động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tốt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trên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tách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tuyến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tính</a:t>
            </a:r>
            <a:endParaRPr lang="en-US" altLang="vi-V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8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3187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B240D0B-3409-4522-A203-526AA026E2A7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318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5F45813-4BD6-45A1-8A1B-D9FEAA098DF1}" type="slidenum">
              <a:rPr lang="en-US" altLang="vi-VN" sz="1800" smtClean="0">
                <a:solidFill>
                  <a:srgbClr val="FFFFFF"/>
                </a:solidFill>
              </a:rPr>
              <a:pPr/>
              <a:t>28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0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Hàm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Kernel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trong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SVM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28600" y="1905000"/>
            <a:ext cx="1135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Trường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hợp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không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tách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tuyến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tính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Sử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dụng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</a:t>
            </a:r>
            <a:r>
              <a:rPr lang="en-US" altLang="vi-VN" sz="2000" b="1" dirty="0" err="1" smtClean="0">
                <a:solidFill>
                  <a:srgbClr val="0070C0"/>
                </a:solidFill>
              </a:rPr>
              <a:t>hàm</a:t>
            </a:r>
            <a:r>
              <a:rPr lang="en-US" altLang="vi-VN" sz="2000" b="1" dirty="0" smtClean="0">
                <a:solidFill>
                  <a:srgbClr val="0070C0"/>
                </a:solidFill>
              </a:rPr>
              <a:t> kernel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85800" y="2514600"/>
            <a:ext cx="11506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 eaLnBrk="1" hangingPunct="1">
              <a:spcBef>
                <a:spcPct val="5000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Dùng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một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ánh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xạ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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để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ánh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xạ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các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đối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tượng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dữ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liệu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sang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một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không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gian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mới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với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chiều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lớn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hơn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85800" y="2957513"/>
            <a:ext cx="1150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 eaLnBrk="1" hangingPunct="1">
              <a:spcBef>
                <a:spcPct val="5000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không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gian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mới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có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nhiều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khả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năng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tách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tuyến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tính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hơn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en-US" altLang="vi-VN" sz="1800" b="1" dirty="0">
              <a:solidFill>
                <a:schemeClr val="accent6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260725" y="4384675"/>
          <a:ext cx="356393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6" name="Equation" r:id="rId5" imgW="1473200" imgH="431800" progId="Equation.3">
                  <p:embed/>
                </p:oleObj>
              </mc:Choice>
              <mc:Fallback>
                <p:oleObj name="Equation" r:id="rId5" imgW="1473200" imgH="4318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4384675"/>
                        <a:ext cx="356393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082925" y="5629275"/>
          <a:ext cx="39195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7" name="Equation" r:id="rId7" imgW="1651000" imgH="228600" progId="Equation.3">
                  <p:embed/>
                </p:oleObj>
              </mc:Choice>
              <mc:Fallback>
                <p:oleObj name="Equation" r:id="rId7" imgW="1651000" imgH="2286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5629275"/>
                        <a:ext cx="391953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SVM with polynomial kernel visualization - YouTub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0" y="3657600"/>
            <a:ext cx="20955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685800" y="3987800"/>
            <a:ext cx="11506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 eaLnBrk="1" hangingPunct="1">
              <a:spcBef>
                <a:spcPct val="5000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SVM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lề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mềm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trở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 smtClean="0">
                <a:solidFill>
                  <a:schemeClr val="accent6">
                    <a:lumMod val="50000"/>
                  </a:schemeClr>
                </a:solidFill>
              </a:rPr>
              <a:t>thành</a:t>
            </a:r>
            <a:r>
              <a:rPr lang="en-US" altLang="vi-VN" sz="18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1800" b="1" dirty="0">
              <a:solidFill>
                <a:schemeClr val="accent6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702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  <p:bldLst>
      <p:bldP spid="14" grpId="0"/>
      <p:bldP spid="15" grpId="0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4211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E11F5FC-49B0-42B6-BEF9-D2190FCC015A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421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9F94046-559C-4A49-BA21-BD78F62D31FD}" type="slidenum">
              <a:rPr lang="en-US" altLang="vi-VN" sz="1800" smtClean="0">
                <a:solidFill>
                  <a:srgbClr val="FFFFFF"/>
                </a:solidFill>
              </a:rPr>
              <a:pPr/>
              <a:t>29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214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Hàm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Kernel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trong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SVM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28600" y="1820863"/>
            <a:ext cx="11353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Để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hàm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kernel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mới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người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ta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chuyển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bài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toán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sang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dạng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đối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ngẫu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(Dual form)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graphicFrame>
        <p:nvGraphicFramePr>
          <p:cNvPr id="94217" name="Object 11"/>
          <p:cNvGraphicFramePr>
            <a:graphicFrameLocks noChangeAspect="1"/>
          </p:cNvGraphicFramePr>
          <p:nvPr/>
        </p:nvGraphicFramePr>
        <p:xfrm>
          <a:off x="2073275" y="2589213"/>
          <a:ext cx="25146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6" name="Equation" r:id="rId3" imgW="1435100" imgH="431800" progId="Equation.3">
                  <p:embed/>
                </p:oleObj>
              </mc:Choice>
              <mc:Fallback>
                <p:oleObj name="Equation" r:id="rId3" imgW="1435100" imgH="431800" progId="Equation.3">
                  <p:embed/>
                  <p:pic>
                    <p:nvPicPr>
                      <p:cNvPr id="9421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2589213"/>
                        <a:ext cx="2514600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2"/>
          <p:cNvGraphicFramePr>
            <a:graphicFrameLocks noChangeAspect="1"/>
          </p:cNvGraphicFramePr>
          <p:nvPr/>
        </p:nvGraphicFramePr>
        <p:xfrm>
          <a:off x="1895475" y="3538538"/>
          <a:ext cx="2971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7" name="Equation" r:id="rId5" imgW="1651000" imgH="228600" progId="Equation.3">
                  <p:embed/>
                </p:oleObj>
              </mc:Choice>
              <mc:Fallback>
                <p:oleObj name="Equation" r:id="rId5" imgW="1651000" imgH="228600" progId="Equation.3">
                  <p:embed/>
                  <p:pic>
                    <p:nvPicPr>
                      <p:cNvPr id="942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3538538"/>
                        <a:ext cx="2971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4219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2451100"/>
            <a:ext cx="3048000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321175"/>
            <a:ext cx="30480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5919788" y="2979738"/>
            <a:ext cx="304800" cy="838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95275" y="4965700"/>
            <a:ext cx="754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Hàm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Kernel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là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hàm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có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dạng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2000" dirty="0">
              <a:solidFill>
                <a:schemeClr val="accent6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7" name="Object 20"/>
          <p:cNvGraphicFramePr>
            <a:graphicFrameLocks noChangeAspect="1"/>
          </p:cNvGraphicFramePr>
          <p:nvPr/>
        </p:nvGraphicFramePr>
        <p:xfrm>
          <a:off x="7158038" y="5561013"/>
          <a:ext cx="2743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8" name="Equation" r:id="rId9" imgW="1346200" imgH="241300" progId="Equation.3">
                  <p:embed/>
                </p:oleObj>
              </mc:Choice>
              <mc:Fallback>
                <p:oleObj name="Equation" r:id="rId9" imgW="1346200" imgH="241300" progId="Equation.3">
                  <p:embed/>
                  <p:pic>
                    <p:nvPicPr>
                      <p:cNvPr id="2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8038" y="5561013"/>
                        <a:ext cx="27432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295275" y="5624513"/>
            <a:ext cx="754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Khi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đó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295275" y="4338638"/>
            <a:ext cx="617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Ma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trận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H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mới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được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tính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bằng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graphicFrame>
        <p:nvGraphicFramePr>
          <p:cNvPr id="30" name="Object 19"/>
          <p:cNvGraphicFramePr>
            <a:graphicFrameLocks noChangeAspect="1"/>
          </p:cNvGraphicFramePr>
          <p:nvPr/>
        </p:nvGraphicFramePr>
        <p:xfrm>
          <a:off x="7062788" y="4962525"/>
          <a:ext cx="33432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9" name="Equation" r:id="rId11" imgW="1435100" imgH="203200" progId="Equation.3">
                  <p:embed/>
                </p:oleObj>
              </mc:Choice>
              <mc:Fallback>
                <p:oleObj name="Equation" r:id="rId11" imgW="1435100" imgH="203200" progId="Equation.3">
                  <p:embed/>
                  <p:pic>
                    <p:nvPicPr>
                      <p:cNvPr id="3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4962525"/>
                        <a:ext cx="33432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146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5235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35B7976-4766-4368-998E-628F36274C64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523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161C045-18FB-4886-ACBB-E673380B5141}" type="slidenum">
              <a:rPr lang="en-US" altLang="vi-VN" sz="1800" smtClean="0">
                <a:solidFill>
                  <a:srgbClr val="FFFFFF"/>
                </a:solidFill>
              </a:rPr>
              <a:pPr/>
              <a:t>30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238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Hàm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Kernel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trong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SVM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28600" y="1974850"/>
            <a:ext cx="1135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SVM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đối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ngẫu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(Dual form)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có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hàm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kernel: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pic>
        <p:nvPicPr>
          <p:cNvPr id="95241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2413000"/>
            <a:ext cx="3048000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314325" y="4340225"/>
            <a:ext cx="754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Hàm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lúc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này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có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dạng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altLang="vi-VN" sz="2000" dirty="0">
              <a:solidFill>
                <a:schemeClr val="accent6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7" name="Object 20"/>
          <p:cNvGraphicFramePr>
            <a:graphicFrameLocks noChangeAspect="1"/>
          </p:cNvGraphicFramePr>
          <p:nvPr/>
        </p:nvGraphicFramePr>
        <p:xfrm>
          <a:off x="8529638" y="2514600"/>
          <a:ext cx="2743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0" name="Equation" r:id="rId4" imgW="1346200" imgH="241300" progId="Equation.3">
                  <p:embed/>
                </p:oleObj>
              </mc:Choice>
              <mc:Fallback>
                <p:oleObj name="Equation" r:id="rId4" imgW="1346200" imgH="241300" progId="Equation.3">
                  <p:embed/>
                  <p:pic>
                    <p:nvPicPr>
                      <p:cNvPr id="2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638" y="2514600"/>
                        <a:ext cx="27432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346075" y="3811588"/>
            <a:ext cx="617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Giải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mô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ta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được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bộ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)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graphicFrame>
        <p:nvGraphicFramePr>
          <p:cNvPr id="19" name="Object 30"/>
          <p:cNvGraphicFramePr>
            <a:graphicFrameLocks noChangeAspect="1"/>
          </p:cNvGraphicFramePr>
          <p:nvPr/>
        </p:nvGraphicFramePr>
        <p:xfrm>
          <a:off x="5838825" y="4230688"/>
          <a:ext cx="30480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1" name="Equation" r:id="rId6" imgW="1714500" imgH="431800" progId="Equation.3">
                  <p:embed/>
                </p:oleObj>
              </mc:Choice>
              <mc:Fallback>
                <p:oleObj name="Equation" r:id="rId6" imgW="1714500" imgH="431800" progId="Equation.3">
                  <p:embed/>
                  <p:pic>
                    <p:nvPicPr>
                      <p:cNvPr id="1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825" y="4230688"/>
                        <a:ext cx="30480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6" name="Object 2"/>
          <p:cNvGraphicFramePr>
            <a:graphicFrameLocks noChangeAspect="1"/>
          </p:cNvGraphicFramePr>
          <p:nvPr/>
        </p:nvGraphicFramePr>
        <p:xfrm>
          <a:off x="7543800" y="5106988"/>
          <a:ext cx="189547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2" name="Equation" r:id="rId8" imgW="837836" imgH="431613" progId="Equation.3">
                  <p:embed/>
                </p:oleObj>
              </mc:Choice>
              <mc:Fallback>
                <p:oleObj name="Equation" r:id="rId8" imgW="837836" imgH="431613" progId="Equation.3">
                  <p:embed/>
                  <p:pic>
                    <p:nvPicPr>
                      <p:cNvPr id="952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106988"/>
                        <a:ext cx="189547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1198563" y="5407025"/>
            <a:ext cx="34861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Với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2000" b="1" i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bias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được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tính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bằng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: </a:t>
            </a:r>
          </a:p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(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x</a:t>
            </a:r>
            <a:r>
              <a:rPr lang="en-US" altLang="vi-VN" sz="1600" b="1" baseline="-25000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k</a:t>
            </a:r>
            <a:r>
              <a:rPr lang="en-US" altLang="vi-VN" sz="1600" b="1" baseline="-25000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là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véc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tơ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hỗ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trợ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bất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vi-VN" sz="1600" b="1" dirty="0" err="1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kỳ</a:t>
            </a:r>
            <a:r>
              <a:rPr lang="en-US" altLang="vi-VN" sz="1600" b="1" dirty="0" smtClean="0">
                <a:solidFill>
                  <a:schemeClr val="accent6">
                    <a:lumMod val="50000"/>
                  </a:schemeClr>
                </a:solidFill>
                <a:sym typeface="Symbol" panose="05050102010706020507" pitchFamily="18" charset="2"/>
              </a:rPr>
              <a:t>):</a:t>
            </a:r>
            <a:endParaRPr lang="en-US" altLang="vi-VN" sz="1600" b="1" dirty="0">
              <a:solidFill>
                <a:schemeClr val="accent6">
                  <a:lumMod val="50000"/>
                </a:schemeClr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95248" name="Object 3"/>
          <p:cNvGraphicFramePr>
            <a:graphicFrameLocks noChangeAspect="1"/>
          </p:cNvGraphicFramePr>
          <p:nvPr/>
        </p:nvGraphicFramePr>
        <p:xfrm>
          <a:off x="4684713" y="5330825"/>
          <a:ext cx="22320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3" name="Equation" r:id="rId10" imgW="812447" imgH="228501" progId="Equation.3">
                  <p:embed/>
                </p:oleObj>
              </mc:Choice>
              <mc:Fallback>
                <p:oleObj name="Equation" r:id="rId10" imgW="812447" imgH="228501" progId="Equation.3">
                  <p:embed/>
                  <p:pic>
                    <p:nvPicPr>
                      <p:cNvPr id="9524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5330825"/>
                        <a:ext cx="22320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70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 DỮ LIỆU BẰNG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625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007D092-0301-4C05-8C2F-2AB375D8682D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626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D4AE8D8-9041-4FEC-9521-59ABEDB5EB5C}" type="slidenum">
              <a:rPr lang="en-US" altLang="vi-VN" sz="1800" smtClean="0">
                <a:solidFill>
                  <a:srgbClr val="FFFFFF"/>
                </a:solidFill>
              </a:rPr>
              <a:pPr/>
              <a:t>31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262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SVM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trong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trường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hợp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phân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đa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lớp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28600" y="1974850"/>
            <a:ext cx="1135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Bài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toán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đa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&gt; 2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762000" y="2547938"/>
            <a:ext cx="9264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>
                <a:solidFill>
                  <a:srgbClr val="0070C0"/>
                </a:solidFill>
              </a:rPr>
              <a:t>SVMs: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Sử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dụng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nhiều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bộ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2-lớp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trường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hợp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đa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1600200" y="3059113"/>
            <a:ext cx="2863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2000" b="1">
                <a:solidFill>
                  <a:schemeClr val="accent6">
                    <a:lumMod val="50000"/>
                  </a:schemeClr>
                </a:solidFill>
              </a:rPr>
              <a:t>Chiến lược One vs All</a:t>
            </a: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1600200" y="3440113"/>
            <a:ext cx="304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Chiến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lược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One vs One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685800" y="4087813"/>
            <a:ext cx="822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>
                <a:solidFill>
                  <a:srgbClr val="0070C0"/>
                </a:solidFill>
              </a:rPr>
              <a:t>MSVM: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tìm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ra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N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siêu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phẳng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một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bài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toán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tối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ưu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duy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nhất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1593850" y="4537075"/>
            <a:ext cx="4668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MSVM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của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Weston &amp; Watkin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1593850" y="4994275"/>
            <a:ext cx="4613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MSVM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của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Cramer &amp; Singer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1593850" y="5451475"/>
            <a:ext cx="3744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Mô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hình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MSVM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</a:rPr>
              <a:t>của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</a:rPr>
              <a:t> Lee &amp; Lin</a:t>
            </a:r>
          </a:p>
        </p:txBody>
      </p:sp>
      <p:sp>
        <p:nvSpPr>
          <p:cNvPr id="33" name="Text Box 19"/>
          <p:cNvSpPr txBox="1">
            <a:spLocks noChangeArrowheads="1"/>
          </p:cNvSpPr>
          <p:nvPr/>
        </p:nvSpPr>
        <p:spPr bwMode="auto">
          <a:xfrm>
            <a:off x="1593850" y="5908675"/>
            <a:ext cx="5734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Mô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hlinkClick r:id="rId2"/>
              </a:rPr>
              <a:t>hình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 MSVM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hlinkClick r:id="rId2"/>
              </a:rPr>
              <a:t>tổng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hlinkClick r:id="rId2"/>
              </a:rPr>
              <a:t>quát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hlinkClick r:id="rId2"/>
              </a:rPr>
              <a:t>của</a:t>
            </a:r>
            <a:r>
              <a:rPr lang="en-US" altLang="vi-VN" sz="2000" b="1" dirty="0">
                <a:solidFill>
                  <a:schemeClr val="accent6">
                    <a:lumMod val="50000"/>
                  </a:schemeClr>
                </a:solidFill>
                <a:hlinkClick r:id="rId2"/>
              </a:rPr>
              <a:t> Yann </a:t>
            </a:r>
            <a:r>
              <a:rPr lang="en-US" altLang="vi-VN" sz="2000" b="1" dirty="0" err="1">
                <a:solidFill>
                  <a:schemeClr val="accent6">
                    <a:lumMod val="50000"/>
                  </a:schemeClr>
                </a:solidFill>
                <a:hlinkClick r:id="rId2"/>
              </a:rPr>
              <a:t>Guermeur</a:t>
            </a:r>
            <a:endParaRPr lang="en-US" altLang="vi-VN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3" grpId="0"/>
      <p:bldP spid="25" grpId="0"/>
      <p:bldP spid="28" grpId="0"/>
      <p:bldP spid="30" grpId="0"/>
      <p:bldP spid="3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 NGHIỆM PHÂN LỚP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728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66B6E46-DB3B-46B4-BCB2-FB7F1CB43553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728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86A095C-A615-456D-98F5-416E3BA4EF28}" type="slidenum">
              <a:rPr lang="en-US" altLang="vi-VN" sz="1800" smtClean="0">
                <a:solidFill>
                  <a:srgbClr val="FFFFFF"/>
                </a:solidFill>
              </a:rPr>
              <a:pPr/>
              <a:t>32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286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K-FOLD CROSS VALIDATION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685800" y="1968500"/>
            <a:ext cx="10896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Chia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dữ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liệu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ban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đầu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thành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hai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tập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Tập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huấn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luyện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tập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kiểm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tra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685800" y="2576513"/>
            <a:ext cx="10896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10-fold cross validation: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8570913" y="2943225"/>
            <a:ext cx="2743200" cy="2743200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cxnSp>
        <p:nvCxnSpPr>
          <p:cNvPr id="7" name="Straight Connector 6"/>
          <p:cNvCxnSpPr>
            <a:stCxn id="3" idx="0"/>
            <a:endCxn id="3" idx="4"/>
          </p:cNvCxnSpPr>
          <p:nvPr/>
        </p:nvCxnSpPr>
        <p:spPr>
          <a:xfrm>
            <a:off x="9942513" y="2943225"/>
            <a:ext cx="0" cy="27432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169400" y="3171825"/>
            <a:ext cx="1524000" cy="228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636000" y="3922713"/>
            <a:ext cx="2590800" cy="8667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8636000" y="3925888"/>
            <a:ext cx="2678113" cy="863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9201150" y="3186113"/>
            <a:ext cx="1524000" cy="22748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1688568">
            <a:off x="9709150" y="2822575"/>
            <a:ext cx="1030288" cy="1614488"/>
          </a:xfrm>
          <a:prstGeom prst="triangle">
            <a:avLst>
              <a:gd name="adj" fmla="val 584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vi-VN"/>
          </a:p>
        </p:txBody>
      </p:sp>
      <p:sp>
        <p:nvSpPr>
          <p:cNvPr id="97297" name="Rectangle 7"/>
          <p:cNvSpPr>
            <a:spLocks noChangeArrowheads="1"/>
          </p:cNvSpPr>
          <p:nvPr/>
        </p:nvSpPr>
        <p:spPr bwMode="auto">
          <a:xfrm>
            <a:off x="1277938" y="3038475"/>
            <a:ext cx="64912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</a:rPr>
              <a:t>Chia dữ liệu ban đầu thành 10 phần ngẫu nhiên, tương đối bằng nhau</a:t>
            </a:r>
          </a:p>
        </p:txBody>
      </p:sp>
      <p:sp>
        <p:nvSpPr>
          <p:cNvPr id="97298" name="Rectangle 7"/>
          <p:cNvSpPr>
            <a:spLocks noChangeArrowheads="1"/>
          </p:cNvSpPr>
          <p:nvPr/>
        </p:nvSpPr>
        <p:spPr bwMode="auto">
          <a:xfrm>
            <a:off x="1277938" y="3763963"/>
            <a:ext cx="64912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</a:rPr>
              <a:t>Lấy 1 phần làm dữ liệu test, 9 phần còn lại làm dữ liệu train</a:t>
            </a:r>
          </a:p>
        </p:txBody>
      </p:sp>
      <p:sp>
        <p:nvSpPr>
          <p:cNvPr id="97299" name="Rectangle 7"/>
          <p:cNvSpPr>
            <a:spLocks noChangeArrowheads="1"/>
          </p:cNvSpPr>
          <p:nvPr/>
        </p:nvSpPr>
        <p:spPr bwMode="auto">
          <a:xfrm>
            <a:off x="1304925" y="4473575"/>
            <a:ext cx="6492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</a:rPr>
              <a:t>Xoay vòng: đảm bảo tất cả các phần đều được sử dụng làm dữ liệu test 1 lần.</a:t>
            </a:r>
          </a:p>
        </p:txBody>
      </p:sp>
      <p:sp>
        <p:nvSpPr>
          <p:cNvPr id="97300" name="Rectangle 7"/>
          <p:cNvSpPr>
            <a:spLocks noChangeArrowheads="1"/>
          </p:cNvSpPr>
          <p:nvPr/>
        </p:nvSpPr>
        <p:spPr bwMode="auto">
          <a:xfrm>
            <a:off x="1277938" y="5426075"/>
            <a:ext cx="6707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vi-VN" sz="2000" b="1">
                <a:solidFill>
                  <a:srgbClr val="0070C0"/>
                </a:solidFill>
                <a:latin typeface="Arial" panose="020B0604020202020204" pitchFamily="34" charset="0"/>
              </a:rPr>
              <a:t>Lấy kết quả trung bình của 10 lần thực nghiệm</a:t>
            </a:r>
          </a:p>
        </p:txBody>
      </p:sp>
    </p:spTree>
    <p:extLst>
      <p:ext uri="{BB962C8B-B14F-4D97-AF65-F5344CB8AC3E}">
        <p14:creationId xmlns:p14="http://schemas.microsoft.com/office/powerpoint/2010/main" val="387194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 NGHIỆM PHÂN LỚP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8307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6C5CC35-1B32-4DB2-A24B-DC069575C7F5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8308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6535699-2048-456C-B383-44925710EB12}" type="slidenum">
              <a:rPr lang="en-US" altLang="vi-VN" sz="1800" smtClean="0">
                <a:solidFill>
                  <a:srgbClr val="FFFFFF"/>
                </a:solidFill>
              </a:rPr>
              <a:pPr/>
              <a:t>33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10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CHỈ SỐ ĐÁNH GIÁ KẾT QUẢ PHÂN LỚP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04800" y="1992313"/>
            <a:ext cx="10896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Độ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chính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xác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(ACC,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Accurracy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)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là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chưa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2000" b="1" dirty="0" err="1" smtClean="0">
                <a:solidFill>
                  <a:schemeClr val="accent6">
                    <a:lumMod val="50000"/>
                  </a:schemeClr>
                </a:solidFill>
              </a:rPr>
              <a:t>đủ</a:t>
            </a:r>
            <a:r>
              <a:rPr lang="en-US" altLang="vi-VN" sz="2000" b="1" dirty="0" smtClean="0">
                <a:solidFill>
                  <a:schemeClr val="accent6">
                    <a:lumMod val="50000"/>
                  </a:schemeClr>
                </a:solidFill>
              </a:rPr>
              <a:t> !</a:t>
            </a:r>
            <a:endParaRPr lang="en-US" altLang="vi-VN" sz="2000" dirty="0">
              <a:solidFill>
                <a:srgbClr val="0070C0"/>
              </a:solidFill>
            </a:endParaRPr>
          </a:p>
        </p:txBody>
      </p:sp>
      <p:graphicFrame>
        <p:nvGraphicFramePr>
          <p:cNvPr id="21" name="Object 16"/>
          <p:cNvGraphicFramePr>
            <a:graphicFrameLocks noChangeAspect="1"/>
          </p:cNvGraphicFramePr>
          <p:nvPr/>
        </p:nvGraphicFramePr>
        <p:xfrm>
          <a:off x="9471025" y="2274888"/>
          <a:ext cx="217170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1" name="Equation" r:id="rId3" imgW="1066337" imgH="393529" progId="Equation.3">
                  <p:embed/>
                </p:oleObj>
              </mc:Choice>
              <mc:Fallback>
                <p:oleObj name="Equation" r:id="rId3" imgW="1066337" imgH="393529" progId="Equation.3">
                  <p:embed/>
                  <p:pic>
                    <p:nvPicPr>
                      <p:cNvPr id="2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1025" y="2274888"/>
                        <a:ext cx="2171700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304800" y="3592513"/>
            <a:ext cx="7227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/>
              <a:t> </a:t>
            </a:r>
            <a:r>
              <a:rPr lang="en-US" altLang="vi-VN" sz="1800" b="1" dirty="0">
                <a:solidFill>
                  <a:srgbClr val="0070C0"/>
                </a:solidFill>
              </a:rPr>
              <a:t>True Positive (TP):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+1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được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đúng</a:t>
            </a:r>
            <a:endParaRPr lang="en-US" altLang="vi-VN" sz="1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304800" y="3973513"/>
            <a:ext cx="72596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/>
              <a:t> </a:t>
            </a:r>
            <a:r>
              <a:rPr lang="en-US" altLang="vi-VN" sz="1800" b="1" dirty="0">
                <a:solidFill>
                  <a:srgbClr val="0070C0"/>
                </a:solidFill>
              </a:rPr>
              <a:t>True Negative (TN):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-1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được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đúng</a:t>
            </a:r>
            <a:endParaRPr lang="en-US" altLang="vi-VN" sz="1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304800" y="4354513"/>
            <a:ext cx="6756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/>
              <a:t> </a:t>
            </a:r>
            <a:r>
              <a:rPr lang="en-US" altLang="vi-VN" sz="1800" b="1" dirty="0">
                <a:solidFill>
                  <a:srgbClr val="0070C0"/>
                </a:solidFill>
              </a:rPr>
              <a:t>False Positive (FP):</a:t>
            </a:r>
            <a:r>
              <a:rPr lang="en-US" altLang="vi-VN" sz="1800" b="1" dirty="0"/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+1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bị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sai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6" name="Rectangle 20"/>
          <p:cNvSpPr>
            <a:spLocks noChangeArrowheads="1"/>
          </p:cNvSpPr>
          <p:nvPr/>
        </p:nvSpPr>
        <p:spPr bwMode="auto">
          <a:xfrm>
            <a:off x="304800" y="4811713"/>
            <a:ext cx="6789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/>
              <a:t> </a:t>
            </a:r>
            <a:r>
              <a:rPr lang="en-US" altLang="vi-VN" sz="1800" b="1" dirty="0">
                <a:solidFill>
                  <a:srgbClr val="0070C0"/>
                </a:solidFill>
              </a:rPr>
              <a:t>False Negative (FN):</a:t>
            </a:r>
            <a:r>
              <a:rPr lang="en-US" altLang="vi-VN" sz="1800" b="1" dirty="0"/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-1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bị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phân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sai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graphicFrame>
        <p:nvGraphicFramePr>
          <p:cNvPr id="27" name="Object 24"/>
          <p:cNvGraphicFramePr>
            <a:graphicFrameLocks noChangeAspect="1"/>
          </p:cNvGraphicFramePr>
          <p:nvPr/>
        </p:nvGraphicFramePr>
        <p:xfrm>
          <a:off x="8980488" y="3327400"/>
          <a:ext cx="260667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2" name="Equation" r:id="rId5" imgW="1244600" imgH="393700" progId="Equation.3">
                  <p:embed/>
                </p:oleObj>
              </mc:Choice>
              <mc:Fallback>
                <p:oleObj name="Equation" r:id="rId5" imgW="1244600" imgH="393700" progId="Equation.3">
                  <p:embed/>
                  <p:pic>
                    <p:nvPicPr>
                      <p:cNvPr id="2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0488" y="3327400"/>
                        <a:ext cx="260667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5"/>
          <p:cNvGraphicFramePr>
            <a:graphicFrameLocks noChangeAspect="1"/>
          </p:cNvGraphicFramePr>
          <p:nvPr/>
        </p:nvGraphicFramePr>
        <p:xfrm>
          <a:off x="9390063" y="4614863"/>
          <a:ext cx="21971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3" name="Equation" r:id="rId7" imgW="1129810" imgH="393529" progId="Equation.3">
                  <p:embed/>
                </p:oleObj>
              </mc:Choice>
              <mc:Fallback>
                <p:oleObj name="Equation" r:id="rId7" imgW="1129810" imgH="393529" progId="Equation.3">
                  <p:embed/>
                  <p:pic>
                    <p:nvPicPr>
                      <p:cNvPr id="2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0063" y="4614863"/>
                        <a:ext cx="21971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304800" y="2843213"/>
            <a:ext cx="7086600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eaLnBrk="1" hangingPunct="1">
              <a:lnSpc>
                <a:spcPct val="120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 smtClean="0">
                <a:solidFill>
                  <a:srgbClr val="0070C0"/>
                </a:solidFill>
              </a:rPr>
              <a:t> P</a:t>
            </a:r>
            <a:r>
              <a:rPr lang="en-US" altLang="vi-VN" sz="1800" b="1" dirty="0">
                <a:solidFill>
                  <a:srgbClr val="0070C0"/>
                </a:solidFill>
              </a:rPr>
              <a:t>: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+1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Test set</a:t>
            </a:r>
          </a:p>
          <a:p>
            <a:pPr marL="285750" indent="-285750" eaLnBrk="1" hangingPunct="1">
              <a:lnSpc>
                <a:spcPct val="120000"/>
              </a:lnSpc>
              <a:spcBef>
                <a:spcPct val="0"/>
              </a:spcBef>
              <a:buFont typeface="Courier New" panose="02070309020205020404" pitchFamily="49" charset="0"/>
              <a:buChar char="o"/>
              <a:defRPr/>
            </a:pPr>
            <a:r>
              <a:rPr lang="en-US" altLang="vi-VN" sz="1800" b="1" dirty="0" smtClean="0">
                <a:solidFill>
                  <a:srgbClr val="800000"/>
                </a:solidFill>
              </a:rPr>
              <a:t> </a:t>
            </a:r>
            <a:r>
              <a:rPr lang="en-US" altLang="vi-VN" sz="1800" b="1" dirty="0" smtClean="0">
                <a:solidFill>
                  <a:srgbClr val="0070C0"/>
                </a:solidFill>
              </a:rPr>
              <a:t>N</a:t>
            </a:r>
            <a:r>
              <a:rPr lang="en-US" altLang="vi-VN" sz="1800" b="1" dirty="0">
                <a:solidFill>
                  <a:srgbClr val="0070C0"/>
                </a:solidFill>
              </a:rPr>
              <a:t>:</a:t>
            </a:r>
            <a:r>
              <a:rPr lang="en-US" altLang="vi-VN" sz="1800" b="1" dirty="0"/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số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mẫu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thuộc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lớp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-1 </a:t>
            </a:r>
            <a:r>
              <a:rPr lang="en-US" altLang="vi-VN" sz="1800" b="1" dirty="0" err="1">
                <a:solidFill>
                  <a:schemeClr val="accent6">
                    <a:lumMod val="50000"/>
                  </a:schemeClr>
                </a:solidFill>
              </a:rPr>
              <a:t>trong</a:t>
            </a:r>
            <a:r>
              <a:rPr lang="en-US" altLang="vi-VN" sz="1800" b="1" dirty="0">
                <a:solidFill>
                  <a:schemeClr val="accent6">
                    <a:lumMod val="50000"/>
                  </a:schemeClr>
                </a:solidFill>
              </a:rPr>
              <a:t> Test set</a:t>
            </a:r>
          </a:p>
        </p:txBody>
      </p:sp>
    </p:spTree>
    <p:extLst>
      <p:ext uri="{BB962C8B-B14F-4D97-AF65-F5344CB8AC3E}">
        <p14:creationId xmlns:p14="http://schemas.microsoft.com/office/powerpoint/2010/main" val="43718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 NGHIỆM PHÂN LỚP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99331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FBFD0C6-FD6A-49AB-8990-072B1AFE1743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99332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9BFD8B3-BC0E-49FF-B0AB-A1DEDA73D4FC}" type="slidenum">
              <a:rPr lang="en-US" altLang="vi-VN" sz="1800" smtClean="0">
                <a:solidFill>
                  <a:srgbClr val="FFFFFF"/>
                </a:solidFill>
              </a:rPr>
              <a:pPr/>
              <a:t>34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334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CHỈ SỐ ĐÁNH GIÁ KẾT QUẢ PHÂN LỚP</a:t>
            </a:r>
          </a:p>
        </p:txBody>
      </p:sp>
      <p:sp>
        <p:nvSpPr>
          <p:cNvPr id="99336" name="Rectangle 2"/>
          <p:cNvSpPr>
            <a:spLocks noChangeArrowheads="1"/>
          </p:cNvSpPr>
          <p:nvPr/>
        </p:nvSpPr>
        <p:spPr bwMode="auto">
          <a:xfrm>
            <a:off x="685800" y="202882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  <a:hlinkClick r:id="rId2"/>
              </a:rPr>
              <a:t>F1-score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: Trung bình điều hòa (harmonic mean) của precision và recall 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386138"/>
            <a:ext cx="233362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Roboto Slab" pitchFamily="2" charset="0"/>
                <a:hlinkClick r:id="rId3"/>
              </a:rPr>
              <a:t>Macro F1-score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Roboto Slab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9450" y="4678363"/>
            <a:ext cx="227012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Roboto Slab" pitchFamily="2" charset="0"/>
                <a:hlinkClick r:id="rId2"/>
              </a:rPr>
              <a:t>Micro F1-score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Roboto Slab" pitchFamily="2" charset="0"/>
            </a:endParaRPr>
          </a:p>
        </p:txBody>
      </p:sp>
      <p:pic>
        <p:nvPicPr>
          <p:cNvPr id="99339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2400300"/>
            <a:ext cx="75247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84142" y="3271469"/>
            <a:ext cx="5954712" cy="63004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vi-VN">
                <a:noFill/>
              </a:rPr>
              <a:t> </a:t>
            </a:r>
          </a:p>
        </p:txBody>
      </p:sp>
      <p:sp>
        <p:nvSpPr>
          <p:cNvPr id="100365" name="Rectangle 8"/>
          <p:cNvSpPr>
            <a:spLocks noChangeArrowheads="1"/>
          </p:cNvSpPr>
          <p:nvPr/>
        </p:nvSpPr>
        <p:spPr bwMode="auto">
          <a:xfrm>
            <a:off x="804863" y="3981450"/>
            <a:ext cx="1074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vi-VN" altLang="vi-VN" i="1">
                <a:solidFill>
                  <a:srgbClr val="666666"/>
                </a:solidFill>
                <a:latin typeface="Roboto Slab" pitchFamily="2" charset="0"/>
              </a:rPr>
              <a:t>với macro_precision và macro_recall là </a:t>
            </a:r>
            <a:r>
              <a:rPr lang="vi-VN" altLang="vi-VN" i="1">
                <a:solidFill>
                  <a:srgbClr val="0070C0"/>
                </a:solidFill>
                <a:latin typeface="Roboto Slab" pitchFamily="2" charset="0"/>
              </a:rPr>
              <a:t>trung bình cộng </a:t>
            </a:r>
            <a:r>
              <a:rPr lang="vi-VN" altLang="vi-VN" i="1">
                <a:solidFill>
                  <a:srgbClr val="666666"/>
                </a:solidFill>
                <a:latin typeface="Roboto Slab" pitchFamily="2" charset="0"/>
              </a:rPr>
              <a:t>của precision và recall theo các lớp.</a:t>
            </a:r>
            <a:endParaRPr lang="vi-VN" altLang="vi-VN" i="1"/>
          </a:p>
        </p:txBody>
      </p:sp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63361" y="4546046"/>
            <a:ext cx="5954712" cy="63004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vi-VN">
                <a:noFill/>
              </a:rPr>
              <a:t> </a:t>
            </a:r>
          </a:p>
        </p:txBody>
      </p:sp>
      <p:sp>
        <p:nvSpPr>
          <p:cNvPr id="100367" name="Rectangle 9"/>
          <p:cNvSpPr>
            <a:spLocks noChangeArrowheads="1"/>
          </p:cNvSpPr>
          <p:nvPr/>
        </p:nvSpPr>
        <p:spPr bwMode="auto">
          <a:xfrm>
            <a:off x="804863" y="5405438"/>
            <a:ext cx="11309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vi-VN" altLang="vi-VN" i="1">
                <a:solidFill>
                  <a:srgbClr val="666666"/>
                </a:solidFill>
                <a:latin typeface="Roboto Slab" pitchFamily="2" charset="0"/>
              </a:rPr>
              <a:t>micro_precision: TP, FP được tính bằng </a:t>
            </a:r>
            <a:r>
              <a:rPr lang="vi-VN" altLang="vi-VN" i="1">
                <a:solidFill>
                  <a:srgbClr val="0070C0"/>
                </a:solidFill>
                <a:latin typeface="Roboto Slab" pitchFamily="2" charset="0"/>
              </a:rPr>
              <a:t>tổng</a:t>
            </a:r>
            <a:r>
              <a:rPr lang="vi-VN" altLang="vi-VN" i="1">
                <a:solidFill>
                  <a:srgbClr val="666666"/>
                </a:solidFill>
                <a:latin typeface="Roboto Slab" pitchFamily="2" charset="0"/>
              </a:rPr>
              <a:t> các TP, FP trong các lớp.  </a:t>
            </a:r>
            <a:endParaRPr lang="vi-VN" altLang="vi-VN" i="1"/>
          </a:p>
        </p:txBody>
      </p:sp>
      <p:sp>
        <p:nvSpPr>
          <p:cNvPr id="100368" name="Rectangle 30"/>
          <p:cNvSpPr>
            <a:spLocks noChangeArrowheads="1"/>
          </p:cNvSpPr>
          <p:nvPr/>
        </p:nvSpPr>
        <p:spPr bwMode="auto">
          <a:xfrm>
            <a:off x="804863" y="5818188"/>
            <a:ext cx="11309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vi-VN" altLang="vi-VN" i="1">
                <a:solidFill>
                  <a:srgbClr val="666666"/>
                </a:solidFill>
                <a:latin typeface="Roboto Slab" pitchFamily="2" charset="0"/>
              </a:rPr>
              <a:t>micro_recall: TP, FN được tính bằng </a:t>
            </a:r>
            <a:r>
              <a:rPr lang="vi-VN" altLang="vi-VN" i="1">
                <a:solidFill>
                  <a:srgbClr val="0070C0"/>
                </a:solidFill>
                <a:latin typeface="Roboto Slab" pitchFamily="2" charset="0"/>
              </a:rPr>
              <a:t>tổng</a:t>
            </a:r>
            <a:r>
              <a:rPr lang="vi-VN" altLang="vi-VN" i="1">
                <a:solidFill>
                  <a:srgbClr val="666666"/>
                </a:solidFill>
                <a:latin typeface="Roboto Slab" pitchFamily="2" charset="0"/>
              </a:rPr>
              <a:t> các TP, FN trong các lớp.  </a:t>
            </a:r>
            <a:endParaRPr lang="vi-VN" altLang="vi-VN" i="1"/>
          </a:p>
        </p:txBody>
      </p:sp>
    </p:spTree>
    <p:extLst>
      <p:ext uri="{BB962C8B-B14F-4D97-AF65-F5344CB8AC3E}">
        <p14:creationId xmlns:p14="http://schemas.microsoft.com/office/powerpoint/2010/main" val="246998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0365" grpId="0"/>
      <p:bldP spid="100367" grpId="0"/>
      <p:bldP spid="1003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TẬP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100355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36B03C9-26CE-44A9-A4BA-C7B0847D0AD1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10035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7CA4214-9343-486D-9B02-D4A956B939F5}" type="slidenum">
              <a:rPr lang="en-US" altLang="vi-VN" sz="1800" smtClean="0">
                <a:solidFill>
                  <a:srgbClr val="FFFFFF"/>
                </a:solidFill>
              </a:rPr>
              <a:pPr/>
              <a:t>35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58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692150" y="1131888"/>
            <a:ext cx="1066165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THỰC NGHIỆM THU NHẬN ẢNH VÀ PHÁT HIỆN KHUÔN MẶT</a:t>
            </a:r>
          </a:p>
        </p:txBody>
      </p:sp>
      <p:sp>
        <p:nvSpPr>
          <p:cNvPr id="100360" name="Rectangle 16"/>
          <p:cNvSpPr>
            <a:spLocks noChangeArrowheads="1"/>
          </p:cNvSpPr>
          <p:nvPr/>
        </p:nvSpPr>
        <p:spPr bwMode="auto">
          <a:xfrm>
            <a:off x="685800" y="202882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Môi trường: Google Colab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150" y="2551113"/>
            <a:ext cx="10526713" cy="4016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Roboto Slab" pitchFamily="2" charset="0"/>
                <a:ea typeface="Roboto Slab" pitchFamily="2" charset="0"/>
              </a:rPr>
              <a:t>Data: Facial dataset (available)</a:t>
            </a:r>
          </a:p>
        </p:txBody>
      </p:sp>
      <p:sp>
        <p:nvSpPr>
          <p:cNvPr id="100362" name="Rectangle 18"/>
          <p:cNvSpPr>
            <a:spLocks noChangeArrowheads="1"/>
          </p:cNvSpPr>
          <p:nvPr/>
        </p:nvSpPr>
        <p:spPr bwMode="auto">
          <a:xfrm>
            <a:off x="692150" y="3744913"/>
            <a:ext cx="105267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Code: 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  <a:hlinkClick r:id="rId2"/>
              </a:rPr>
              <a:t>Xem demo code tại đây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,   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  <a:hlinkClick r:id="rId3"/>
              </a:rPr>
              <a:t>Link dự phòng tại đây</a:t>
            </a:r>
            <a:endParaRPr lang="vi-VN" altLang="vi-VN" sz="2000" b="1">
              <a:solidFill>
                <a:srgbClr val="4A5242"/>
              </a:solidFill>
              <a:latin typeface="Roboto Slab" pitchFamily="2" charset="0"/>
            </a:endParaRPr>
          </a:p>
        </p:txBody>
      </p:sp>
      <p:sp>
        <p:nvSpPr>
          <p:cNvPr id="100363" name="Rectangle 10"/>
          <p:cNvSpPr>
            <a:spLocks noChangeArrowheads="1"/>
          </p:cNvSpPr>
          <p:nvPr/>
        </p:nvSpPr>
        <p:spPr bwMode="auto">
          <a:xfrm>
            <a:off x="685800" y="312737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Kỹ thuật : Image Acquisition,  Image Face detection</a:t>
            </a:r>
          </a:p>
        </p:txBody>
      </p:sp>
      <p:sp>
        <p:nvSpPr>
          <p:cNvPr id="100364" name="Rectangle 11"/>
          <p:cNvSpPr>
            <a:spLocks noChangeArrowheads="1"/>
          </p:cNvSpPr>
          <p:nvPr/>
        </p:nvSpPr>
        <p:spPr bwMode="auto">
          <a:xfrm>
            <a:off x="1096963" y="4394200"/>
            <a:ext cx="10090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vi-VN" altLang="vi-VN" sz="2000" i="1">
                <a:solidFill>
                  <a:srgbClr val="4A5242"/>
                </a:solidFill>
                <a:latin typeface="Roboto Slab" pitchFamily="2" charset="0"/>
              </a:rPr>
              <a:t>Chú ý: Code  hiện tại chỉ chạy được trên máy local.</a:t>
            </a:r>
          </a:p>
        </p:txBody>
      </p:sp>
    </p:spTree>
    <p:extLst>
      <p:ext uri="{BB962C8B-B14F-4D97-AF65-F5344CB8AC3E}">
        <p14:creationId xmlns:p14="http://schemas.microsoft.com/office/powerpoint/2010/main" val="171838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TẬP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101379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16418F4-D231-437A-B61B-5D87E66D170E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10138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1D55A35-56E8-4164-9A30-C43BACE46CB8}" type="slidenum">
              <a:rPr lang="en-US" altLang="vi-VN" sz="1800" smtClean="0">
                <a:solidFill>
                  <a:srgbClr val="FFFFFF"/>
                </a:solidFill>
              </a:rPr>
              <a:pPr/>
              <a:t>36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82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THỰC NGHIỆM PHÂN LỚP BẰNG SVM</a:t>
            </a:r>
          </a:p>
        </p:txBody>
      </p:sp>
      <p:sp>
        <p:nvSpPr>
          <p:cNvPr id="101384" name="Rectangle 16"/>
          <p:cNvSpPr>
            <a:spLocks noChangeArrowheads="1"/>
          </p:cNvSpPr>
          <p:nvPr/>
        </p:nvSpPr>
        <p:spPr bwMode="auto">
          <a:xfrm>
            <a:off x="685800" y="202882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Môi trường: Google Colab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150" y="2551113"/>
            <a:ext cx="10526713" cy="4016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Roboto Slab" pitchFamily="2" charset="0"/>
                <a:ea typeface="Roboto Slab" pitchFamily="2" charset="0"/>
              </a:rPr>
              <a:t>Data: Iris/ BreastCancer</a:t>
            </a:r>
          </a:p>
        </p:txBody>
      </p:sp>
      <p:sp>
        <p:nvSpPr>
          <p:cNvPr id="101386" name="Rectangle 18"/>
          <p:cNvSpPr>
            <a:spLocks noChangeArrowheads="1"/>
          </p:cNvSpPr>
          <p:nvPr/>
        </p:nvSpPr>
        <p:spPr bwMode="auto">
          <a:xfrm>
            <a:off x="692150" y="306387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Code: 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  <a:hlinkClick r:id="rId2"/>
              </a:rPr>
              <a:t>Xem demo code tại đây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   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  <a:hlinkClick r:id="rId3"/>
              </a:rPr>
              <a:t>Link dự phòng tại đây</a:t>
            </a:r>
            <a:endParaRPr lang="vi-VN" altLang="vi-VN" sz="2000" b="1">
              <a:solidFill>
                <a:srgbClr val="4A5242"/>
              </a:solidFill>
              <a:latin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1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563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TẬP</a:t>
            </a:r>
            <a:endParaRPr lang="vi-VN" sz="2400" b="1" dirty="0">
              <a:solidFill>
                <a:schemeClr val="bg1"/>
              </a:solidFill>
            </a:endParaRPr>
          </a:p>
        </p:txBody>
      </p:sp>
      <p:sp>
        <p:nvSpPr>
          <p:cNvPr id="102403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F519D3E-9D53-466D-985F-4830399BE60F}" type="datetime1">
              <a:rPr lang="vi-VN" altLang="vi-VN" sz="1800" smtClean="0">
                <a:solidFill>
                  <a:srgbClr val="FFFFFF"/>
                </a:solidFill>
              </a:rPr>
              <a:pPr/>
              <a:t>15/12/21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sp>
        <p:nvSpPr>
          <p:cNvPr id="102404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F201726-7557-4323-AFA1-C1AA866D28DD}" type="slidenum">
              <a:rPr lang="en-US" altLang="vi-VN" sz="1800" smtClean="0">
                <a:solidFill>
                  <a:srgbClr val="FFFFFF"/>
                </a:solidFill>
              </a:rPr>
              <a:pPr/>
              <a:t>37</a:t>
            </a:fld>
            <a:endParaRPr lang="en-US" altLang="vi-VN" sz="1800" smtClean="0">
              <a:solidFill>
                <a:srgbClr val="FFFFF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06" name="Rectangle 3"/>
          <p:cNvSpPr>
            <a:spLocks noChangeArrowheads="1"/>
          </p:cNvSpPr>
          <p:nvPr/>
        </p:nvSpPr>
        <p:spPr bwMode="auto">
          <a:xfrm>
            <a:off x="0" y="2381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vi-VN" altLang="vi-VN"/>
          </a:p>
        </p:txBody>
      </p:sp>
      <p:sp>
        <p:nvSpPr>
          <p:cNvPr id="16" name="Rectangle 15"/>
          <p:cNvSpPr/>
          <p:nvPr/>
        </p:nvSpPr>
        <p:spPr>
          <a:xfrm>
            <a:off x="2068513" y="1131888"/>
            <a:ext cx="82184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THỰC NGHIỆM PHÂN LỚP BẰNG CNN</a:t>
            </a:r>
          </a:p>
        </p:txBody>
      </p:sp>
      <p:sp>
        <p:nvSpPr>
          <p:cNvPr id="102408" name="Rectangle 16"/>
          <p:cNvSpPr>
            <a:spLocks noChangeArrowheads="1"/>
          </p:cNvSpPr>
          <p:nvPr/>
        </p:nvSpPr>
        <p:spPr bwMode="auto">
          <a:xfrm>
            <a:off x="685800" y="202882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Môi trường: Google Colab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150" y="2551113"/>
            <a:ext cx="10526713" cy="4016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Roboto Slab" pitchFamily="2" charset="0"/>
                <a:ea typeface="Roboto Slab" pitchFamily="2" charset="0"/>
              </a:rPr>
              <a:t>Data: Facial dataset (available)</a:t>
            </a:r>
          </a:p>
        </p:txBody>
      </p:sp>
      <p:sp>
        <p:nvSpPr>
          <p:cNvPr id="102410" name="Rectangle 18"/>
          <p:cNvSpPr>
            <a:spLocks noChangeArrowheads="1"/>
          </p:cNvSpPr>
          <p:nvPr/>
        </p:nvSpPr>
        <p:spPr bwMode="auto">
          <a:xfrm>
            <a:off x="692150" y="3744913"/>
            <a:ext cx="105267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Code: </a:t>
            </a: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  <a:hlinkClick r:id="rId2"/>
              </a:rPr>
              <a:t>Xem demo code tại đây</a:t>
            </a:r>
            <a:endParaRPr lang="vi-VN" altLang="vi-VN" sz="2000" b="1">
              <a:solidFill>
                <a:srgbClr val="4A5242"/>
              </a:solidFill>
              <a:latin typeface="Roboto Slab" pitchFamily="2" charset="0"/>
            </a:endParaRPr>
          </a:p>
        </p:txBody>
      </p:sp>
      <p:sp>
        <p:nvSpPr>
          <p:cNvPr id="102411" name="Rectangle 10"/>
          <p:cNvSpPr>
            <a:spLocks noChangeArrowheads="1"/>
          </p:cNvSpPr>
          <p:nvPr/>
        </p:nvSpPr>
        <p:spPr bwMode="auto">
          <a:xfrm>
            <a:off x="685800" y="3127375"/>
            <a:ext cx="1052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vi-VN" altLang="vi-VN" sz="2000" b="1">
                <a:solidFill>
                  <a:srgbClr val="4A5242"/>
                </a:solidFill>
                <a:latin typeface="Roboto Slab" pitchFamily="2" charset="0"/>
              </a:rPr>
              <a:t>Kỹ thuật test: 5-fold 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253657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4150"/>
          </a:xfrm>
          <a:solidFill>
            <a:srgbClr val="FF6600"/>
          </a:solidFill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MODULE 2</a:t>
            </a:r>
            <a:endParaRPr lang="vi-VN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979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3408675" y="1269242"/>
            <a:ext cx="5374649" cy="3957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/>
              <a:t>POTENTIAL TEAMS TRAINING</a:t>
            </a:r>
            <a:endParaRPr lang="vi-VN" sz="28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929129" y="2912533"/>
            <a:ext cx="6491783" cy="1817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6000" b="1" dirty="0" smtClean="0"/>
              <a:t>DATA CLASSIFICATON</a:t>
            </a:r>
          </a:p>
          <a:p>
            <a:pPr algn="ctr">
              <a:lnSpc>
                <a:spcPct val="120000"/>
              </a:lnSpc>
            </a:pPr>
            <a:r>
              <a:rPr lang="en-US" sz="3000" b="1" dirty="0" smtClean="0"/>
              <a:t>DEEP LEARNING APPROACHES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872C9-B36E-4CA2-9A6A-33E7BDED6744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471" name="Group 2"/>
          <p:cNvGrpSpPr>
            <a:grpSpLocks/>
          </p:cNvGrpSpPr>
          <p:nvPr/>
        </p:nvGrpSpPr>
        <p:grpSpPr bwMode="auto">
          <a:xfrm>
            <a:off x="3505200" y="1752601"/>
            <a:ext cx="4724400" cy="2619375"/>
            <a:chOff x="4427" y="1767"/>
            <a:chExt cx="4432" cy="1947"/>
          </a:xfrm>
        </p:grpSpPr>
        <p:sp>
          <p:nvSpPr>
            <p:cNvPr id="147480" name="AutoShape 81"/>
            <p:cNvSpPr>
              <a:spLocks noChangeArrowheads="1"/>
            </p:cNvSpPr>
            <p:nvPr/>
          </p:nvSpPr>
          <p:spPr bwMode="auto">
            <a:xfrm>
              <a:off x="5969" y="2048"/>
              <a:ext cx="1928" cy="747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1" name="Text Box 83"/>
            <p:cNvSpPr txBox="1">
              <a:spLocks noChangeArrowheads="1"/>
            </p:cNvSpPr>
            <p:nvPr/>
          </p:nvSpPr>
          <p:spPr bwMode="auto">
            <a:xfrm>
              <a:off x="4774" y="2624"/>
              <a:ext cx="567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147482" name="Text Box 84"/>
            <p:cNvSpPr txBox="1">
              <a:spLocks noChangeArrowheads="1"/>
            </p:cNvSpPr>
            <p:nvPr/>
          </p:nvSpPr>
          <p:spPr bwMode="auto">
            <a:xfrm>
              <a:off x="7963" y="1983"/>
              <a:ext cx="896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ouput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3" name="Text Box 86"/>
            <p:cNvSpPr txBox="1">
              <a:spLocks noChangeArrowheads="1"/>
            </p:cNvSpPr>
            <p:nvPr/>
          </p:nvSpPr>
          <p:spPr bwMode="auto">
            <a:xfrm>
              <a:off x="6357" y="2843"/>
              <a:ext cx="833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b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4" name="Text Box 87"/>
            <p:cNvSpPr txBox="1">
              <a:spLocks noChangeArrowheads="1"/>
            </p:cNvSpPr>
            <p:nvPr/>
          </p:nvSpPr>
          <p:spPr bwMode="auto">
            <a:xfrm>
              <a:off x="4427" y="1767"/>
              <a:ext cx="539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x</a:t>
              </a:r>
              <a:r>
                <a:rPr lang="en-US" altLang="en-US" sz="2400" b="1" i="1" baseline="-25000">
                  <a:latin typeface="Calibri" panose="020F0502020204030204" pitchFamily="34" charset="0"/>
                </a:rPr>
                <a:t>1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5" name="Text Box 88"/>
            <p:cNvSpPr txBox="1">
              <a:spLocks noChangeArrowheads="1"/>
            </p:cNvSpPr>
            <p:nvPr/>
          </p:nvSpPr>
          <p:spPr bwMode="auto">
            <a:xfrm>
              <a:off x="4427" y="2161"/>
              <a:ext cx="539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x</a:t>
              </a:r>
              <a:r>
                <a:rPr lang="en-US" altLang="en-US" sz="2400" b="1" i="1" baseline="-25000">
                  <a:latin typeface="Calibri" panose="020F0502020204030204" pitchFamily="34" charset="0"/>
                </a:rPr>
                <a:t>2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6" name="Text Box 89"/>
            <p:cNvSpPr txBox="1">
              <a:spLocks noChangeArrowheads="1"/>
            </p:cNvSpPr>
            <p:nvPr/>
          </p:nvSpPr>
          <p:spPr bwMode="auto">
            <a:xfrm>
              <a:off x="4427" y="2881"/>
              <a:ext cx="648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x</a:t>
              </a:r>
              <a:r>
                <a:rPr lang="en-US" altLang="en-US" sz="2400" b="1" i="1" baseline="-25000">
                  <a:latin typeface="Calibri" panose="020F0502020204030204" pitchFamily="34" charset="0"/>
                </a:rPr>
                <a:t>N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7" name="Text Box 90"/>
            <p:cNvSpPr txBox="1">
              <a:spLocks noChangeArrowheads="1"/>
            </p:cNvSpPr>
            <p:nvPr/>
          </p:nvSpPr>
          <p:spPr bwMode="auto">
            <a:xfrm>
              <a:off x="5143" y="1822"/>
              <a:ext cx="83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w</a:t>
              </a:r>
              <a:r>
                <a:rPr lang="en-US" altLang="en-US" sz="2400" b="1" i="1" baseline="-25000">
                  <a:latin typeface="Calibri" panose="020F0502020204030204" pitchFamily="34" charset="0"/>
                </a:rPr>
                <a:t>1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8" name="Text Box 91"/>
            <p:cNvSpPr txBox="1">
              <a:spLocks noChangeArrowheads="1"/>
            </p:cNvSpPr>
            <p:nvPr/>
          </p:nvSpPr>
          <p:spPr bwMode="auto">
            <a:xfrm>
              <a:off x="5103" y="2324"/>
              <a:ext cx="834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w</a:t>
              </a:r>
              <a:r>
                <a:rPr lang="en-US" altLang="en-US" sz="2400" b="1" i="1" baseline="-25000">
                  <a:latin typeface="Calibri" panose="020F0502020204030204" pitchFamily="34" charset="0"/>
                </a:rPr>
                <a:t>2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89" name="Text Box 92"/>
            <p:cNvSpPr txBox="1">
              <a:spLocks noChangeArrowheads="1"/>
            </p:cNvSpPr>
            <p:nvPr/>
          </p:nvSpPr>
          <p:spPr bwMode="auto">
            <a:xfrm>
              <a:off x="5144" y="2924"/>
              <a:ext cx="83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w</a:t>
              </a:r>
              <a:r>
                <a:rPr lang="en-US" altLang="en-US" sz="2400" b="1" i="1" baseline="-25000">
                  <a:latin typeface="Calibri" panose="020F0502020204030204" pitchFamily="34" charset="0"/>
                </a:rPr>
                <a:t>N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90" name="Text Box 93"/>
            <p:cNvSpPr txBox="1">
              <a:spLocks noChangeArrowheads="1"/>
            </p:cNvSpPr>
            <p:nvPr/>
          </p:nvSpPr>
          <p:spPr bwMode="auto">
            <a:xfrm>
              <a:off x="6655" y="2067"/>
              <a:ext cx="652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 i="1">
                  <a:latin typeface="Calibri" panose="020F0502020204030204" pitchFamily="34" charset="0"/>
                </a:rPr>
                <a:t>net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91" name="Text Box 94"/>
            <p:cNvSpPr txBox="1">
              <a:spLocks noChangeArrowheads="1"/>
            </p:cNvSpPr>
            <p:nvPr/>
          </p:nvSpPr>
          <p:spPr bwMode="auto">
            <a:xfrm>
              <a:off x="6057" y="2143"/>
              <a:ext cx="503" cy="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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7492" name="Text Box 95"/>
            <p:cNvSpPr txBox="1">
              <a:spLocks noChangeArrowheads="1"/>
            </p:cNvSpPr>
            <p:nvPr/>
          </p:nvSpPr>
          <p:spPr bwMode="auto">
            <a:xfrm>
              <a:off x="7310" y="2135"/>
              <a:ext cx="502" cy="5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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  <p:cxnSp>
          <p:nvCxnSpPr>
            <p:cNvPr id="147493" name="AutoShape 96"/>
            <p:cNvCxnSpPr>
              <a:cxnSpLocks noChangeShapeType="1"/>
            </p:cNvCxnSpPr>
            <p:nvPr/>
          </p:nvCxnSpPr>
          <p:spPr bwMode="auto">
            <a:xfrm>
              <a:off x="4994" y="2064"/>
              <a:ext cx="1053" cy="3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494" name="AutoShape 97"/>
            <p:cNvCxnSpPr>
              <a:cxnSpLocks noChangeShapeType="1"/>
            </p:cNvCxnSpPr>
            <p:nvPr/>
          </p:nvCxnSpPr>
          <p:spPr bwMode="auto">
            <a:xfrm>
              <a:off x="4995" y="2420"/>
              <a:ext cx="105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495" name="AutoShape 98"/>
            <p:cNvCxnSpPr>
              <a:cxnSpLocks noChangeShapeType="1"/>
            </p:cNvCxnSpPr>
            <p:nvPr/>
          </p:nvCxnSpPr>
          <p:spPr bwMode="auto">
            <a:xfrm flipV="1">
              <a:off x="4995" y="2420"/>
              <a:ext cx="1052" cy="7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496" name="AutoShape 99"/>
            <p:cNvCxnSpPr>
              <a:cxnSpLocks noChangeShapeType="1"/>
            </p:cNvCxnSpPr>
            <p:nvPr/>
          </p:nvCxnSpPr>
          <p:spPr bwMode="auto">
            <a:xfrm flipV="1">
              <a:off x="6318" y="2705"/>
              <a:ext cx="0" cy="5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497" name="AutoShape 100"/>
            <p:cNvCxnSpPr>
              <a:cxnSpLocks noChangeShapeType="1"/>
            </p:cNvCxnSpPr>
            <p:nvPr/>
          </p:nvCxnSpPr>
          <p:spPr bwMode="auto">
            <a:xfrm>
              <a:off x="6560" y="2420"/>
              <a:ext cx="75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498" name="AutoShape 101"/>
            <p:cNvCxnSpPr>
              <a:cxnSpLocks noChangeShapeType="1"/>
            </p:cNvCxnSpPr>
            <p:nvPr/>
          </p:nvCxnSpPr>
          <p:spPr bwMode="auto">
            <a:xfrm>
              <a:off x="7809" y="2406"/>
              <a:ext cx="75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7499" name="Text Box 86"/>
            <p:cNvSpPr txBox="1">
              <a:spLocks noChangeArrowheads="1"/>
            </p:cNvSpPr>
            <p:nvPr/>
          </p:nvSpPr>
          <p:spPr bwMode="auto">
            <a:xfrm>
              <a:off x="6167" y="3240"/>
              <a:ext cx="833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2400" b="1">
                  <a:latin typeface="Calibri" panose="020F0502020204030204" pitchFamily="34" charset="0"/>
                </a:rPr>
                <a:t>1</a:t>
              </a:r>
              <a:endParaRPr lang="en-US" altLang="en-US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47472" name="Rectangle 19"/>
          <p:cNvSpPr>
            <a:spLocks noChangeArrowheads="1"/>
          </p:cNvSpPr>
          <p:nvPr/>
        </p:nvSpPr>
        <p:spPr bwMode="auto">
          <a:xfrm>
            <a:off x="1828801" y="1371600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Nơ ron nhân tạo</a:t>
            </a:r>
            <a:endParaRPr lang="fr-FR" altLang="en-US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362200" y="4343401"/>
            <a:ext cx="2514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2000" b="1" i="1">
                <a:latin typeface="Times New Roman" panose="02020603050405020304" pitchFamily="18" charset="0"/>
              </a:rPr>
              <a:t>net  =</a:t>
            </a:r>
            <a:r>
              <a:rPr lang="fr-FR" altLang="en-US" sz="2000" b="1" i="1">
                <a:latin typeface="Times New Roman" panose="02020603050405020304" pitchFamily="18" charset="0"/>
              </a:rPr>
              <a:t>                     </a:t>
            </a:r>
            <a:r>
              <a:rPr lang="pt-BR" altLang="en-US" sz="2000" b="1" i="1">
                <a:latin typeface="Times New Roman" panose="02020603050405020304" pitchFamily="18" charset="0"/>
              </a:rPr>
              <a:t>+ b, </a:t>
            </a:r>
            <a:endParaRPr lang="en-US" altLang="en-US" sz="20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603050405020304" pitchFamily="18" charset="0"/>
            </a:endParaRPr>
          </a:p>
        </p:txBody>
      </p:sp>
      <p:graphicFrame>
        <p:nvGraphicFramePr>
          <p:cNvPr id="157721" name="Object 2"/>
          <p:cNvGraphicFramePr>
            <a:graphicFrameLocks noChangeAspect="1"/>
          </p:cNvGraphicFramePr>
          <p:nvPr/>
        </p:nvGraphicFramePr>
        <p:xfrm>
          <a:off x="3124200" y="4114800"/>
          <a:ext cx="10668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6" name="Equation" r:id="rId4" imgW="482391" imgH="431613" progId="Equation.3">
                  <p:embed/>
                </p:oleObj>
              </mc:Choice>
              <mc:Fallback>
                <p:oleObj name="Equation" r:id="rId4" imgW="482391" imgH="431613" progId="Equation.3">
                  <p:embed/>
                  <p:pic>
                    <p:nvPicPr>
                      <p:cNvPr id="1577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14800"/>
                        <a:ext cx="106680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105400" y="4321176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ouput = f(net) = </a:t>
            </a:r>
            <a:r>
              <a:rPr lang="pt-BR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sgn (</a:t>
            </a:r>
            <a:r>
              <a:rPr lang="pt-BR" altLang="en-US" sz="2000" b="1" i="1">
                <a:solidFill>
                  <a:srgbClr val="FF0000"/>
                </a:solidFill>
                <a:latin typeface="Times New Roman" panose="02020603050405020304" pitchFamily="18" charset="0"/>
              </a:rPr>
              <a:t>net</a:t>
            </a:r>
            <a:r>
              <a:rPr lang="pt-BR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) =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7726" name="Object 3"/>
          <p:cNvGraphicFramePr>
            <a:graphicFrameLocks noChangeAspect="1"/>
          </p:cNvGraphicFramePr>
          <p:nvPr/>
        </p:nvGraphicFramePr>
        <p:xfrm>
          <a:off x="8153401" y="4191000"/>
          <a:ext cx="21574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" name="Equation" r:id="rId6" imgW="1435100" imgH="457200" progId="Equation.3">
                  <p:embed/>
                </p:oleObj>
              </mc:Choice>
              <mc:Fallback>
                <p:oleObj name="Equation" r:id="rId6" imgW="1435100" imgH="457200" progId="Equation.3">
                  <p:embed/>
                  <p:pic>
                    <p:nvPicPr>
                      <p:cNvPr id="1577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4191000"/>
                        <a:ext cx="21574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20889" y="5334001"/>
            <a:ext cx="1095022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en-US" sz="1800" b="1" dirty="0">
                <a:latin typeface="Times New Roman" panose="02020603050405020304" pitchFamily="18" charset="0"/>
              </a:rPr>
              <a:t>  Nhiều hàm kích hoạt được định nghĩa như : hàm Sigmoid (</a:t>
            </a:r>
            <a:r>
              <a:rPr lang="pt-BR" altLang="en-US" sz="1800" b="1" i="1" dirty="0">
                <a:latin typeface="Times New Roman" panose="02020603050405020304" pitchFamily="18" charset="0"/>
              </a:rPr>
              <a:t>Sigmoid function</a:t>
            </a:r>
            <a:r>
              <a:rPr lang="pt-BR" altLang="en-US" sz="1800" b="1" dirty="0">
                <a:latin typeface="Times New Roman" panose="02020603050405020304" pitchFamily="18" charset="0"/>
              </a:rPr>
              <a:t>) , hàm Gauss (</a:t>
            </a:r>
            <a:r>
              <a:rPr lang="pt-BR" altLang="en-US" sz="1800" b="1" i="1" dirty="0">
                <a:latin typeface="Times New Roman" panose="02020603050405020304" pitchFamily="18" charset="0"/>
              </a:rPr>
              <a:t>Gaussian function</a:t>
            </a:r>
            <a:r>
              <a:rPr lang="pt-BR" altLang="en-US" sz="1800" b="1" dirty="0">
                <a:latin typeface="Times New Roman" panose="02020603050405020304" pitchFamily="18" charset="0"/>
              </a:rPr>
              <a:t>), hàm hằng (</a:t>
            </a:r>
            <a:r>
              <a:rPr lang="pt-BR" altLang="en-US" sz="1800" b="1" i="1" dirty="0">
                <a:latin typeface="Times New Roman" panose="02020603050405020304" pitchFamily="18" charset="0"/>
              </a:rPr>
              <a:t>Constant function</a:t>
            </a:r>
            <a:r>
              <a:rPr lang="pt-BR" altLang="en-US" sz="1800" b="1" dirty="0">
                <a:latin typeface="Times New Roman" panose="02020603050405020304" pitchFamily="18" charset="0"/>
              </a:rPr>
              <a:t>)</a:t>
            </a:r>
            <a:endParaRPr lang="en-US" altLang="en-US" sz="1800" b="1" dirty="0">
              <a:latin typeface="Times New Roman" panose="02020603050405020304" pitchFamily="18" charset="0"/>
            </a:endParaRPr>
          </a:p>
        </p:txBody>
      </p:sp>
      <p:sp>
        <p:nvSpPr>
          <p:cNvPr id="4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27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7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1" grpId="0"/>
      <p:bldP spid="4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43695" y="457201"/>
            <a:ext cx="1620982" cy="798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Nhiệt</a:t>
            </a:r>
            <a:r>
              <a:rPr lang="en-US" b="1" dirty="0" smtClean="0"/>
              <a:t> </a:t>
            </a:r>
            <a:r>
              <a:rPr lang="en-US" b="1" dirty="0" err="1" smtClean="0"/>
              <a:t>độ</a:t>
            </a:r>
            <a:r>
              <a:rPr lang="en-US" b="1" dirty="0" smtClean="0"/>
              <a:t>: 36.5</a:t>
            </a:r>
            <a:endParaRPr lang="vi-VN" b="1" dirty="0"/>
          </a:p>
        </p:txBody>
      </p:sp>
      <p:sp>
        <p:nvSpPr>
          <p:cNvPr id="5" name="Rectangle 4"/>
          <p:cNvSpPr/>
          <p:nvPr/>
        </p:nvSpPr>
        <p:spPr>
          <a:xfrm>
            <a:off x="4438996" y="457199"/>
            <a:ext cx="1596044" cy="798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Độ</a:t>
            </a:r>
            <a:r>
              <a:rPr lang="en-US" b="1" dirty="0" smtClean="0"/>
              <a:t> </a:t>
            </a:r>
            <a:r>
              <a:rPr lang="en-US" b="1" dirty="0" err="1" smtClean="0"/>
              <a:t>ẩm</a:t>
            </a:r>
            <a:r>
              <a:rPr lang="en-US" b="1" dirty="0" smtClean="0"/>
              <a:t>: 71</a:t>
            </a:r>
            <a:endParaRPr lang="vi-VN" b="1" dirty="0"/>
          </a:p>
        </p:txBody>
      </p:sp>
      <p:sp>
        <p:nvSpPr>
          <p:cNvPr id="6" name="Rectangle 5"/>
          <p:cNvSpPr/>
          <p:nvPr/>
        </p:nvSpPr>
        <p:spPr>
          <a:xfrm>
            <a:off x="6309359" y="457199"/>
            <a:ext cx="1620983" cy="798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Mây</a:t>
            </a:r>
            <a:r>
              <a:rPr lang="en-US" b="1" dirty="0" smtClean="0"/>
              <a:t>: 32</a:t>
            </a:r>
            <a:endParaRPr lang="vi-VN" b="1" dirty="0"/>
          </a:p>
        </p:txBody>
      </p:sp>
      <p:sp>
        <p:nvSpPr>
          <p:cNvPr id="8" name="Rectangle 7"/>
          <p:cNvSpPr/>
          <p:nvPr/>
        </p:nvSpPr>
        <p:spPr>
          <a:xfrm>
            <a:off x="8204661" y="457197"/>
            <a:ext cx="1620983" cy="798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Gió</a:t>
            </a:r>
            <a:r>
              <a:rPr lang="en-US" b="1" dirty="0" smtClean="0"/>
              <a:t>: 25</a:t>
            </a:r>
            <a:endParaRPr lang="vi-VN" b="1" dirty="0"/>
          </a:p>
        </p:txBody>
      </p:sp>
      <p:cxnSp>
        <p:nvCxnSpPr>
          <p:cNvPr id="10" name="Straight Arrow Connector 9"/>
          <p:cNvCxnSpPr>
            <a:stCxn id="4" idx="2"/>
            <a:endCxn id="7" idx="0"/>
          </p:cNvCxnSpPr>
          <p:nvPr/>
        </p:nvCxnSpPr>
        <p:spPr>
          <a:xfrm>
            <a:off x="3354186" y="1255222"/>
            <a:ext cx="1033500" cy="11477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611881" y="2402952"/>
            <a:ext cx="1551609" cy="11366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</a:t>
            </a:r>
            <a:r>
              <a:rPr lang="en-US" sz="3800" dirty="0" smtClean="0">
                <a:solidFill>
                  <a:srgbClr val="FF0000"/>
                </a:solidFill>
                <a:sym typeface="Symbol" panose="05050102010706020507" pitchFamily="18" charset="2"/>
              </a:rPr>
              <a:t></a:t>
            </a:r>
            <a:endParaRPr lang="vi-VN" sz="38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stCxn id="5" idx="2"/>
            <a:endCxn id="7" idx="0"/>
          </p:cNvCxnSpPr>
          <p:nvPr/>
        </p:nvCxnSpPr>
        <p:spPr>
          <a:xfrm flipH="1">
            <a:off x="4387686" y="1255220"/>
            <a:ext cx="849332" cy="11477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7" idx="0"/>
          </p:cNvCxnSpPr>
          <p:nvPr/>
        </p:nvCxnSpPr>
        <p:spPr>
          <a:xfrm flipH="1">
            <a:off x="4387686" y="1255220"/>
            <a:ext cx="2732165" cy="11477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7" idx="0"/>
          </p:cNvCxnSpPr>
          <p:nvPr/>
        </p:nvCxnSpPr>
        <p:spPr>
          <a:xfrm flipH="1">
            <a:off x="4387686" y="1255218"/>
            <a:ext cx="4627467" cy="11477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4"/>
            <a:endCxn id="100" idx="0"/>
          </p:cNvCxnSpPr>
          <p:nvPr/>
        </p:nvCxnSpPr>
        <p:spPr>
          <a:xfrm>
            <a:off x="4387686" y="3539604"/>
            <a:ext cx="1581796" cy="6144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11042" y="1600782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2.1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65470" y="1638189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3.1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05081" y="1593051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1.9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9522" y="1470563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-0.8</a:t>
            </a:r>
            <a:endParaRPr lang="vi-VN" b="1" dirty="0">
              <a:solidFill>
                <a:srgbClr val="FF0000"/>
              </a:solidFill>
            </a:endParaRPr>
          </a:p>
        </p:txBody>
      </p:sp>
      <p:cxnSp>
        <p:nvCxnSpPr>
          <p:cNvPr id="30" name="Straight Arrow Connector 29"/>
          <p:cNvCxnSpPr>
            <a:stCxn id="33" idx="3"/>
            <a:endCxn id="7" idx="2"/>
          </p:cNvCxnSpPr>
          <p:nvPr/>
        </p:nvCxnSpPr>
        <p:spPr>
          <a:xfrm flipV="1">
            <a:off x="2823728" y="2971278"/>
            <a:ext cx="788153" cy="121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18981" y="2798791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1.32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22978" y="3638698"/>
            <a:ext cx="158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338.87:  YES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68394" y="3521722"/>
            <a:ext cx="14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TRỜI MƯA?</a:t>
            </a:r>
            <a:endParaRPr lang="vi-V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6813323" y="2402955"/>
            <a:ext cx="1504767" cy="11610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 smtClean="0">
                <a:solidFill>
                  <a:srgbClr val="FF0000"/>
                </a:solidFill>
                <a:sym typeface="Symbol" panose="05050102010706020507" pitchFamily="18" charset="2"/>
              </a:rPr>
              <a:t></a:t>
            </a:r>
            <a:r>
              <a:rPr lang="en-US" sz="3800" dirty="0">
                <a:solidFill>
                  <a:srgbClr val="FF0000"/>
                </a:solidFill>
                <a:sym typeface="Symbol" panose="05050102010706020507" pitchFamily="18" charset="2"/>
              </a:rPr>
              <a:t></a:t>
            </a:r>
            <a:endParaRPr lang="vi-VN" sz="3800" dirty="0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>
            <a:stCxn id="4" idx="2"/>
            <a:endCxn id="52" idx="0"/>
          </p:cNvCxnSpPr>
          <p:nvPr/>
        </p:nvCxnSpPr>
        <p:spPr>
          <a:xfrm>
            <a:off x="3354186" y="1255222"/>
            <a:ext cx="4211521" cy="114773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" idx="2"/>
            <a:endCxn id="52" idx="0"/>
          </p:cNvCxnSpPr>
          <p:nvPr/>
        </p:nvCxnSpPr>
        <p:spPr>
          <a:xfrm>
            <a:off x="5237018" y="1255220"/>
            <a:ext cx="2328689" cy="114773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6" idx="2"/>
            <a:endCxn id="52" idx="0"/>
          </p:cNvCxnSpPr>
          <p:nvPr/>
        </p:nvCxnSpPr>
        <p:spPr>
          <a:xfrm>
            <a:off x="7119851" y="1255220"/>
            <a:ext cx="445856" cy="114773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8" idx="2"/>
            <a:endCxn id="52" idx="0"/>
          </p:cNvCxnSpPr>
          <p:nvPr/>
        </p:nvCxnSpPr>
        <p:spPr>
          <a:xfrm flipH="1">
            <a:off x="7565707" y="1255218"/>
            <a:ext cx="1449446" cy="114773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84453" y="357249"/>
            <a:ext cx="1999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X(36.5, 71, 32, 25)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4452" y="726581"/>
            <a:ext cx="212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W(2.1, 3.1, 1.9, -0.8)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84451" y="1095913"/>
            <a:ext cx="212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B = 1.32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4450" y="1465245"/>
            <a:ext cx="212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NET = &lt;W, X&gt; + B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81337" y="1912327"/>
            <a:ext cx="285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G(X) = YES </a:t>
            </a:r>
            <a:r>
              <a:rPr lang="en-US" b="1" dirty="0" err="1" smtClean="0">
                <a:solidFill>
                  <a:srgbClr val="00B050"/>
                </a:solidFill>
              </a:rPr>
              <a:t>nếu</a:t>
            </a:r>
            <a:r>
              <a:rPr lang="en-US" b="1" dirty="0" smtClean="0">
                <a:solidFill>
                  <a:srgbClr val="00B050"/>
                </a:solidFill>
              </a:rPr>
              <a:t> NET &gt;= 100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G(X) = NO  </a:t>
            </a:r>
            <a:r>
              <a:rPr lang="en-US" b="1" dirty="0" err="1" smtClean="0">
                <a:solidFill>
                  <a:srgbClr val="00B050"/>
                </a:solidFill>
              </a:rPr>
              <a:t>nếu</a:t>
            </a:r>
            <a:r>
              <a:rPr lang="en-US" b="1" dirty="0" smtClean="0">
                <a:solidFill>
                  <a:srgbClr val="00B050"/>
                </a:solidFill>
              </a:rPr>
              <a:t> NET &lt;   100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85221" y="3309145"/>
            <a:ext cx="14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SÓNG LỚN?</a:t>
            </a:r>
            <a:endParaRPr lang="vi-V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8" name="Straight Arrow Connector 67"/>
          <p:cNvCxnSpPr>
            <a:stCxn id="52" idx="4"/>
            <a:endCxn id="100" idx="0"/>
          </p:cNvCxnSpPr>
          <p:nvPr/>
        </p:nvCxnSpPr>
        <p:spPr>
          <a:xfrm flipH="1">
            <a:off x="5969482" y="3563959"/>
            <a:ext cx="1596225" cy="5900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70" idx="1"/>
            <a:endCxn id="52" idx="6"/>
          </p:cNvCxnSpPr>
          <p:nvPr/>
        </p:nvCxnSpPr>
        <p:spPr>
          <a:xfrm flipH="1">
            <a:off x="8318090" y="2977408"/>
            <a:ext cx="1045086" cy="60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363176" y="2792742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3.85</a:t>
            </a:r>
            <a:endParaRPr lang="vi-VN" b="1" dirty="0">
              <a:solidFill>
                <a:schemeClr val="accent6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07821" y="1231450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-0.7</a:t>
            </a:r>
            <a:endParaRPr lang="vi-VN" b="1" dirty="0">
              <a:solidFill>
                <a:schemeClr val="accent6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745137" y="1246612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-0.9</a:t>
            </a:r>
            <a:endParaRPr lang="vi-VN" b="1" dirty="0">
              <a:solidFill>
                <a:schemeClr val="accent6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247141" y="1255216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1.2</a:t>
            </a:r>
            <a:endParaRPr lang="vi-VN" b="1" dirty="0">
              <a:solidFill>
                <a:schemeClr val="accent6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585492" y="1416116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/>
                </a:solidFill>
              </a:rPr>
              <a:t>3.1</a:t>
            </a:r>
            <a:endParaRPr lang="vi-VN" b="1" dirty="0">
              <a:solidFill>
                <a:schemeClr val="accent6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399961" y="3619737"/>
            <a:ext cx="130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30.3:  </a:t>
            </a:r>
            <a:r>
              <a:rPr lang="en-US" b="1" dirty="0" smtClean="0">
                <a:solidFill>
                  <a:srgbClr val="FF0000"/>
                </a:solidFill>
              </a:rPr>
              <a:t>NO</a:t>
            </a:r>
            <a:endParaRPr lang="vi-VN" b="1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018269" y="3920619"/>
            <a:ext cx="1999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X(36.5, 71, 32, 25)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018268" y="4289951"/>
            <a:ext cx="2588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W(-0.7, -0.9, 1.2, 3.1)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018267" y="4659283"/>
            <a:ext cx="212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B = 3.85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018266" y="5028615"/>
            <a:ext cx="212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NET = &lt;W, X&gt; + B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15153" y="5475697"/>
            <a:ext cx="285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G(X) = YES </a:t>
            </a:r>
            <a:r>
              <a:rPr lang="en-US" b="1" dirty="0" err="1" smtClean="0">
                <a:solidFill>
                  <a:srgbClr val="00B050"/>
                </a:solidFill>
              </a:rPr>
              <a:t>nếu</a:t>
            </a:r>
            <a:r>
              <a:rPr lang="en-US" b="1" dirty="0" smtClean="0">
                <a:solidFill>
                  <a:srgbClr val="00B050"/>
                </a:solidFill>
              </a:rPr>
              <a:t> NET &gt;= 0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G(X) = NO  </a:t>
            </a:r>
            <a:r>
              <a:rPr lang="en-US" b="1" dirty="0" err="1" smtClean="0">
                <a:solidFill>
                  <a:srgbClr val="00B050"/>
                </a:solidFill>
              </a:rPr>
              <a:t>nếu</a:t>
            </a:r>
            <a:r>
              <a:rPr lang="en-US" b="1" dirty="0" smtClean="0">
                <a:solidFill>
                  <a:srgbClr val="00B050"/>
                </a:solidFill>
              </a:rPr>
              <a:t> NET &lt;   0</a:t>
            </a:r>
            <a:endParaRPr lang="vi-VN" b="1" dirty="0">
              <a:solidFill>
                <a:srgbClr val="00B050"/>
              </a:solidFill>
            </a:endParaRPr>
          </a:p>
        </p:txBody>
      </p:sp>
      <p:sp>
        <p:nvSpPr>
          <p:cNvPr id="100" name="Oval 99"/>
          <p:cNvSpPr/>
          <p:nvPr/>
        </p:nvSpPr>
        <p:spPr>
          <a:xfrm>
            <a:off x="5249968" y="4154009"/>
            <a:ext cx="1439027" cy="11693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 smtClean="0">
                <a:solidFill>
                  <a:srgbClr val="002060"/>
                </a:solidFill>
                <a:sym typeface="Symbol" panose="05050102010706020507" pitchFamily="18" charset="2"/>
              </a:rPr>
              <a:t></a:t>
            </a:r>
            <a:endParaRPr lang="vi-VN" sz="5000" dirty="0">
              <a:solidFill>
                <a:srgbClr val="002060"/>
              </a:solidFill>
            </a:endParaRPr>
          </a:p>
        </p:txBody>
      </p:sp>
      <p:cxnSp>
        <p:nvCxnSpPr>
          <p:cNvPr id="109" name="Straight Arrow Connector 108"/>
          <p:cNvCxnSpPr>
            <a:stCxn id="100" idx="4"/>
            <a:endCxn id="172" idx="0"/>
          </p:cNvCxnSpPr>
          <p:nvPr/>
        </p:nvCxnSpPr>
        <p:spPr>
          <a:xfrm>
            <a:off x="5969482" y="5323331"/>
            <a:ext cx="13419" cy="8308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2939351" y="5429531"/>
            <a:ext cx="275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CÓ ĐI ĐÁNH CÁ KHÔNG?</a:t>
            </a:r>
            <a:endParaRPr lang="vi-V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15" name="Straight Arrow Connector 114"/>
          <p:cNvCxnSpPr>
            <a:stCxn id="116" idx="3"/>
            <a:endCxn id="100" idx="2"/>
          </p:cNvCxnSpPr>
          <p:nvPr/>
        </p:nvCxnSpPr>
        <p:spPr>
          <a:xfrm>
            <a:off x="4216628" y="4738670"/>
            <a:ext cx="10333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3611881" y="4554004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1.17</a:t>
            </a:r>
            <a:endParaRPr lang="vi-VN" b="1" dirty="0"/>
          </a:p>
        </p:txBody>
      </p:sp>
      <p:sp>
        <p:nvSpPr>
          <p:cNvPr id="119" name="TextBox 118"/>
          <p:cNvSpPr txBox="1"/>
          <p:nvPr/>
        </p:nvSpPr>
        <p:spPr>
          <a:xfrm>
            <a:off x="6096672" y="5569551"/>
            <a:ext cx="1150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-254.07</a:t>
            </a:r>
            <a:endParaRPr lang="vi-VN" b="1" dirty="0"/>
          </a:p>
        </p:txBody>
      </p:sp>
      <p:sp>
        <p:nvSpPr>
          <p:cNvPr id="121" name="TextBox 120"/>
          <p:cNvSpPr txBox="1"/>
          <p:nvPr/>
        </p:nvSpPr>
        <p:spPr>
          <a:xfrm>
            <a:off x="5023251" y="3678477"/>
            <a:ext cx="60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0.92</a:t>
            </a:r>
            <a:endParaRPr lang="vi-VN" b="1" dirty="0"/>
          </a:p>
        </p:txBody>
      </p:sp>
      <p:sp>
        <p:nvSpPr>
          <p:cNvPr id="122" name="TextBox 121"/>
          <p:cNvSpPr txBox="1"/>
          <p:nvPr/>
        </p:nvSpPr>
        <p:spPr>
          <a:xfrm>
            <a:off x="6383621" y="3690467"/>
            <a:ext cx="101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-18.71</a:t>
            </a:r>
            <a:endParaRPr lang="vi-VN" b="1" dirty="0"/>
          </a:p>
        </p:txBody>
      </p:sp>
      <p:sp>
        <p:nvSpPr>
          <p:cNvPr id="172" name="Rectangle 171"/>
          <p:cNvSpPr/>
          <p:nvPr/>
        </p:nvSpPr>
        <p:spPr>
          <a:xfrm>
            <a:off x="5211709" y="6154213"/>
            <a:ext cx="1542384" cy="479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NO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278032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26" grpId="0"/>
      <p:bldP spid="27" grpId="0"/>
      <p:bldP spid="28" grpId="0"/>
      <p:bldP spid="29" grpId="0"/>
      <p:bldP spid="33" grpId="0"/>
      <p:bldP spid="37" grpId="0"/>
      <p:bldP spid="45" grpId="0"/>
      <p:bldP spid="52" grpId="0" animBg="1"/>
      <p:bldP spid="62" grpId="0"/>
      <p:bldP spid="63" grpId="0"/>
      <p:bldP spid="64" grpId="0"/>
      <p:bldP spid="65" grpId="0"/>
      <p:bldP spid="66" grpId="0"/>
      <p:bldP spid="67" grpId="0"/>
      <p:bldP spid="70" grpId="0"/>
      <p:bldP spid="73" grpId="0"/>
      <p:bldP spid="74" grpId="0"/>
      <p:bldP spid="75" grpId="0"/>
      <p:bldP spid="76" grpId="0"/>
      <p:bldP spid="78" grpId="0"/>
      <p:bldP spid="86" grpId="0"/>
      <p:bldP spid="87" grpId="0"/>
      <p:bldP spid="88" grpId="0"/>
      <p:bldP spid="89" grpId="0"/>
      <p:bldP spid="90" grpId="0"/>
      <p:bldP spid="100" grpId="0" animBg="1"/>
      <p:bldP spid="114" grpId="0"/>
      <p:bldP spid="116" grpId="0"/>
      <p:bldP spid="119" grpId="0"/>
      <p:bldP spid="121" grpId="0"/>
      <p:bldP spid="122" grpId="0"/>
      <p:bldP spid="17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4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9515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9517" name="Rectangle 2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9519" name="Rectangle 19"/>
          <p:cNvSpPr>
            <a:spLocks noChangeArrowheads="1"/>
          </p:cNvSpPr>
          <p:nvPr/>
        </p:nvSpPr>
        <p:spPr bwMode="auto">
          <a:xfrm>
            <a:off x="666046" y="953016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nơ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ron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nhân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tạo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21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9522" name="Rectangle 53"/>
          <p:cNvSpPr>
            <a:spLocks noChangeArrowheads="1"/>
          </p:cNvSpPr>
          <p:nvPr/>
        </p:nvSpPr>
        <p:spPr bwMode="auto">
          <a:xfrm>
            <a:off x="756356" y="1905001"/>
            <a:ext cx="10464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en-US" sz="2000" b="1" dirty="0">
                <a:latin typeface="Times New Roman" panose="02020603050405020304" pitchFamily="18" charset="0"/>
              </a:rPr>
              <a:t>  Một nơ ron nhân tạo phù hợp với các bài toán phân loại có 2 lớp (</a:t>
            </a:r>
            <a:r>
              <a:rPr lang="pt-BR" altLang="en-US" sz="2000" b="1" i="1" dirty="0">
                <a:latin typeface="Times New Roman" panose="02020603050405020304" pitchFamily="18" charset="0"/>
              </a:rPr>
              <a:t>đúng/ sai</a:t>
            </a:r>
            <a:r>
              <a:rPr lang="pt-BR" altLang="en-US" sz="2000" b="1" dirty="0">
                <a:latin typeface="Times New Roman" panose="02020603050405020304" pitchFamily="18" charset="0"/>
              </a:rPr>
              <a:t>; 0/1 hoặc -1/1…)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756356" y="2828926"/>
            <a:ext cx="10582204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en-US" sz="2000" b="1" dirty="0">
                <a:latin typeface="Times New Roman" panose="02020603050405020304" pitchFamily="18" charset="0"/>
              </a:rPr>
              <a:t>  Các nơ ron có thể được ghép với nhau theo nghĩa là: đầu ra của nơ ron này lại là đầu vào của nơ ron kia sẽ giúp tạo ra một mạng nơ ron.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56356" y="3810000"/>
            <a:ext cx="1058220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 Việc ghép các nơ ron với nhau theo nghĩa là: đầu ra của nơ ron này lại là đầu vào của nơ ron kia sẽ giúp tạo ra một mạng nơ ron vô cùng hiệu quả cho việc nhận dạng</a:t>
            </a:r>
            <a:endParaRPr lang="en-US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55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7" name="Rectangle 19"/>
          <p:cNvSpPr>
            <a:spLocks noChangeArrowheads="1"/>
          </p:cNvSpPr>
          <p:nvPr/>
        </p:nvSpPr>
        <p:spPr bwMode="auto">
          <a:xfrm>
            <a:off x="992787" y="1161486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nơ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ron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nhân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tạo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1570" name="Group 2"/>
          <p:cNvGrpSpPr>
            <a:grpSpLocks/>
          </p:cNvGrpSpPr>
          <p:nvPr/>
        </p:nvGrpSpPr>
        <p:grpSpPr bwMode="auto">
          <a:xfrm>
            <a:off x="2690948" y="2131424"/>
            <a:ext cx="6816634" cy="3354976"/>
            <a:chOff x="2691" y="8426"/>
            <a:chExt cx="7079" cy="3838"/>
          </a:xfrm>
        </p:grpSpPr>
        <p:grpSp>
          <p:nvGrpSpPr>
            <p:cNvPr id="151571" name="Group 3"/>
            <p:cNvGrpSpPr>
              <a:grpSpLocks/>
            </p:cNvGrpSpPr>
            <p:nvPr/>
          </p:nvGrpSpPr>
          <p:grpSpPr bwMode="auto">
            <a:xfrm>
              <a:off x="3119" y="9244"/>
              <a:ext cx="6651" cy="3020"/>
              <a:chOff x="3586" y="9853"/>
              <a:chExt cx="6651" cy="3020"/>
            </a:xfrm>
          </p:grpSpPr>
          <p:grpSp>
            <p:nvGrpSpPr>
              <p:cNvPr id="151575" name="Group 4"/>
              <p:cNvGrpSpPr>
                <a:grpSpLocks/>
              </p:cNvGrpSpPr>
              <p:nvPr/>
            </p:nvGrpSpPr>
            <p:grpSpPr bwMode="auto">
              <a:xfrm>
                <a:off x="3586" y="9853"/>
                <a:ext cx="6651" cy="3020"/>
                <a:chOff x="3586" y="9853"/>
                <a:chExt cx="6651" cy="3020"/>
              </a:xfrm>
            </p:grpSpPr>
            <p:sp>
              <p:nvSpPr>
                <p:cNvPr id="151579" name="Rectangle 5"/>
                <p:cNvSpPr>
                  <a:spLocks noChangeArrowheads="1"/>
                </p:cNvSpPr>
                <p:nvPr/>
              </p:nvSpPr>
              <p:spPr bwMode="auto">
                <a:xfrm>
                  <a:off x="4057" y="10416"/>
                  <a:ext cx="209" cy="512"/>
                </a:xfrm>
                <a:prstGeom prst="rect">
                  <a:avLst/>
                </a:prstGeom>
                <a:solidFill>
                  <a:srgbClr val="4F81BD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580" name="AutoShape 6"/>
                <p:cNvCxnSpPr>
                  <a:cxnSpLocks noChangeShapeType="1"/>
                </p:cNvCxnSpPr>
                <p:nvPr/>
              </p:nvCxnSpPr>
              <p:spPr bwMode="auto">
                <a:xfrm>
                  <a:off x="3688" y="10510"/>
                  <a:ext cx="36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58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591" y="10172"/>
                  <a:ext cx="626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x</a:t>
                  </a:r>
                  <a:r>
                    <a:rPr lang="en-US" altLang="en-US" sz="1100" baseline="-25000">
                      <a:latin typeface="Calibri" panose="020F0502020204030204" pitchFamily="34" charset="0"/>
                    </a:rPr>
                    <a:t>1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82" name="Rectangle 8"/>
                <p:cNvSpPr>
                  <a:spLocks noChangeArrowheads="1"/>
                </p:cNvSpPr>
                <p:nvPr/>
              </p:nvSpPr>
              <p:spPr bwMode="auto">
                <a:xfrm>
                  <a:off x="4052" y="10956"/>
                  <a:ext cx="209" cy="512"/>
                </a:xfrm>
                <a:prstGeom prst="rect">
                  <a:avLst/>
                </a:prstGeom>
                <a:solidFill>
                  <a:srgbClr val="4F81BD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583" name="AutoShape 9"/>
                <p:cNvCxnSpPr>
                  <a:cxnSpLocks noChangeShapeType="1"/>
                </p:cNvCxnSpPr>
                <p:nvPr/>
              </p:nvCxnSpPr>
              <p:spPr bwMode="auto">
                <a:xfrm>
                  <a:off x="3683" y="11050"/>
                  <a:ext cx="36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58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586" y="10712"/>
                  <a:ext cx="626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x</a:t>
                  </a:r>
                  <a:r>
                    <a:rPr lang="en-US" altLang="en-US" sz="1100" baseline="-25000">
                      <a:latin typeface="Calibri" panose="020F0502020204030204" pitchFamily="34" charset="0"/>
                    </a:rPr>
                    <a:t>2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85" name="Rectangle 11"/>
                <p:cNvSpPr>
                  <a:spLocks noChangeArrowheads="1"/>
                </p:cNvSpPr>
                <p:nvPr/>
              </p:nvSpPr>
              <p:spPr bwMode="auto">
                <a:xfrm>
                  <a:off x="4048" y="11433"/>
                  <a:ext cx="209" cy="512"/>
                </a:xfrm>
                <a:prstGeom prst="rect">
                  <a:avLst/>
                </a:prstGeom>
                <a:solidFill>
                  <a:srgbClr val="4F81BD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586" name="AutoShape 12"/>
                <p:cNvCxnSpPr>
                  <a:cxnSpLocks noChangeShapeType="1"/>
                </p:cNvCxnSpPr>
                <p:nvPr/>
              </p:nvCxnSpPr>
              <p:spPr bwMode="auto">
                <a:xfrm>
                  <a:off x="3679" y="11527"/>
                  <a:ext cx="36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587" name="Rectangle 13"/>
                <p:cNvSpPr>
                  <a:spLocks noChangeArrowheads="1"/>
                </p:cNvSpPr>
                <p:nvPr/>
              </p:nvSpPr>
              <p:spPr bwMode="auto">
                <a:xfrm>
                  <a:off x="4043" y="11945"/>
                  <a:ext cx="209" cy="512"/>
                </a:xfrm>
                <a:prstGeom prst="rect">
                  <a:avLst/>
                </a:prstGeom>
                <a:solidFill>
                  <a:srgbClr val="4F81BD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588" name="AutoShape 14"/>
                <p:cNvCxnSpPr>
                  <a:cxnSpLocks noChangeShapeType="1"/>
                </p:cNvCxnSpPr>
                <p:nvPr/>
              </p:nvCxnSpPr>
              <p:spPr bwMode="auto">
                <a:xfrm>
                  <a:off x="3674" y="12039"/>
                  <a:ext cx="36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58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586" y="11200"/>
                  <a:ext cx="626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x</a:t>
                  </a:r>
                  <a:r>
                    <a:rPr lang="en-US" altLang="en-US" sz="1100" baseline="-25000">
                      <a:latin typeface="Calibri" panose="020F0502020204030204" pitchFamily="34" charset="0"/>
                    </a:rPr>
                    <a:t>3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9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586" y="11688"/>
                  <a:ext cx="626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x</a:t>
                  </a:r>
                  <a:r>
                    <a:rPr lang="en-US" altLang="en-US" sz="1100" baseline="-25000">
                      <a:latin typeface="Calibri" panose="020F0502020204030204" pitchFamily="34" charset="0"/>
                    </a:rPr>
                    <a:t>4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591" name="AutoShape 17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76" y="10062"/>
                  <a:ext cx="1269" cy="44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592" name="Oval 18"/>
                <p:cNvSpPr>
                  <a:spLocks noChangeArrowheads="1"/>
                </p:cNvSpPr>
                <p:nvPr/>
              </p:nvSpPr>
              <p:spPr bwMode="auto">
                <a:xfrm>
                  <a:off x="5545" y="9866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93" name="Oval 19"/>
                <p:cNvSpPr>
                  <a:spLocks noChangeArrowheads="1"/>
                </p:cNvSpPr>
                <p:nvPr/>
              </p:nvSpPr>
              <p:spPr bwMode="auto">
                <a:xfrm>
                  <a:off x="5545" y="10430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94" name="Oval 20"/>
                <p:cNvSpPr>
                  <a:spLocks noChangeArrowheads="1"/>
                </p:cNvSpPr>
                <p:nvPr/>
              </p:nvSpPr>
              <p:spPr bwMode="auto">
                <a:xfrm>
                  <a:off x="5545" y="11029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95" name="Oval 21"/>
                <p:cNvSpPr>
                  <a:spLocks noChangeArrowheads="1"/>
                </p:cNvSpPr>
                <p:nvPr/>
              </p:nvSpPr>
              <p:spPr bwMode="auto">
                <a:xfrm>
                  <a:off x="5545" y="11597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596" name="Oval 22"/>
                <p:cNvSpPr>
                  <a:spLocks noChangeArrowheads="1"/>
                </p:cNvSpPr>
                <p:nvPr/>
              </p:nvSpPr>
              <p:spPr bwMode="auto">
                <a:xfrm>
                  <a:off x="5545" y="12153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597" name="AutoShape 23"/>
                <p:cNvCxnSpPr>
                  <a:cxnSpLocks noChangeShapeType="1"/>
                </p:cNvCxnSpPr>
                <p:nvPr/>
              </p:nvCxnSpPr>
              <p:spPr bwMode="auto">
                <a:xfrm>
                  <a:off x="4272" y="10510"/>
                  <a:ext cx="1273" cy="11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598" name="AutoShape 24"/>
                <p:cNvCxnSpPr>
                  <a:cxnSpLocks noChangeShapeType="1"/>
                </p:cNvCxnSpPr>
                <p:nvPr/>
              </p:nvCxnSpPr>
              <p:spPr bwMode="auto">
                <a:xfrm>
                  <a:off x="4286" y="10510"/>
                  <a:ext cx="1269" cy="67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599" name="AutoShape 25"/>
                <p:cNvCxnSpPr>
                  <a:cxnSpLocks noChangeShapeType="1"/>
                </p:cNvCxnSpPr>
                <p:nvPr/>
              </p:nvCxnSpPr>
              <p:spPr bwMode="auto">
                <a:xfrm>
                  <a:off x="4272" y="10510"/>
                  <a:ext cx="1273" cy="124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0" name="AutoShape 26"/>
                <p:cNvCxnSpPr>
                  <a:cxnSpLocks noChangeShapeType="1"/>
                </p:cNvCxnSpPr>
                <p:nvPr/>
              </p:nvCxnSpPr>
              <p:spPr bwMode="auto">
                <a:xfrm>
                  <a:off x="4276" y="10510"/>
                  <a:ext cx="1269" cy="180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1" name="AutoShape 27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57" y="10062"/>
                  <a:ext cx="1274" cy="96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2" name="AutoShape 28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66" y="10621"/>
                  <a:ext cx="1275" cy="40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3" name="AutoShape 29"/>
                <p:cNvCxnSpPr>
                  <a:cxnSpLocks noChangeShapeType="1"/>
                </p:cNvCxnSpPr>
                <p:nvPr/>
              </p:nvCxnSpPr>
              <p:spPr bwMode="auto">
                <a:xfrm>
                  <a:off x="4262" y="11016"/>
                  <a:ext cx="1293" cy="17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4" name="AutoShape 30"/>
                <p:cNvCxnSpPr>
                  <a:cxnSpLocks noChangeShapeType="1"/>
                </p:cNvCxnSpPr>
                <p:nvPr/>
              </p:nvCxnSpPr>
              <p:spPr bwMode="auto">
                <a:xfrm>
                  <a:off x="4272" y="11029"/>
                  <a:ext cx="1259" cy="72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5" name="AutoShape 31"/>
                <p:cNvCxnSpPr>
                  <a:cxnSpLocks noChangeShapeType="1"/>
                </p:cNvCxnSpPr>
                <p:nvPr/>
              </p:nvCxnSpPr>
              <p:spPr bwMode="auto">
                <a:xfrm>
                  <a:off x="4261" y="11016"/>
                  <a:ext cx="1270" cy="130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6" name="AutoShape 32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52" y="10062"/>
                  <a:ext cx="1279" cy="146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7" name="AutoShape 33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62" y="10621"/>
                  <a:ext cx="1269" cy="87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8" name="AutoShape 34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66" y="11189"/>
                  <a:ext cx="1279" cy="30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09" name="AutoShape 35"/>
                <p:cNvCxnSpPr>
                  <a:cxnSpLocks noChangeShapeType="1"/>
                </p:cNvCxnSpPr>
                <p:nvPr/>
              </p:nvCxnSpPr>
              <p:spPr bwMode="auto">
                <a:xfrm>
                  <a:off x="4262" y="11498"/>
                  <a:ext cx="1269" cy="25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10" name="AutoShape 36"/>
                <p:cNvCxnSpPr>
                  <a:cxnSpLocks noChangeShapeType="1"/>
                </p:cNvCxnSpPr>
                <p:nvPr/>
              </p:nvCxnSpPr>
              <p:spPr bwMode="auto">
                <a:xfrm>
                  <a:off x="4272" y="11498"/>
                  <a:ext cx="1207" cy="76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11" name="AutoShape 37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52" y="10062"/>
                  <a:ext cx="1279" cy="197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12" name="AutoShape 38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52" y="10621"/>
                  <a:ext cx="1265" cy="141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13" name="AutoShape 39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52" y="11189"/>
                  <a:ext cx="1279" cy="85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14" name="AutoShape 40"/>
                <p:cNvCxnSpPr>
                  <a:cxnSpLocks noChangeShapeType="1"/>
                </p:cNvCxnSpPr>
                <p:nvPr/>
              </p:nvCxnSpPr>
              <p:spPr bwMode="auto">
                <a:xfrm flipV="1">
                  <a:off x="4252" y="11757"/>
                  <a:ext cx="1265" cy="28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15" name="AutoShape 41"/>
                <p:cNvCxnSpPr>
                  <a:cxnSpLocks noChangeShapeType="1"/>
                </p:cNvCxnSpPr>
                <p:nvPr/>
              </p:nvCxnSpPr>
              <p:spPr bwMode="auto">
                <a:xfrm>
                  <a:off x="4252" y="12039"/>
                  <a:ext cx="1279" cy="27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616" name="Oval 42"/>
                <p:cNvSpPr>
                  <a:spLocks noChangeArrowheads="1"/>
                </p:cNvSpPr>
                <p:nvPr/>
              </p:nvSpPr>
              <p:spPr bwMode="auto">
                <a:xfrm>
                  <a:off x="6913" y="9853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617" name="Oval 43"/>
                <p:cNvSpPr>
                  <a:spLocks noChangeArrowheads="1"/>
                </p:cNvSpPr>
                <p:nvPr/>
              </p:nvSpPr>
              <p:spPr bwMode="auto">
                <a:xfrm>
                  <a:off x="6913" y="10417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618" name="Oval 44"/>
                <p:cNvSpPr>
                  <a:spLocks noChangeArrowheads="1"/>
                </p:cNvSpPr>
                <p:nvPr/>
              </p:nvSpPr>
              <p:spPr bwMode="auto">
                <a:xfrm>
                  <a:off x="6913" y="11016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619" name="Oval 45"/>
                <p:cNvSpPr>
                  <a:spLocks noChangeArrowheads="1"/>
                </p:cNvSpPr>
                <p:nvPr/>
              </p:nvSpPr>
              <p:spPr bwMode="auto">
                <a:xfrm>
                  <a:off x="6913" y="11584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1620" name="Oval 46"/>
                <p:cNvSpPr>
                  <a:spLocks noChangeArrowheads="1"/>
                </p:cNvSpPr>
                <p:nvPr/>
              </p:nvSpPr>
              <p:spPr bwMode="auto">
                <a:xfrm>
                  <a:off x="6913" y="12140"/>
                  <a:ext cx="416" cy="720"/>
                </a:xfrm>
                <a:prstGeom prst="ellipse">
                  <a:avLst/>
                </a:prstGeom>
                <a:solidFill>
                  <a:srgbClr val="000000"/>
                </a:solidFill>
                <a:ln w="9525" algn="ctr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621" name="AutoShape 47"/>
                <p:cNvCxnSpPr>
                  <a:cxnSpLocks noChangeShapeType="1"/>
                </p:cNvCxnSpPr>
                <p:nvPr/>
              </p:nvCxnSpPr>
              <p:spPr bwMode="auto">
                <a:xfrm>
                  <a:off x="5951" y="10049"/>
                  <a:ext cx="96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2" name="AutoShape 48"/>
                <p:cNvCxnSpPr>
                  <a:cxnSpLocks noChangeShapeType="1"/>
                </p:cNvCxnSpPr>
                <p:nvPr/>
              </p:nvCxnSpPr>
              <p:spPr bwMode="auto">
                <a:xfrm>
                  <a:off x="5951" y="10049"/>
                  <a:ext cx="962" cy="57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3" name="AutoShape 49"/>
                <p:cNvCxnSpPr>
                  <a:cxnSpLocks noChangeShapeType="1"/>
                </p:cNvCxnSpPr>
                <p:nvPr/>
              </p:nvCxnSpPr>
              <p:spPr bwMode="auto">
                <a:xfrm>
                  <a:off x="5961" y="10049"/>
                  <a:ext cx="952" cy="114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4" name="AutoShape 50"/>
                <p:cNvCxnSpPr>
                  <a:cxnSpLocks noChangeShapeType="1"/>
                </p:cNvCxnSpPr>
                <p:nvPr/>
              </p:nvCxnSpPr>
              <p:spPr bwMode="auto">
                <a:xfrm>
                  <a:off x="5961" y="10049"/>
                  <a:ext cx="952" cy="170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5" name="AutoShape 51"/>
                <p:cNvCxnSpPr>
                  <a:cxnSpLocks noChangeShapeType="1"/>
                </p:cNvCxnSpPr>
                <p:nvPr/>
              </p:nvCxnSpPr>
              <p:spPr bwMode="auto">
                <a:xfrm>
                  <a:off x="5971" y="10049"/>
                  <a:ext cx="942" cy="226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6" name="AutoShape 52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51" y="10062"/>
                  <a:ext cx="962" cy="55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7" name="AutoShape 53"/>
                <p:cNvCxnSpPr>
                  <a:cxnSpLocks noChangeShapeType="1"/>
                </p:cNvCxnSpPr>
                <p:nvPr/>
              </p:nvCxnSpPr>
              <p:spPr bwMode="auto">
                <a:xfrm>
                  <a:off x="5951" y="10621"/>
                  <a:ext cx="96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8" name="AutoShape 54"/>
                <p:cNvCxnSpPr>
                  <a:cxnSpLocks noChangeShapeType="1"/>
                </p:cNvCxnSpPr>
                <p:nvPr/>
              </p:nvCxnSpPr>
              <p:spPr bwMode="auto">
                <a:xfrm>
                  <a:off x="5961" y="10621"/>
                  <a:ext cx="952" cy="568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29" name="AutoShape 55"/>
                <p:cNvCxnSpPr>
                  <a:cxnSpLocks noChangeShapeType="1"/>
                </p:cNvCxnSpPr>
                <p:nvPr/>
              </p:nvCxnSpPr>
              <p:spPr bwMode="auto">
                <a:xfrm>
                  <a:off x="5961" y="10621"/>
                  <a:ext cx="952" cy="113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0" name="AutoShape 56"/>
                <p:cNvCxnSpPr>
                  <a:cxnSpLocks noChangeShapeType="1"/>
                </p:cNvCxnSpPr>
                <p:nvPr/>
              </p:nvCxnSpPr>
              <p:spPr bwMode="auto">
                <a:xfrm>
                  <a:off x="5971" y="10621"/>
                  <a:ext cx="942" cy="169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1" name="AutoShape 57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71" y="10062"/>
                  <a:ext cx="942" cy="1194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2" name="AutoShape 58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71" y="10621"/>
                  <a:ext cx="942" cy="63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3" name="AutoShape 59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81" y="11189"/>
                  <a:ext cx="932" cy="6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4" name="AutoShape 60"/>
                <p:cNvCxnSpPr>
                  <a:cxnSpLocks noChangeShapeType="1"/>
                </p:cNvCxnSpPr>
                <p:nvPr/>
              </p:nvCxnSpPr>
              <p:spPr bwMode="auto">
                <a:xfrm>
                  <a:off x="5981" y="11256"/>
                  <a:ext cx="932" cy="50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5" name="AutoShape 61"/>
                <p:cNvCxnSpPr>
                  <a:cxnSpLocks noChangeShapeType="1"/>
                </p:cNvCxnSpPr>
                <p:nvPr/>
              </p:nvCxnSpPr>
              <p:spPr bwMode="auto">
                <a:xfrm>
                  <a:off x="5991" y="11256"/>
                  <a:ext cx="922" cy="106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6" name="AutoShape 62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51" y="10062"/>
                  <a:ext cx="962" cy="176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7" name="AutoShape 63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51" y="10621"/>
                  <a:ext cx="942" cy="120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8" name="AutoShape 64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61" y="11189"/>
                  <a:ext cx="932" cy="63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39" name="AutoShape 65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61" y="11757"/>
                  <a:ext cx="932" cy="6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0" name="AutoShape 66"/>
                <p:cNvCxnSpPr>
                  <a:cxnSpLocks noChangeShapeType="1"/>
                </p:cNvCxnSpPr>
                <p:nvPr/>
              </p:nvCxnSpPr>
              <p:spPr bwMode="auto">
                <a:xfrm>
                  <a:off x="5971" y="11824"/>
                  <a:ext cx="922" cy="4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1" name="AutoShape 67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41" y="10062"/>
                  <a:ext cx="962" cy="233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2" name="AutoShape 68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41" y="10621"/>
                  <a:ext cx="952" cy="177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3" name="AutoShape 69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51" y="11189"/>
                  <a:ext cx="942" cy="120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4" name="AutoShape 70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51" y="12325"/>
                  <a:ext cx="952" cy="6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5" name="AutoShape 71"/>
                <p:cNvCxnSpPr>
                  <a:cxnSpLocks noChangeShapeType="1"/>
                </p:cNvCxnSpPr>
                <p:nvPr/>
              </p:nvCxnSpPr>
              <p:spPr bwMode="auto">
                <a:xfrm flipV="1">
                  <a:off x="5961" y="11757"/>
                  <a:ext cx="942" cy="63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6" name="AutoShape 72"/>
                <p:cNvCxnSpPr>
                  <a:cxnSpLocks noChangeShapeType="1"/>
                </p:cNvCxnSpPr>
                <p:nvPr/>
              </p:nvCxnSpPr>
              <p:spPr bwMode="auto">
                <a:xfrm>
                  <a:off x="8990" y="10728"/>
                  <a:ext cx="802" cy="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647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8917" y="10349"/>
                  <a:ext cx="1320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output 1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648" name="AutoShape 74"/>
                <p:cNvCxnSpPr>
                  <a:cxnSpLocks noChangeShapeType="1"/>
                </p:cNvCxnSpPr>
                <p:nvPr/>
              </p:nvCxnSpPr>
              <p:spPr bwMode="auto">
                <a:xfrm>
                  <a:off x="7333" y="10062"/>
                  <a:ext cx="1250" cy="68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49" name="AutoShape 75"/>
                <p:cNvCxnSpPr>
                  <a:cxnSpLocks noChangeShapeType="1"/>
                </p:cNvCxnSpPr>
                <p:nvPr/>
              </p:nvCxnSpPr>
              <p:spPr bwMode="auto">
                <a:xfrm>
                  <a:off x="7329" y="10062"/>
                  <a:ext cx="1268" cy="123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0" name="AutoShape 76"/>
                <p:cNvCxnSpPr>
                  <a:cxnSpLocks noChangeShapeType="1"/>
                </p:cNvCxnSpPr>
                <p:nvPr/>
              </p:nvCxnSpPr>
              <p:spPr bwMode="auto">
                <a:xfrm>
                  <a:off x="7343" y="10062"/>
                  <a:ext cx="1240" cy="173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1" name="AutoShape 77"/>
                <p:cNvCxnSpPr>
                  <a:cxnSpLocks noChangeShapeType="1"/>
                </p:cNvCxnSpPr>
                <p:nvPr/>
              </p:nvCxnSpPr>
              <p:spPr bwMode="auto">
                <a:xfrm>
                  <a:off x="7328" y="10641"/>
                  <a:ext cx="1269" cy="10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2" name="AutoShape 78"/>
                <p:cNvCxnSpPr>
                  <a:cxnSpLocks noChangeShapeType="1"/>
                </p:cNvCxnSpPr>
                <p:nvPr/>
              </p:nvCxnSpPr>
              <p:spPr bwMode="auto">
                <a:xfrm>
                  <a:off x="7324" y="10641"/>
                  <a:ext cx="1282" cy="65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3" name="AutoShape 79"/>
                <p:cNvCxnSpPr>
                  <a:cxnSpLocks noChangeShapeType="1"/>
                </p:cNvCxnSpPr>
                <p:nvPr/>
              </p:nvCxnSpPr>
              <p:spPr bwMode="auto">
                <a:xfrm>
                  <a:off x="7338" y="10641"/>
                  <a:ext cx="1245" cy="115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4" name="AutoShape 80"/>
                <p:cNvCxnSpPr>
                  <a:cxnSpLocks noChangeShapeType="1"/>
                </p:cNvCxnSpPr>
                <p:nvPr/>
              </p:nvCxnSpPr>
              <p:spPr bwMode="auto">
                <a:xfrm>
                  <a:off x="7328" y="11200"/>
                  <a:ext cx="1278" cy="9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5" name="AutoShape 81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24" y="10746"/>
                  <a:ext cx="1277" cy="454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6" name="AutoShape 82"/>
                <p:cNvCxnSpPr>
                  <a:cxnSpLocks noChangeShapeType="1"/>
                </p:cNvCxnSpPr>
                <p:nvPr/>
              </p:nvCxnSpPr>
              <p:spPr bwMode="auto">
                <a:xfrm>
                  <a:off x="7324" y="11200"/>
                  <a:ext cx="1277" cy="59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7" name="AutoShape 83"/>
                <p:cNvCxnSpPr>
                  <a:cxnSpLocks noChangeShapeType="1"/>
                </p:cNvCxnSpPr>
                <p:nvPr/>
              </p:nvCxnSpPr>
              <p:spPr bwMode="auto">
                <a:xfrm>
                  <a:off x="7318" y="11799"/>
                  <a:ext cx="1256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8" name="AutoShape 84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14" y="11297"/>
                  <a:ext cx="1260" cy="50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59" name="AutoShape 85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28" y="10746"/>
                  <a:ext cx="1246" cy="105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60" name="AutoShape 86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24" y="11807"/>
                  <a:ext cx="1250" cy="54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61" name="AutoShape 87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38" y="11297"/>
                  <a:ext cx="1263" cy="105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62" name="AutoShape 88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24" y="10746"/>
                  <a:ext cx="1259" cy="160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663" name="AutoShape 89"/>
                <p:cNvCxnSpPr>
                  <a:cxnSpLocks noChangeShapeType="1"/>
                </p:cNvCxnSpPr>
                <p:nvPr/>
              </p:nvCxnSpPr>
              <p:spPr bwMode="auto">
                <a:xfrm>
                  <a:off x="9014" y="11272"/>
                  <a:ext cx="802" cy="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664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8917" y="10903"/>
                  <a:ext cx="1320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output 2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51665" name="AutoShape 91"/>
                <p:cNvCxnSpPr>
                  <a:cxnSpLocks noChangeShapeType="1"/>
                </p:cNvCxnSpPr>
                <p:nvPr/>
              </p:nvCxnSpPr>
              <p:spPr bwMode="auto">
                <a:xfrm>
                  <a:off x="9014" y="11804"/>
                  <a:ext cx="802" cy="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1666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8885" y="11396"/>
                  <a:ext cx="1320" cy="3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ts val="1000"/>
                    </a:spcAft>
                    <a:buNone/>
                  </a:pPr>
                  <a:r>
                    <a:rPr lang="en-US" altLang="en-US" sz="1100">
                      <a:latin typeface="Calibri" panose="020F0502020204030204" pitchFamily="34" charset="0"/>
                    </a:rPr>
                    <a:t>output 3</a:t>
                  </a:r>
                  <a:endParaRPr lang="en-US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1576" name="Oval 93"/>
              <p:cNvSpPr>
                <a:spLocks noChangeArrowheads="1"/>
              </p:cNvSpPr>
              <p:nvPr/>
            </p:nvSpPr>
            <p:spPr bwMode="auto">
              <a:xfrm>
                <a:off x="8574" y="10526"/>
                <a:ext cx="416" cy="72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577" name="Oval 94"/>
              <p:cNvSpPr>
                <a:spLocks noChangeArrowheads="1"/>
              </p:cNvSpPr>
              <p:nvPr/>
            </p:nvSpPr>
            <p:spPr bwMode="auto">
              <a:xfrm>
                <a:off x="8597" y="11066"/>
                <a:ext cx="416" cy="72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1578" name="Oval 95"/>
              <p:cNvSpPr>
                <a:spLocks noChangeArrowheads="1"/>
              </p:cNvSpPr>
              <p:nvPr/>
            </p:nvSpPr>
            <p:spPr bwMode="auto">
              <a:xfrm>
                <a:off x="8597" y="11600"/>
                <a:ext cx="416" cy="720"/>
              </a:xfrm>
              <a:prstGeom prst="ellipse">
                <a:avLst/>
              </a:prstGeom>
              <a:solidFill>
                <a:srgbClr val="FF0000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1572" name="Text Box 96"/>
            <p:cNvSpPr txBox="1">
              <a:spLocks noChangeArrowheads="1"/>
            </p:cNvSpPr>
            <p:nvPr/>
          </p:nvSpPr>
          <p:spPr bwMode="auto">
            <a:xfrm>
              <a:off x="2691" y="8671"/>
              <a:ext cx="1823" cy="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 b="1">
                  <a:latin typeface="Calibri" panose="020F0502020204030204" pitchFamily="34" charset="0"/>
                </a:rPr>
                <a:t>Lớp vào</a:t>
              </a:r>
            </a:p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 b="1">
                  <a:latin typeface="Calibri" panose="020F0502020204030204" pitchFamily="34" charset="0"/>
                </a:rPr>
                <a:t>(Input layer)</a:t>
              </a:r>
              <a:endParaRPr lang="en-US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51573" name="Text Box 97"/>
            <p:cNvSpPr txBox="1">
              <a:spLocks noChangeArrowheads="1"/>
            </p:cNvSpPr>
            <p:nvPr/>
          </p:nvSpPr>
          <p:spPr bwMode="auto">
            <a:xfrm>
              <a:off x="7425" y="8594"/>
              <a:ext cx="1823" cy="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 b="1">
                  <a:latin typeface="Calibri" panose="020F0502020204030204" pitchFamily="34" charset="0"/>
                </a:rPr>
                <a:t>Lớp ra</a:t>
              </a:r>
              <a:endParaRPr lang="en-US" altLang="en-US" sz="1100" b="1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 b="1">
                  <a:latin typeface="Calibri" panose="020F0502020204030204" pitchFamily="34" charset="0"/>
                </a:rPr>
                <a:t>(Output layer)</a:t>
              </a:r>
              <a:endParaRPr lang="en-US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51574" name="Text Box 98"/>
            <p:cNvSpPr txBox="1">
              <a:spLocks noChangeArrowheads="1"/>
            </p:cNvSpPr>
            <p:nvPr/>
          </p:nvSpPr>
          <p:spPr bwMode="auto">
            <a:xfrm>
              <a:off x="5050" y="8426"/>
              <a:ext cx="1823" cy="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 b="1">
                  <a:latin typeface="Calibri" panose="020F0502020204030204" pitchFamily="34" charset="0"/>
                </a:rPr>
                <a:t>Các lớp ẩn</a:t>
              </a:r>
              <a:endParaRPr lang="en-US" altLang="en-US" sz="1100" b="1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 b="1">
                  <a:latin typeface="Calibri" panose="020F0502020204030204" pitchFamily="34" charset="0"/>
                </a:rPr>
                <a:t>(Hidden layer)</a:t>
              </a:r>
              <a:endParaRPr lang="en-US" altLang="en-US" sz="18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15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116" name="Straight Connector 115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80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5" name="Rectangle 19"/>
          <p:cNvSpPr>
            <a:spLocks noChangeArrowheads="1"/>
          </p:cNvSpPr>
          <p:nvPr/>
        </p:nvSpPr>
        <p:spPr bwMode="auto">
          <a:xfrm>
            <a:off x="653144" y="1039812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18" name="Rectangle 114"/>
          <p:cNvSpPr>
            <a:spLocks noChangeArrowheads="1"/>
          </p:cNvSpPr>
          <p:nvPr/>
        </p:nvSpPr>
        <p:spPr bwMode="auto">
          <a:xfrm>
            <a:off x="653144" y="1905000"/>
            <a:ext cx="1025434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2000" b="1" dirty="0">
                <a:latin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trị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x</a:t>
            </a:r>
            <a:r>
              <a:rPr lang="fr-FR" altLang="en-US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mang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chất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khách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quan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đối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với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một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ron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trong</a:t>
            </a:r>
            <a:r>
              <a:rPr lang="fr-FR" altLang="en-US" sz="2000" b="1" dirty="0">
                <a:latin typeface="Times New Roman" panose="02020603050405020304" pitchFamily="18" charset="0"/>
              </a:rPr>
              <a:t> khi,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mang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chất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chủ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quan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ảnh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hưởng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tới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độ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xác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của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kết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quả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phân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lớp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hay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dự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báo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653144" y="3048001"/>
            <a:ext cx="1025434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Việc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xác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định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bộ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tốt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cho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một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nơ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ron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là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công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việc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quan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gọi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là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(</a:t>
            </a:r>
            <a:r>
              <a:rPr lang="fr-FR" altLang="en-US" sz="20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trainning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653143" y="3962400"/>
            <a:ext cx="1051559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2000" b="1" dirty="0">
                <a:latin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kỹ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thuật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hay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kỹ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thuật</a:t>
            </a:r>
            <a:r>
              <a:rPr lang="fr-FR" altLang="en-US" sz="2000" b="1" dirty="0">
                <a:latin typeface="Times New Roman" panose="02020603050405020304" pitchFamily="18" charset="0"/>
              </a:rPr>
              <a:t> học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của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chia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làm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nhiều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loại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	học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có</a:t>
            </a:r>
            <a:r>
              <a:rPr lang="fr-FR" altLang="en-US" sz="2000" b="1" dirty="0">
                <a:latin typeface="Times New Roman" panose="02020603050405020304" pitchFamily="18" charset="0"/>
              </a:rPr>
              <a:t> giám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sát</a:t>
            </a:r>
            <a:r>
              <a:rPr lang="fr-FR" altLang="en-US" sz="2000" b="1" dirty="0">
                <a:latin typeface="Times New Roman" panose="02020603050405020304" pitchFamily="18" charset="0"/>
              </a:rPr>
              <a:t> (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supervised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learning</a:t>
            </a:r>
            <a:r>
              <a:rPr lang="fr-FR" altLang="en-US" sz="2000" b="1" dirty="0">
                <a:latin typeface="Times New Roman" panose="02020603050405020304" pitchFamily="18" charset="0"/>
              </a:rPr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	học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không</a:t>
            </a:r>
            <a:r>
              <a:rPr lang="fr-FR" altLang="en-US" sz="2000" b="1" dirty="0">
                <a:latin typeface="Times New Roman" panose="02020603050405020304" pitchFamily="18" charset="0"/>
              </a:rPr>
              <a:t> giám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sát</a:t>
            </a:r>
            <a:r>
              <a:rPr lang="fr-FR" altLang="en-US" sz="2000" b="1" dirty="0">
                <a:latin typeface="Times New Roman" panose="02020603050405020304" pitchFamily="18" charset="0"/>
              </a:rPr>
              <a:t> (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unsupervised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learning</a:t>
            </a:r>
            <a:r>
              <a:rPr lang="fr-FR" altLang="en-US" sz="2000" b="1" dirty="0">
                <a:latin typeface="Times New Roman" panose="02020603050405020304" pitchFamily="18" charset="0"/>
              </a:rPr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	học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bán</a:t>
            </a:r>
            <a:r>
              <a:rPr lang="fr-FR" altLang="en-US" sz="2000" b="1" dirty="0">
                <a:latin typeface="Times New Roman" panose="02020603050405020304" pitchFamily="18" charset="0"/>
              </a:rPr>
              <a:t> giám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sát</a:t>
            </a:r>
            <a:r>
              <a:rPr lang="fr-FR" altLang="en-US" sz="2000" b="1" dirty="0">
                <a:latin typeface="Times New Roman" panose="02020603050405020304" pitchFamily="18" charset="0"/>
              </a:rPr>
              <a:t> (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semi-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supervised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learning</a:t>
            </a:r>
            <a:r>
              <a:rPr lang="fr-FR" altLang="en-US" sz="2000" b="1" dirty="0">
                <a:latin typeface="Times New Roman" panose="02020603050405020304" pitchFamily="18" charset="0"/>
              </a:rPr>
              <a:t>)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17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63" name="Rectangle 19"/>
          <p:cNvSpPr>
            <a:spLocks noChangeArrowheads="1"/>
          </p:cNvSpPr>
          <p:nvPr/>
        </p:nvSpPr>
        <p:spPr bwMode="auto">
          <a:xfrm>
            <a:off x="496389" y="942976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B0D9C6-204F-4748-92AE-B6B2F74B752B}"/>
              </a:ext>
            </a:extLst>
          </p:cNvPr>
          <p:cNvSpPr/>
          <p:nvPr/>
        </p:nvSpPr>
        <p:spPr>
          <a:xfrm>
            <a:off x="420189" y="1549401"/>
            <a:ext cx="9943011" cy="10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Char char="•"/>
              <a:defRPr/>
            </a:pPr>
            <a:r>
              <a:rPr lang="fr-FR" sz="2000" b="1" dirty="0">
                <a:solidFill>
                  <a:srgbClr val="FF0000"/>
                </a:solidFill>
                <a:cs typeface="Arial" charset="0"/>
              </a:rPr>
              <a:t>  </a:t>
            </a:r>
            <a:r>
              <a:rPr lang="fr-FR" sz="2000" b="1" dirty="0" err="1">
                <a:solidFill>
                  <a:srgbClr val="FF0000"/>
                </a:solidFill>
                <a:cs typeface="Arial" charset="0"/>
              </a:rPr>
              <a:t>Kỹ</a:t>
            </a:r>
            <a:r>
              <a:rPr lang="fr-FR" sz="2000" b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fr-FR" sz="2000" b="1" dirty="0" err="1">
                <a:solidFill>
                  <a:srgbClr val="FF0000"/>
                </a:solidFill>
                <a:cs typeface="Arial" charset="0"/>
              </a:rPr>
              <a:t>thuật</a:t>
            </a:r>
            <a:r>
              <a:rPr lang="fr-FR" sz="2000" b="1" dirty="0">
                <a:solidFill>
                  <a:srgbClr val="FF0000"/>
                </a:solidFill>
                <a:cs typeface="Arial" charset="0"/>
              </a:rPr>
              <a:t> học </a:t>
            </a:r>
            <a:r>
              <a:rPr lang="fr-FR" sz="2000" b="1" dirty="0" err="1">
                <a:solidFill>
                  <a:srgbClr val="FF0000"/>
                </a:solidFill>
                <a:cs typeface="Arial" charset="0"/>
              </a:rPr>
              <a:t>có</a:t>
            </a:r>
            <a:r>
              <a:rPr lang="fr-FR" sz="2000" b="1" dirty="0">
                <a:solidFill>
                  <a:srgbClr val="FF0000"/>
                </a:solidFill>
                <a:cs typeface="Arial" charset="0"/>
              </a:rPr>
              <a:t> giám </a:t>
            </a:r>
            <a:r>
              <a:rPr lang="fr-FR" sz="2000" b="1" dirty="0" err="1">
                <a:solidFill>
                  <a:srgbClr val="FF0000"/>
                </a:solidFill>
                <a:cs typeface="Arial" charset="0"/>
              </a:rPr>
              <a:t>sát</a:t>
            </a:r>
            <a:r>
              <a:rPr lang="fr-FR" sz="2000" b="1" dirty="0">
                <a:solidFill>
                  <a:srgbClr val="FF0000"/>
                </a:solidFill>
                <a:cs typeface="Arial" charset="0"/>
              </a:rPr>
              <a:t>:</a:t>
            </a:r>
          </a:p>
          <a:p>
            <a:pPr marL="231775">
              <a:defRPr/>
            </a:pPr>
            <a:r>
              <a:rPr lang="fr-FR" sz="2000" b="1" dirty="0" err="1">
                <a:cs typeface="Arial" charset="0"/>
              </a:rPr>
              <a:t>Mạng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được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cung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cấp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một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tập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gồm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i="1" dirty="0">
                <a:cs typeface="Arial" charset="0"/>
              </a:rPr>
              <a:t>n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mẫu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dữ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liệu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huấn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luyện</a:t>
            </a:r>
            <a:r>
              <a:rPr lang="fr-FR" sz="2000" b="1" dirty="0">
                <a:cs typeface="Arial" charset="0"/>
              </a:rPr>
              <a:t> (</a:t>
            </a:r>
            <a:r>
              <a:rPr lang="fr-FR" sz="2000" b="1" i="1" dirty="0" err="1">
                <a:cs typeface="Arial" charset="0"/>
              </a:rPr>
              <a:t>x</a:t>
            </a:r>
            <a:r>
              <a:rPr lang="fr-FR" sz="2000" b="1" i="1" baseline="-25000" dirty="0" err="1">
                <a:cs typeface="Arial" charset="0"/>
              </a:rPr>
              <a:t>i</a:t>
            </a:r>
            <a:r>
              <a:rPr lang="fr-FR" sz="2000" b="1" i="1" dirty="0" err="1">
                <a:cs typeface="Arial" charset="0"/>
              </a:rPr>
              <a:t>,y</a:t>
            </a:r>
            <a:r>
              <a:rPr lang="fr-FR" sz="2000" b="1" i="1" baseline="-25000" dirty="0" err="1">
                <a:cs typeface="Arial" charset="0"/>
              </a:rPr>
              <a:t>i</a:t>
            </a:r>
            <a:r>
              <a:rPr lang="fr-FR" sz="2000" b="1" dirty="0">
                <a:cs typeface="Arial" charset="0"/>
              </a:rPr>
              <a:t>) </a:t>
            </a:r>
            <a:r>
              <a:rPr lang="fr-FR" sz="2000" b="1" dirty="0" err="1">
                <a:cs typeface="Arial" charset="0"/>
              </a:rPr>
              <a:t>theo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nghĩa</a:t>
            </a:r>
            <a:r>
              <a:rPr lang="fr-FR" sz="2000" b="1" dirty="0">
                <a:cs typeface="Arial" charset="0"/>
              </a:rPr>
              <a:t>: </a:t>
            </a:r>
            <a:r>
              <a:rPr lang="fr-FR" sz="2000" b="1" dirty="0" err="1">
                <a:cs typeface="Arial" charset="0"/>
              </a:rPr>
              <a:t>nếu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i="1" dirty="0">
                <a:cs typeface="Arial" charset="0"/>
              </a:rPr>
              <a:t>x</a:t>
            </a:r>
            <a:r>
              <a:rPr lang="fr-FR" sz="2000" b="1" i="1" baseline="-25000" dirty="0">
                <a:cs typeface="Arial" charset="0"/>
              </a:rPr>
              <a:t>i</a:t>
            </a:r>
            <a:r>
              <a:rPr lang="fr-FR" sz="2000" b="1" i="1" dirty="0">
                <a:cs typeface="Arial" charset="0"/>
              </a:rPr>
              <a:t> </a:t>
            </a:r>
            <a:r>
              <a:rPr lang="fr-FR" sz="2000" b="1" dirty="0">
                <a:cs typeface="Arial" charset="0"/>
              </a:rPr>
              <a:t>là </a:t>
            </a:r>
            <a:r>
              <a:rPr lang="fr-FR" sz="2000" b="1" dirty="0" err="1">
                <a:cs typeface="Arial" charset="0"/>
              </a:rPr>
              <a:t>các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tín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hiệu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vào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thì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kết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quả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đúng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tại</a:t>
            </a:r>
            <a:r>
              <a:rPr lang="fr-FR" sz="2000" b="1" dirty="0">
                <a:cs typeface="Arial" charset="0"/>
              </a:rPr>
              <a:t> </a:t>
            </a:r>
            <a:r>
              <a:rPr lang="fr-FR" sz="2000" b="1" dirty="0" err="1">
                <a:cs typeface="Arial" charset="0"/>
              </a:rPr>
              <a:t>đầu</a:t>
            </a:r>
            <a:r>
              <a:rPr lang="fr-FR" sz="2000" b="1" dirty="0">
                <a:cs typeface="Arial" charset="0"/>
              </a:rPr>
              <a:t> ra </a:t>
            </a:r>
            <a:r>
              <a:rPr lang="fr-FR" sz="2000" b="1" dirty="0" err="1">
                <a:cs typeface="Arial" charset="0"/>
              </a:rPr>
              <a:t>phải</a:t>
            </a:r>
            <a:r>
              <a:rPr lang="fr-FR" sz="2000" b="1" dirty="0">
                <a:cs typeface="Arial" charset="0"/>
              </a:rPr>
              <a:t> là </a:t>
            </a:r>
            <a:r>
              <a:rPr lang="fr-FR" sz="2000" b="1" i="1" dirty="0">
                <a:cs typeface="Arial" charset="0"/>
              </a:rPr>
              <a:t>y</a:t>
            </a:r>
            <a:r>
              <a:rPr lang="fr-FR" sz="2000" b="1" i="1" baseline="-25000" dirty="0">
                <a:cs typeface="Arial" charset="0"/>
              </a:rPr>
              <a:t>i</a:t>
            </a:r>
            <a:endParaRPr lang="en-US" sz="2000" b="1" baseline="-25000" dirty="0">
              <a:cs typeface="Arial" charset="0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496389" y="3276601"/>
            <a:ext cx="1059397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 err="1">
                <a:latin typeface="Times New Roman" panose="02020603050405020304" pitchFamily="18" charset="0"/>
              </a:rPr>
              <a:t>Mỗi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véc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hiệu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x</a:t>
            </a:r>
            <a:r>
              <a:rPr lang="fr-FR" altLang="en-US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đưa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sau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đó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sánh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sự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sai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khác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giữa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kết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quả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thu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đúng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y</a:t>
            </a:r>
            <a:r>
              <a:rPr lang="fr-FR" altLang="en-US" sz="2000" b="1" i="1" baseline="-25000" dirty="0">
                <a:latin typeface="Times New Roman" panose="02020603050405020304" pitchFamily="18" charset="0"/>
              </a:rPr>
              <a:t>i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496389" y="4191001"/>
            <a:ext cx="1090748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Sai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này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sẽ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dùng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để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hiệu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chỉnh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liên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kết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trong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với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mục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tiêu</a:t>
            </a:r>
            <a:r>
              <a:rPr lang="fr-FR" altLang="en-US" sz="2000" b="1" dirty="0">
                <a:latin typeface="Times New Roman" panose="02020603050405020304" pitchFamily="18" charset="0"/>
              </a:rPr>
              <a:t> là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giảm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thiểu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sai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96389" y="5105401"/>
            <a:ext cx="1105117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 err="1">
                <a:latin typeface="Times New Roman" panose="02020603050405020304" pitchFamily="18" charset="0"/>
              </a:rPr>
              <a:t>Quá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trình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sẽ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tiếp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tục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đến</a:t>
            </a:r>
            <a:r>
              <a:rPr lang="fr-FR" altLang="en-US" sz="2000" b="1" dirty="0">
                <a:latin typeface="Times New Roman" panose="02020603050405020304" pitchFamily="18" charset="0"/>
              </a:rPr>
              <a:t> khi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dụng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hết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dữ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liệu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hoặc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kết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quả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ra là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chấp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4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11" name="Rectangle 19"/>
          <p:cNvSpPr>
            <a:spLocks noChangeArrowheads="1"/>
          </p:cNvSpPr>
          <p:nvPr/>
        </p:nvSpPr>
        <p:spPr bwMode="auto">
          <a:xfrm>
            <a:off x="653144" y="958851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14" name="Rectangle 1"/>
          <p:cNvSpPr>
            <a:spLocks noChangeArrowheads="1"/>
          </p:cNvSpPr>
          <p:nvPr/>
        </p:nvSpPr>
        <p:spPr bwMode="auto">
          <a:xfrm>
            <a:off x="653144" y="1904228"/>
            <a:ext cx="1056785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giám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khi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giám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en-US" sz="20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60%-90%.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khi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đắt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17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59" name="Rectangle 19"/>
          <p:cNvSpPr>
            <a:spLocks noChangeArrowheads="1"/>
          </p:cNvSpPr>
          <p:nvPr/>
        </p:nvSpPr>
        <p:spPr bwMode="auto">
          <a:xfrm>
            <a:off x="623093" y="1006654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62" name="Rectangle 1"/>
          <p:cNvSpPr>
            <a:spLocks noChangeArrowheads="1"/>
          </p:cNvSpPr>
          <p:nvPr/>
        </p:nvSpPr>
        <p:spPr bwMode="auto">
          <a:xfrm>
            <a:off x="621981" y="1628542"/>
            <a:ext cx="8229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Perceptron</a:t>
            </a:r>
          </a:p>
        </p:txBody>
      </p:sp>
      <p:sp>
        <p:nvSpPr>
          <p:cNvPr id="159763" name="Rectangle 18"/>
          <p:cNvSpPr>
            <a:spLocks noChangeArrowheads="1"/>
          </p:cNvSpPr>
          <p:nvPr/>
        </p:nvSpPr>
        <p:spPr bwMode="auto">
          <a:xfrm>
            <a:off x="731520" y="2438401"/>
            <a:ext cx="978408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2000" b="1" dirty="0">
                <a:latin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Perceptron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đơn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chỉ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bao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gồm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một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lớp</a:t>
            </a:r>
            <a:r>
              <a:rPr lang="fr-FR" altLang="en-US" sz="2000" b="1" dirty="0">
                <a:latin typeface="Times New Roman" panose="02020603050405020304" pitchFamily="18" charset="0"/>
              </a:rPr>
              <a:t> (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Singer Layer Network</a:t>
            </a:r>
            <a:r>
              <a:rPr lang="fr-FR" altLang="en-US" sz="2000" b="1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z="2000" b="1" dirty="0">
                <a:latin typeface="Times New Roman" panose="02020603050405020304" pitchFamily="18" charset="0"/>
              </a:rPr>
              <a:t>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Nó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nên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từ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M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ron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nhân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mỗi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ron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hiệu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vào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239589" y="3257007"/>
            <a:ext cx="3762101" cy="2934787"/>
            <a:chOff x="4834" y="2266"/>
            <a:chExt cx="3662" cy="3637"/>
          </a:xfrm>
        </p:grpSpPr>
        <p:sp>
          <p:nvSpPr>
            <p:cNvPr id="159765" name="Text Box 3"/>
            <p:cNvSpPr txBox="1">
              <a:spLocks noChangeArrowheads="1"/>
            </p:cNvSpPr>
            <p:nvPr/>
          </p:nvSpPr>
          <p:spPr bwMode="auto">
            <a:xfrm>
              <a:off x="5161" y="4315"/>
              <a:ext cx="901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Times New Roman" panose="02020603050405020304" pitchFamily="18" charset="0"/>
                </a:rPr>
                <a:t>...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66" name="Text Box 4"/>
            <p:cNvSpPr txBox="1">
              <a:spLocks noChangeArrowheads="1"/>
            </p:cNvSpPr>
            <p:nvPr/>
          </p:nvSpPr>
          <p:spPr bwMode="auto">
            <a:xfrm>
              <a:off x="6793" y="4833"/>
              <a:ext cx="901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Times New Roman" panose="02020603050405020304" pitchFamily="18" charset="0"/>
                </a:rPr>
                <a:t>...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67" name="Oval 5"/>
            <p:cNvSpPr>
              <a:spLocks noChangeArrowheads="1"/>
            </p:cNvSpPr>
            <p:nvPr/>
          </p:nvSpPr>
          <p:spPr bwMode="auto">
            <a:xfrm>
              <a:off x="6779" y="3031"/>
              <a:ext cx="416" cy="69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68" name="Oval 6"/>
            <p:cNvSpPr>
              <a:spLocks noChangeArrowheads="1"/>
            </p:cNvSpPr>
            <p:nvPr/>
          </p:nvSpPr>
          <p:spPr bwMode="auto">
            <a:xfrm>
              <a:off x="6802" y="3571"/>
              <a:ext cx="416" cy="69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69" name="Oval 7"/>
            <p:cNvSpPr>
              <a:spLocks noChangeArrowheads="1"/>
            </p:cNvSpPr>
            <p:nvPr/>
          </p:nvSpPr>
          <p:spPr bwMode="auto">
            <a:xfrm>
              <a:off x="6802" y="4105"/>
              <a:ext cx="416" cy="69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70" name="Rectangle 8"/>
            <p:cNvSpPr>
              <a:spLocks noChangeArrowheads="1"/>
            </p:cNvSpPr>
            <p:nvPr/>
          </p:nvSpPr>
          <p:spPr bwMode="auto">
            <a:xfrm>
              <a:off x="5305" y="3155"/>
              <a:ext cx="209" cy="493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71" name="AutoShape 9"/>
            <p:cNvCxnSpPr>
              <a:cxnSpLocks noChangeShapeType="1"/>
            </p:cNvCxnSpPr>
            <p:nvPr/>
          </p:nvCxnSpPr>
          <p:spPr bwMode="auto">
            <a:xfrm>
              <a:off x="4936" y="3249"/>
              <a:ext cx="3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72" name="Text Box 10"/>
            <p:cNvSpPr txBox="1">
              <a:spLocks noChangeArrowheads="1"/>
            </p:cNvSpPr>
            <p:nvPr/>
          </p:nvSpPr>
          <p:spPr bwMode="auto">
            <a:xfrm>
              <a:off x="4839" y="2911"/>
              <a:ext cx="62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x</a:t>
              </a:r>
              <a:r>
                <a:rPr lang="en-US" altLang="en-US" sz="1100" baseline="-25000">
                  <a:latin typeface="Calibri" panose="020F0502020204030204" pitchFamily="34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73" name="Rectangle 11"/>
            <p:cNvSpPr>
              <a:spLocks noChangeArrowheads="1"/>
            </p:cNvSpPr>
            <p:nvPr/>
          </p:nvSpPr>
          <p:spPr bwMode="auto">
            <a:xfrm>
              <a:off x="5300" y="3695"/>
              <a:ext cx="209" cy="493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74" name="AutoShape 12"/>
            <p:cNvCxnSpPr>
              <a:cxnSpLocks noChangeShapeType="1"/>
            </p:cNvCxnSpPr>
            <p:nvPr/>
          </p:nvCxnSpPr>
          <p:spPr bwMode="auto">
            <a:xfrm>
              <a:off x="4931" y="3789"/>
              <a:ext cx="3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75" name="Text Box 13"/>
            <p:cNvSpPr txBox="1">
              <a:spLocks noChangeArrowheads="1"/>
            </p:cNvSpPr>
            <p:nvPr/>
          </p:nvSpPr>
          <p:spPr bwMode="auto">
            <a:xfrm>
              <a:off x="4834" y="3451"/>
              <a:ext cx="62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x</a:t>
              </a:r>
              <a:r>
                <a:rPr lang="en-US" altLang="en-US" sz="1100" baseline="-25000">
                  <a:latin typeface="Calibri" panose="020F0502020204030204" pitchFamily="34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76" name="Rectangle 14"/>
            <p:cNvSpPr>
              <a:spLocks noChangeArrowheads="1"/>
            </p:cNvSpPr>
            <p:nvPr/>
          </p:nvSpPr>
          <p:spPr bwMode="auto">
            <a:xfrm>
              <a:off x="5296" y="4236"/>
              <a:ext cx="209" cy="493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77" name="AutoShape 15"/>
            <p:cNvCxnSpPr>
              <a:cxnSpLocks noChangeShapeType="1"/>
            </p:cNvCxnSpPr>
            <p:nvPr/>
          </p:nvCxnSpPr>
          <p:spPr bwMode="auto">
            <a:xfrm>
              <a:off x="4927" y="4330"/>
              <a:ext cx="3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78" name="Rectangle 16"/>
            <p:cNvSpPr>
              <a:spLocks noChangeArrowheads="1"/>
            </p:cNvSpPr>
            <p:nvPr/>
          </p:nvSpPr>
          <p:spPr bwMode="auto">
            <a:xfrm>
              <a:off x="5291" y="4748"/>
              <a:ext cx="209" cy="493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79" name="AutoShape 17"/>
            <p:cNvCxnSpPr>
              <a:cxnSpLocks noChangeShapeType="1"/>
            </p:cNvCxnSpPr>
            <p:nvPr/>
          </p:nvCxnSpPr>
          <p:spPr bwMode="auto">
            <a:xfrm>
              <a:off x="4922" y="4842"/>
              <a:ext cx="3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80" name="Text Box 18"/>
            <p:cNvSpPr txBox="1">
              <a:spLocks noChangeArrowheads="1"/>
            </p:cNvSpPr>
            <p:nvPr/>
          </p:nvSpPr>
          <p:spPr bwMode="auto">
            <a:xfrm>
              <a:off x="4834" y="4003"/>
              <a:ext cx="62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x</a:t>
              </a:r>
              <a:r>
                <a:rPr lang="en-US" altLang="en-US" sz="1100" baseline="-25000">
                  <a:latin typeface="Calibri" panose="020F0502020204030204" pitchFamily="34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81" name="Text Box 19"/>
            <p:cNvSpPr txBox="1">
              <a:spLocks noChangeArrowheads="1"/>
            </p:cNvSpPr>
            <p:nvPr/>
          </p:nvSpPr>
          <p:spPr bwMode="auto">
            <a:xfrm>
              <a:off x="4834" y="4491"/>
              <a:ext cx="62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x</a:t>
              </a:r>
              <a:r>
                <a:rPr lang="en-US" altLang="en-US" sz="1100" baseline="-25000">
                  <a:latin typeface="Calibri" panose="020F0502020204030204" pitchFamily="34" charset="0"/>
                </a:rPr>
                <a:t>N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82" name="AutoShape 20"/>
            <p:cNvCxnSpPr>
              <a:cxnSpLocks noChangeShapeType="1"/>
            </p:cNvCxnSpPr>
            <p:nvPr/>
          </p:nvCxnSpPr>
          <p:spPr bwMode="auto">
            <a:xfrm>
              <a:off x="5524" y="3249"/>
              <a:ext cx="1241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83" name="AutoShape 21"/>
            <p:cNvCxnSpPr>
              <a:cxnSpLocks noChangeShapeType="1"/>
            </p:cNvCxnSpPr>
            <p:nvPr/>
          </p:nvCxnSpPr>
          <p:spPr bwMode="auto">
            <a:xfrm>
              <a:off x="5520" y="3249"/>
              <a:ext cx="1259" cy="5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84" name="AutoShape 22"/>
            <p:cNvCxnSpPr>
              <a:cxnSpLocks noChangeShapeType="1"/>
            </p:cNvCxnSpPr>
            <p:nvPr/>
          </p:nvCxnSpPr>
          <p:spPr bwMode="auto">
            <a:xfrm>
              <a:off x="5534" y="3249"/>
              <a:ext cx="1269" cy="10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85" name="AutoShape 23"/>
            <p:cNvCxnSpPr>
              <a:cxnSpLocks noChangeShapeType="1"/>
            </p:cNvCxnSpPr>
            <p:nvPr/>
          </p:nvCxnSpPr>
          <p:spPr bwMode="auto">
            <a:xfrm>
              <a:off x="5520" y="3249"/>
              <a:ext cx="1314" cy="15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86" name="AutoShape 24"/>
            <p:cNvCxnSpPr>
              <a:cxnSpLocks noChangeShapeType="1"/>
            </p:cNvCxnSpPr>
            <p:nvPr/>
          </p:nvCxnSpPr>
          <p:spPr bwMode="auto">
            <a:xfrm>
              <a:off x="7195" y="3233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87" name="Text Box 25"/>
            <p:cNvSpPr txBox="1">
              <a:spLocks noChangeArrowheads="1"/>
            </p:cNvSpPr>
            <p:nvPr/>
          </p:nvSpPr>
          <p:spPr bwMode="auto">
            <a:xfrm>
              <a:off x="7122" y="2854"/>
              <a:ext cx="132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 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88" name="AutoShape 26"/>
            <p:cNvCxnSpPr>
              <a:cxnSpLocks noChangeShapeType="1"/>
            </p:cNvCxnSpPr>
            <p:nvPr/>
          </p:nvCxnSpPr>
          <p:spPr bwMode="auto">
            <a:xfrm>
              <a:off x="7219" y="3777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89" name="Text Box 27"/>
            <p:cNvSpPr txBox="1">
              <a:spLocks noChangeArrowheads="1"/>
            </p:cNvSpPr>
            <p:nvPr/>
          </p:nvSpPr>
          <p:spPr bwMode="auto">
            <a:xfrm>
              <a:off x="7122" y="3408"/>
              <a:ext cx="132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 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90" name="AutoShape 28"/>
            <p:cNvCxnSpPr>
              <a:cxnSpLocks noChangeShapeType="1"/>
            </p:cNvCxnSpPr>
            <p:nvPr/>
          </p:nvCxnSpPr>
          <p:spPr bwMode="auto">
            <a:xfrm>
              <a:off x="7219" y="4309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91" name="Text Box 29"/>
            <p:cNvSpPr txBox="1">
              <a:spLocks noChangeArrowheads="1"/>
            </p:cNvSpPr>
            <p:nvPr/>
          </p:nvSpPr>
          <p:spPr bwMode="auto">
            <a:xfrm>
              <a:off x="7090" y="3901"/>
              <a:ext cx="132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 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792" name="Oval 30"/>
            <p:cNvSpPr>
              <a:spLocks noChangeArrowheads="1"/>
            </p:cNvSpPr>
            <p:nvPr/>
          </p:nvSpPr>
          <p:spPr bwMode="auto">
            <a:xfrm>
              <a:off x="6818" y="4622"/>
              <a:ext cx="416" cy="69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93" name="AutoShape 31"/>
            <p:cNvCxnSpPr>
              <a:cxnSpLocks noChangeShapeType="1"/>
            </p:cNvCxnSpPr>
            <p:nvPr/>
          </p:nvCxnSpPr>
          <p:spPr bwMode="auto">
            <a:xfrm>
              <a:off x="7235" y="4826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794" name="Text Box 32"/>
            <p:cNvSpPr txBox="1">
              <a:spLocks noChangeArrowheads="1"/>
            </p:cNvSpPr>
            <p:nvPr/>
          </p:nvSpPr>
          <p:spPr bwMode="auto">
            <a:xfrm>
              <a:off x="7122" y="4418"/>
              <a:ext cx="132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 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795" name="AutoShape 33"/>
            <p:cNvCxnSpPr>
              <a:cxnSpLocks noChangeShapeType="1"/>
            </p:cNvCxnSpPr>
            <p:nvPr/>
          </p:nvCxnSpPr>
          <p:spPr bwMode="auto">
            <a:xfrm>
              <a:off x="5518" y="3777"/>
              <a:ext cx="1241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96" name="AutoShape 34"/>
            <p:cNvCxnSpPr>
              <a:cxnSpLocks noChangeShapeType="1"/>
            </p:cNvCxnSpPr>
            <p:nvPr/>
          </p:nvCxnSpPr>
          <p:spPr bwMode="auto">
            <a:xfrm>
              <a:off x="5514" y="3777"/>
              <a:ext cx="1259" cy="5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97" name="AutoShape 35"/>
            <p:cNvCxnSpPr>
              <a:cxnSpLocks noChangeShapeType="1"/>
            </p:cNvCxnSpPr>
            <p:nvPr/>
          </p:nvCxnSpPr>
          <p:spPr bwMode="auto">
            <a:xfrm>
              <a:off x="5528" y="3777"/>
              <a:ext cx="1269" cy="10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98" name="AutoShape 36"/>
            <p:cNvCxnSpPr>
              <a:cxnSpLocks noChangeShapeType="1"/>
            </p:cNvCxnSpPr>
            <p:nvPr/>
          </p:nvCxnSpPr>
          <p:spPr bwMode="auto">
            <a:xfrm flipV="1">
              <a:off x="5514" y="3251"/>
              <a:ext cx="1245" cy="5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799" name="AutoShape 37"/>
            <p:cNvCxnSpPr>
              <a:cxnSpLocks noChangeShapeType="1"/>
            </p:cNvCxnSpPr>
            <p:nvPr/>
          </p:nvCxnSpPr>
          <p:spPr bwMode="auto">
            <a:xfrm>
              <a:off x="5504" y="4330"/>
              <a:ext cx="1279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0" name="AutoShape 38"/>
            <p:cNvCxnSpPr>
              <a:cxnSpLocks noChangeShapeType="1"/>
            </p:cNvCxnSpPr>
            <p:nvPr/>
          </p:nvCxnSpPr>
          <p:spPr bwMode="auto">
            <a:xfrm>
              <a:off x="5500" y="4330"/>
              <a:ext cx="1314" cy="5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1" name="AutoShape 39"/>
            <p:cNvCxnSpPr>
              <a:cxnSpLocks noChangeShapeType="1"/>
            </p:cNvCxnSpPr>
            <p:nvPr/>
          </p:nvCxnSpPr>
          <p:spPr bwMode="auto">
            <a:xfrm flipV="1">
              <a:off x="5514" y="3777"/>
              <a:ext cx="1269" cy="5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2" name="AutoShape 40"/>
            <p:cNvCxnSpPr>
              <a:cxnSpLocks noChangeShapeType="1"/>
            </p:cNvCxnSpPr>
            <p:nvPr/>
          </p:nvCxnSpPr>
          <p:spPr bwMode="auto">
            <a:xfrm flipV="1">
              <a:off x="5500" y="3251"/>
              <a:ext cx="1259" cy="10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3" name="AutoShape 41"/>
            <p:cNvCxnSpPr>
              <a:cxnSpLocks noChangeShapeType="1"/>
            </p:cNvCxnSpPr>
            <p:nvPr/>
          </p:nvCxnSpPr>
          <p:spPr bwMode="auto">
            <a:xfrm>
              <a:off x="5500" y="4839"/>
              <a:ext cx="1272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4" name="AutoShape 42"/>
            <p:cNvCxnSpPr>
              <a:cxnSpLocks noChangeShapeType="1"/>
            </p:cNvCxnSpPr>
            <p:nvPr/>
          </p:nvCxnSpPr>
          <p:spPr bwMode="auto">
            <a:xfrm flipV="1">
              <a:off x="5489" y="3308"/>
              <a:ext cx="1259" cy="15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5" name="AutoShape 43"/>
            <p:cNvCxnSpPr>
              <a:cxnSpLocks noChangeShapeType="1"/>
            </p:cNvCxnSpPr>
            <p:nvPr/>
          </p:nvCxnSpPr>
          <p:spPr bwMode="auto">
            <a:xfrm flipV="1">
              <a:off x="5503" y="4286"/>
              <a:ext cx="1269" cy="5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06" name="AutoShape 44"/>
            <p:cNvCxnSpPr>
              <a:cxnSpLocks noChangeShapeType="1"/>
            </p:cNvCxnSpPr>
            <p:nvPr/>
          </p:nvCxnSpPr>
          <p:spPr bwMode="auto">
            <a:xfrm flipV="1">
              <a:off x="5489" y="3760"/>
              <a:ext cx="1259" cy="10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807" name="Oval 45"/>
            <p:cNvSpPr>
              <a:spLocks noChangeArrowheads="1"/>
            </p:cNvSpPr>
            <p:nvPr/>
          </p:nvSpPr>
          <p:spPr bwMode="auto">
            <a:xfrm>
              <a:off x="6783" y="2443"/>
              <a:ext cx="416" cy="69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808" name="AutoShape 46"/>
            <p:cNvCxnSpPr>
              <a:cxnSpLocks noChangeShapeType="1"/>
            </p:cNvCxnSpPr>
            <p:nvPr/>
          </p:nvCxnSpPr>
          <p:spPr bwMode="auto">
            <a:xfrm>
              <a:off x="7199" y="2645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809" name="Text Box 47"/>
            <p:cNvSpPr txBox="1">
              <a:spLocks noChangeArrowheads="1"/>
            </p:cNvSpPr>
            <p:nvPr/>
          </p:nvSpPr>
          <p:spPr bwMode="auto">
            <a:xfrm>
              <a:off x="7126" y="2266"/>
              <a:ext cx="132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 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59810" name="Oval 48"/>
            <p:cNvSpPr>
              <a:spLocks noChangeArrowheads="1"/>
            </p:cNvSpPr>
            <p:nvPr/>
          </p:nvSpPr>
          <p:spPr bwMode="auto">
            <a:xfrm>
              <a:off x="6833" y="5210"/>
              <a:ext cx="416" cy="693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811" name="AutoShape 49"/>
            <p:cNvCxnSpPr>
              <a:cxnSpLocks noChangeShapeType="1"/>
            </p:cNvCxnSpPr>
            <p:nvPr/>
          </p:nvCxnSpPr>
          <p:spPr bwMode="auto">
            <a:xfrm>
              <a:off x="7249" y="5412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812" name="Text Box 50"/>
            <p:cNvSpPr txBox="1">
              <a:spLocks noChangeArrowheads="1"/>
            </p:cNvSpPr>
            <p:nvPr/>
          </p:nvSpPr>
          <p:spPr bwMode="auto">
            <a:xfrm>
              <a:off x="7176" y="5033"/>
              <a:ext cx="132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 M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59813" name="AutoShape 51"/>
            <p:cNvCxnSpPr>
              <a:cxnSpLocks noChangeShapeType="1"/>
            </p:cNvCxnSpPr>
            <p:nvPr/>
          </p:nvCxnSpPr>
          <p:spPr bwMode="auto">
            <a:xfrm flipV="1">
              <a:off x="5524" y="2663"/>
              <a:ext cx="1279" cy="5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14" name="AutoShape 52"/>
            <p:cNvCxnSpPr>
              <a:cxnSpLocks noChangeShapeType="1"/>
            </p:cNvCxnSpPr>
            <p:nvPr/>
          </p:nvCxnSpPr>
          <p:spPr bwMode="auto">
            <a:xfrm flipV="1">
              <a:off x="5514" y="2663"/>
              <a:ext cx="1289" cy="11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15" name="AutoShape 53"/>
            <p:cNvCxnSpPr>
              <a:cxnSpLocks noChangeShapeType="1"/>
            </p:cNvCxnSpPr>
            <p:nvPr/>
          </p:nvCxnSpPr>
          <p:spPr bwMode="auto">
            <a:xfrm>
              <a:off x="5520" y="3780"/>
              <a:ext cx="1282" cy="16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16" name="AutoShape 54"/>
            <p:cNvCxnSpPr>
              <a:cxnSpLocks noChangeShapeType="1"/>
            </p:cNvCxnSpPr>
            <p:nvPr/>
          </p:nvCxnSpPr>
          <p:spPr bwMode="auto">
            <a:xfrm>
              <a:off x="5513" y="3231"/>
              <a:ext cx="1305" cy="21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17" name="AutoShape 55"/>
            <p:cNvCxnSpPr>
              <a:cxnSpLocks noChangeShapeType="1"/>
            </p:cNvCxnSpPr>
            <p:nvPr/>
          </p:nvCxnSpPr>
          <p:spPr bwMode="auto">
            <a:xfrm>
              <a:off x="5513" y="4332"/>
              <a:ext cx="1282" cy="10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18" name="AutoShape 56"/>
            <p:cNvCxnSpPr>
              <a:cxnSpLocks noChangeShapeType="1"/>
            </p:cNvCxnSpPr>
            <p:nvPr/>
          </p:nvCxnSpPr>
          <p:spPr bwMode="auto">
            <a:xfrm flipV="1">
              <a:off x="5505" y="2663"/>
              <a:ext cx="1254" cy="164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19" name="AutoShape 57"/>
            <p:cNvCxnSpPr>
              <a:cxnSpLocks noChangeShapeType="1"/>
            </p:cNvCxnSpPr>
            <p:nvPr/>
          </p:nvCxnSpPr>
          <p:spPr bwMode="auto">
            <a:xfrm>
              <a:off x="5513" y="4858"/>
              <a:ext cx="1305" cy="5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820" name="AutoShape 58"/>
            <p:cNvCxnSpPr>
              <a:cxnSpLocks noChangeShapeType="1"/>
            </p:cNvCxnSpPr>
            <p:nvPr/>
          </p:nvCxnSpPr>
          <p:spPr bwMode="auto">
            <a:xfrm flipV="1">
              <a:off x="5505" y="2663"/>
              <a:ext cx="1278" cy="21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7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09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07" name="Rectangle 19"/>
          <p:cNvSpPr>
            <a:spLocks noChangeArrowheads="1"/>
          </p:cNvSpPr>
          <p:nvPr/>
        </p:nvSpPr>
        <p:spPr bwMode="auto">
          <a:xfrm>
            <a:off x="548641" y="987425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810" name="Rectangle 1"/>
          <p:cNvSpPr>
            <a:spLocks noChangeArrowheads="1"/>
          </p:cNvSpPr>
          <p:nvPr/>
        </p:nvSpPr>
        <p:spPr bwMode="auto">
          <a:xfrm>
            <a:off x="548641" y="1462443"/>
            <a:ext cx="8229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Perceptron</a:t>
            </a:r>
          </a:p>
        </p:txBody>
      </p:sp>
      <p:sp>
        <p:nvSpPr>
          <p:cNvPr id="161811" name="Rectangle 18"/>
          <p:cNvSpPr>
            <a:spLocks noChangeArrowheads="1"/>
          </p:cNvSpPr>
          <p:nvPr/>
        </p:nvSpPr>
        <p:spPr bwMode="auto">
          <a:xfrm>
            <a:off x="862148" y="2113317"/>
            <a:ext cx="868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Giả sử mạng có M nơ ron, mỗi nơ ron có N tín hiệu đầu vào</a:t>
            </a:r>
          </a:p>
        </p:txBody>
      </p:sp>
      <p:sp>
        <p:nvSpPr>
          <p:cNvPr id="161812" name="Rectangle 76"/>
          <p:cNvSpPr>
            <a:spLocks noChangeArrowheads="1"/>
          </p:cNvSpPr>
          <p:nvPr/>
        </p:nvSpPr>
        <p:spPr bwMode="auto">
          <a:xfrm>
            <a:off x="862148" y="2570517"/>
            <a:ext cx="868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Ma trận trọng số sẽ có kích thước M × N</a:t>
            </a:r>
          </a:p>
        </p:txBody>
      </p:sp>
      <p:graphicFrame>
        <p:nvGraphicFramePr>
          <p:cNvPr id="1618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714086"/>
              </p:ext>
            </p:extLst>
          </p:nvPr>
        </p:nvGraphicFramePr>
        <p:xfrm>
          <a:off x="3230879" y="3137264"/>
          <a:ext cx="4463143" cy="2310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7" name="Equation" r:id="rId4" imgW="1803400" imgH="939800" progId="Equation.3">
                  <p:embed/>
                </p:oleObj>
              </mc:Choice>
              <mc:Fallback>
                <p:oleObj name="Equation" r:id="rId4" imgW="1803400" imgH="939800" progId="Equation.3">
                  <p:embed/>
                  <p:pic>
                    <p:nvPicPr>
                      <p:cNvPr id="1618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879" y="3137264"/>
                        <a:ext cx="4463143" cy="2310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22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5" name="Rectangle 19"/>
          <p:cNvSpPr>
            <a:spLocks noChangeArrowheads="1"/>
          </p:cNvSpPr>
          <p:nvPr/>
        </p:nvSpPr>
        <p:spPr bwMode="auto">
          <a:xfrm>
            <a:off x="623093" y="982129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58" name="Rectangle 1"/>
          <p:cNvSpPr>
            <a:spLocks noChangeArrowheads="1"/>
          </p:cNvSpPr>
          <p:nvPr/>
        </p:nvSpPr>
        <p:spPr bwMode="auto">
          <a:xfrm>
            <a:off x="623092" y="1411568"/>
            <a:ext cx="8229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Huấn luyện mạng Perceptron</a:t>
            </a:r>
          </a:p>
        </p:txBody>
      </p:sp>
      <p:sp>
        <p:nvSpPr>
          <p:cNvPr id="163859" name="Rectangle 18"/>
          <p:cNvSpPr>
            <a:spLocks noChangeArrowheads="1"/>
          </p:cNvSpPr>
          <p:nvPr/>
        </p:nvSpPr>
        <p:spPr bwMode="auto">
          <a:xfrm>
            <a:off x="623092" y="2045543"/>
            <a:ext cx="868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Xét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trường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hợp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có</a:t>
            </a:r>
            <a:r>
              <a:rPr lang="en-US" altLang="en-US" sz="2000" b="1" dirty="0">
                <a:latin typeface="Times New Roman" panose="02020603050405020304" pitchFamily="18" charset="0"/>
              </a:rPr>
              <a:t> 1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nơ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ron</a:t>
            </a:r>
            <a:r>
              <a:rPr lang="en-US" altLang="en-US" sz="2000" b="1" dirty="0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163860" name="Group 3"/>
          <p:cNvGrpSpPr>
            <a:grpSpLocks/>
          </p:cNvGrpSpPr>
          <p:nvPr/>
        </p:nvGrpSpPr>
        <p:grpSpPr bwMode="auto">
          <a:xfrm>
            <a:off x="3251992" y="2593776"/>
            <a:ext cx="4768602" cy="2646438"/>
            <a:chOff x="4047" y="10851"/>
            <a:chExt cx="4880" cy="2821"/>
          </a:xfrm>
        </p:grpSpPr>
        <p:sp>
          <p:nvSpPr>
            <p:cNvPr id="163862" name="Text Box 105"/>
            <p:cNvSpPr txBox="1">
              <a:spLocks noChangeArrowheads="1"/>
            </p:cNvSpPr>
            <p:nvPr/>
          </p:nvSpPr>
          <p:spPr bwMode="auto">
            <a:xfrm>
              <a:off x="5846" y="13126"/>
              <a:ext cx="391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3863" name="Text Box 103"/>
            <p:cNvSpPr txBox="1">
              <a:spLocks noChangeArrowheads="1"/>
            </p:cNvSpPr>
            <p:nvPr/>
          </p:nvSpPr>
          <p:spPr bwMode="auto">
            <a:xfrm>
              <a:off x="7695" y="11542"/>
              <a:ext cx="1232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3864" name="Text Box 104"/>
            <p:cNvSpPr txBox="1">
              <a:spLocks noChangeArrowheads="1"/>
            </p:cNvSpPr>
            <p:nvPr/>
          </p:nvSpPr>
          <p:spPr bwMode="auto">
            <a:xfrm>
              <a:off x="5724" y="12432"/>
              <a:ext cx="391" cy="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b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3865" name="Text Box 106"/>
            <p:cNvSpPr txBox="1">
              <a:spLocks noChangeArrowheads="1"/>
            </p:cNvSpPr>
            <p:nvPr/>
          </p:nvSpPr>
          <p:spPr bwMode="auto">
            <a:xfrm>
              <a:off x="4267" y="10851"/>
              <a:ext cx="539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p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1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3866" name="Text Box 107"/>
            <p:cNvSpPr txBox="1">
              <a:spLocks noChangeArrowheads="1"/>
            </p:cNvSpPr>
            <p:nvPr/>
          </p:nvSpPr>
          <p:spPr bwMode="auto">
            <a:xfrm>
              <a:off x="4284" y="11422"/>
              <a:ext cx="539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p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2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3867" name="Text Box 108"/>
            <p:cNvSpPr txBox="1">
              <a:spLocks noChangeArrowheads="1"/>
            </p:cNvSpPr>
            <p:nvPr/>
          </p:nvSpPr>
          <p:spPr bwMode="auto">
            <a:xfrm>
              <a:off x="4266" y="12274"/>
              <a:ext cx="748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p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N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3868" name="Text Box 109"/>
            <p:cNvSpPr txBox="1">
              <a:spLocks noChangeArrowheads="1"/>
            </p:cNvSpPr>
            <p:nvPr/>
          </p:nvSpPr>
          <p:spPr bwMode="auto">
            <a:xfrm>
              <a:off x="5091" y="11262"/>
              <a:ext cx="83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w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1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3869" name="Text Box 110"/>
            <p:cNvSpPr txBox="1">
              <a:spLocks noChangeArrowheads="1"/>
            </p:cNvSpPr>
            <p:nvPr/>
          </p:nvSpPr>
          <p:spPr bwMode="auto">
            <a:xfrm>
              <a:off x="4981" y="11724"/>
              <a:ext cx="834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w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2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3870" name="Text Box 111"/>
            <p:cNvSpPr txBox="1">
              <a:spLocks noChangeArrowheads="1"/>
            </p:cNvSpPr>
            <p:nvPr/>
          </p:nvSpPr>
          <p:spPr bwMode="auto">
            <a:xfrm>
              <a:off x="5111" y="12134"/>
              <a:ext cx="83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w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N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3871" name="Text Box 13"/>
            <p:cNvSpPr txBox="1">
              <a:spLocks noChangeArrowheads="1"/>
            </p:cNvSpPr>
            <p:nvPr/>
          </p:nvSpPr>
          <p:spPr bwMode="auto">
            <a:xfrm>
              <a:off x="6387" y="11619"/>
              <a:ext cx="65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net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3872" name="Text Box 113"/>
            <p:cNvSpPr txBox="1">
              <a:spLocks noChangeArrowheads="1"/>
            </p:cNvSpPr>
            <p:nvPr/>
          </p:nvSpPr>
          <p:spPr bwMode="auto">
            <a:xfrm>
              <a:off x="5789" y="11695"/>
              <a:ext cx="503" cy="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 b="1">
                  <a:latin typeface="Times New Roman" panose="02020603050405020304" pitchFamily="18" charset="0"/>
                  <a:sym typeface="Symbol" panose="05050102010706020507" pitchFamily="18" charset="2"/>
                </a:rPr>
                <a:t>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3873" name="Text Box 114"/>
            <p:cNvSpPr txBox="1">
              <a:spLocks noChangeArrowheads="1"/>
            </p:cNvSpPr>
            <p:nvPr/>
          </p:nvSpPr>
          <p:spPr bwMode="auto">
            <a:xfrm>
              <a:off x="7042" y="11687"/>
              <a:ext cx="502" cy="5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63874" name="AutoShape 115"/>
            <p:cNvCxnSpPr>
              <a:cxnSpLocks noChangeShapeType="1"/>
            </p:cNvCxnSpPr>
            <p:nvPr/>
          </p:nvCxnSpPr>
          <p:spPr bwMode="auto">
            <a:xfrm>
              <a:off x="4740" y="11262"/>
              <a:ext cx="1053" cy="7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75" name="AutoShape 116"/>
            <p:cNvCxnSpPr>
              <a:cxnSpLocks noChangeShapeType="1"/>
            </p:cNvCxnSpPr>
            <p:nvPr/>
          </p:nvCxnSpPr>
          <p:spPr bwMode="auto">
            <a:xfrm>
              <a:off x="4740" y="11718"/>
              <a:ext cx="1053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76" name="AutoShape 117"/>
            <p:cNvCxnSpPr>
              <a:cxnSpLocks noChangeShapeType="1"/>
            </p:cNvCxnSpPr>
            <p:nvPr/>
          </p:nvCxnSpPr>
          <p:spPr bwMode="auto">
            <a:xfrm flipV="1">
              <a:off x="4740" y="11972"/>
              <a:ext cx="1053" cy="5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77" name="AutoShape 118"/>
            <p:cNvCxnSpPr>
              <a:cxnSpLocks noChangeShapeType="1"/>
            </p:cNvCxnSpPr>
            <p:nvPr/>
          </p:nvCxnSpPr>
          <p:spPr bwMode="auto">
            <a:xfrm flipV="1">
              <a:off x="6050" y="12243"/>
              <a:ext cx="1" cy="8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78" name="AutoShape 119"/>
            <p:cNvCxnSpPr>
              <a:cxnSpLocks noChangeShapeType="1"/>
            </p:cNvCxnSpPr>
            <p:nvPr/>
          </p:nvCxnSpPr>
          <p:spPr bwMode="auto">
            <a:xfrm>
              <a:off x="6292" y="11972"/>
              <a:ext cx="75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79" name="AutoShape 120"/>
            <p:cNvCxnSpPr>
              <a:cxnSpLocks noChangeShapeType="1"/>
            </p:cNvCxnSpPr>
            <p:nvPr/>
          </p:nvCxnSpPr>
          <p:spPr bwMode="auto">
            <a:xfrm>
              <a:off x="7552" y="11958"/>
              <a:ext cx="75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80" name="AutoShape 121"/>
            <p:cNvCxnSpPr>
              <a:cxnSpLocks noChangeShapeType="1"/>
            </p:cNvCxnSpPr>
            <p:nvPr/>
          </p:nvCxnSpPr>
          <p:spPr bwMode="auto">
            <a:xfrm flipV="1">
              <a:off x="7115" y="11820"/>
              <a:ext cx="295" cy="225"/>
            </a:xfrm>
            <a:prstGeom prst="bentConnector3">
              <a:avLst>
                <a:gd name="adj1" fmla="val 49829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881" name="AutoShape 122"/>
            <p:cNvCxnSpPr>
              <a:cxnSpLocks noChangeShapeType="1"/>
            </p:cNvCxnSpPr>
            <p:nvPr/>
          </p:nvCxnSpPr>
          <p:spPr bwMode="auto">
            <a:xfrm>
              <a:off x="7257" y="12051"/>
              <a:ext cx="13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882" name="Text Box 123"/>
            <p:cNvSpPr txBox="1">
              <a:spLocks noChangeArrowheads="1"/>
            </p:cNvSpPr>
            <p:nvPr/>
          </p:nvSpPr>
          <p:spPr bwMode="auto">
            <a:xfrm>
              <a:off x="4047" y="11977"/>
              <a:ext cx="834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Times New Roman" panose="02020603050405020304" pitchFamily="18" charset="0"/>
                </a:rPr>
                <a:t>...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23092" y="5321177"/>
            <a:ext cx="10637091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latin typeface="Times New Roman" panose="02020603050405020304" pitchFamily="18" charset="0"/>
              </a:rPr>
              <a:t> 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Giả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en-US" altLang="en-US" sz="2000" b="1" dirty="0">
                <a:latin typeface="Times New Roman" panose="02020603050405020304" pitchFamily="18" charset="0"/>
              </a:rPr>
              <a:t> ta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có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một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mẫu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dữ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liệu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latin typeface="Times New Roman" panose="02020603050405020304" pitchFamily="18" charset="0"/>
              </a:rPr>
              <a:t> {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x, y</a:t>
            </a:r>
            <a:r>
              <a:rPr lang="en-US" altLang="en-US" sz="2000" b="1" dirty="0">
                <a:latin typeface="Times New Roman" panose="02020603050405020304" pitchFamily="18" charset="0"/>
              </a:rPr>
              <a:t>}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với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smtClean="0">
                <a:latin typeface="Times New Roman" panose="02020603050405020304" pitchFamily="18" charset="0"/>
              </a:rPr>
              <a:t>R</a:t>
            </a:r>
            <a:r>
              <a:rPr lang="en-US" altLang="en-US" sz="2000" b="1" i="1" baseline="30000" dirty="0" smtClean="0">
                <a:latin typeface="Times New Roman" panose="02020603050405020304" pitchFamily="18" charset="0"/>
              </a:rPr>
              <a:t>N</a:t>
            </a:r>
            <a:r>
              <a:rPr lang="en-US" altLang="en-US" sz="2000" b="1" i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là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giá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trị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vào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là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giá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trị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ra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tương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ứng</a:t>
            </a:r>
            <a:r>
              <a:rPr lang="en-US" altLang="en-US" sz="2000" b="1" dirty="0">
                <a:latin typeface="Times New Roman" panose="02020603050405020304" pitchFamily="18" charset="0"/>
              </a:rPr>
              <a:t>,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đã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biết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trước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4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03" name="Rectangle 19"/>
          <p:cNvSpPr>
            <a:spLocks noChangeArrowheads="1"/>
          </p:cNvSpPr>
          <p:nvPr/>
        </p:nvSpPr>
        <p:spPr bwMode="auto">
          <a:xfrm>
            <a:off x="381832" y="979586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5906" name="Rectangle 1"/>
          <p:cNvSpPr>
            <a:spLocks noChangeArrowheads="1"/>
          </p:cNvSpPr>
          <p:nvPr/>
        </p:nvSpPr>
        <p:spPr bwMode="auto">
          <a:xfrm>
            <a:off x="395131" y="1449325"/>
            <a:ext cx="8229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Perceptron</a:t>
            </a:r>
          </a:p>
        </p:txBody>
      </p:sp>
      <p:sp>
        <p:nvSpPr>
          <p:cNvPr id="165907" name="Rectangle 18"/>
          <p:cNvSpPr>
            <a:spLocks noChangeArrowheads="1"/>
          </p:cNvSpPr>
          <p:nvPr/>
        </p:nvSpPr>
        <p:spPr bwMode="auto">
          <a:xfrm>
            <a:off x="381832" y="2332349"/>
            <a:ext cx="868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latin typeface="Times New Roman" panose="02020603050405020304" pitchFamily="18" charset="0"/>
              </a:rPr>
              <a:t> Ý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tưởng</a:t>
            </a:r>
            <a:r>
              <a:rPr lang="en-US" altLang="en-US" sz="2000" b="1" dirty="0"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165908" name="Group 3"/>
          <p:cNvGrpSpPr>
            <a:grpSpLocks/>
          </p:cNvGrpSpPr>
          <p:nvPr/>
        </p:nvGrpSpPr>
        <p:grpSpPr bwMode="auto">
          <a:xfrm>
            <a:off x="8014063" y="936523"/>
            <a:ext cx="3429000" cy="2133600"/>
            <a:chOff x="4047" y="10851"/>
            <a:chExt cx="4880" cy="2821"/>
          </a:xfrm>
        </p:grpSpPr>
        <p:sp>
          <p:nvSpPr>
            <p:cNvPr id="165910" name="Text Box 105"/>
            <p:cNvSpPr txBox="1">
              <a:spLocks noChangeArrowheads="1"/>
            </p:cNvSpPr>
            <p:nvPr/>
          </p:nvSpPr>
          <p:spPr bwMode="auto">
            <a:xfrm>
              <a:off x="5846" y="13126"/>
              <a:ext cx="391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5911" name="Text Box 103"/>
            <p:cNvSpPr txBox="1">
              <a:spLocks noChangeArrowheads="1"/>
            </p:cNvSpPr>
            <p:nvPr/>
          </p:nvSpPr>
          <p:spPr bwMode="auto">
            <a:xfrm>
              <a:off x="7695" y="11542"/>
              <a:ext cx="1232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output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5912" name="Text Box 104"/>
            <p:cNvSpPr txBox="1">
              <a:spLocks noChangeArrowheads="1"/>
            </p:cNvSpPr>
            <p:nvPr/>
          </p:nvSpPr>
          <p:spPr bwMode="auto">
            <a:xfrm>
              <a:off x="5724" y="12432"/>
              <a:ext cx="391" cy="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b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5913" name="Text Box 106"/>
            <p:cNvSpPr txBox="1">
              <a:spLocks noChangeArrowheads="1"/>
            </p:cNvSpPr>
            <p:nvPr/>
          </p:nvSpPr>
          <p:spPr bwMode="auto">
            <a:xfrm>
              <a:off x="4267" y="10851"/>
              <a:ext cx="539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p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1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5914" name="Text Box 107"/>
            <p:cNvSpPr txBox="1">
              <a:spLocks noChangeArrowheads="1"/>
            </p:cNvSpPr>
            <p:nvPr/>
          </p:nvSpPr>
          <p:spPr bwMode="auto">
            <a:xfrm>
              <a:off x="4284" y="11422"/>
              <a:ext cx="539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p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2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5915" name="Text Box 108"/>
            <p:cNvSpPr txBox="1">
              <a:spLocks noChangeArrowheads="1"/>
            </p:cNvSpPr>
            <p:nvPr/>
          </p:nvSpPr>
          <p:spPr bwMode="auto">
            <a:xfrm>
              <a:off x="4266" y="12274"/>
              <a:ext cx="748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p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N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5916" name="Text Box 109"/>
            <p:cNvSpPr txBox="1">
              <a:spLocks noChangeArrowheads="1"/>
            </p:cNvSpPr>
            <p:nvPr/>
          </p:nvSpPr>
          <p:spPr bwMode="auto">
            <a:xfrm>
              <a:off x="5091" y="11262"/>
              <a:ext cx="83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w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1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5917" name="Text Box 110"/>
            <p:cNvSpPr txBox="1">
              <a:spLocks noChangeArrowheads="1"/>
            </p:cNvSpPr>
            <p:nvPr/>
          </p:nvSpPr>
          <p:spPr bwMode="auto">
            <a:xfrm>
              <a:off x="4981" y="11724"/>
              <a:ext cx="834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w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2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5918" name="Text Box 111"/>
            <p:cNvSpPr txBox="1">
              <a:spLocks noChangeArrowheads="1"/>
            </p:cNvSpPr>
            <p:nvPr/>
          </p:nvSpPr>
          <p:spPr bwMode="auto">
            <a:xfrm>
              <a:off x="5111" y="12134"/>
              <a:ext cx="83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w</a:t>
              </a:r>
              <a:r>
                <a:rPr lang="en-US" altLang="en-US" sz="1400" b="1" baseline="-25000">
                  <a:latin typeface="Calibri" panose="020F0502020204030204" pitchFamily="34" charset="0"/>
                </a:rPr>
                <a:t>N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65919" name="Text Box 13"/>
            <p:cNvSpPr txBox="1">
              <a:spLocks noChangeArrowheads="1"/>
            </p:cNvSpPr>
            <p:nvPr/>
          </p:nvSpPr>
          <p:spPr bwMode="auto">
            <a:xfrm>
              <a:off x="6387" y="11619"/>
              <a:ext cx="65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net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5920" name="Text Box 113"/>
            <p:cNvSpPr txBox="1">
              <a:spLocks noChangeArrowheads="1"/>
            </p:cNvSpPr>
            <p:nvPr/>
          </p:nvSpPr>
          <p:spPr bwMode="auto">
            <a:xfrm>
              <a:off x="5789" y="11695"/>
              <a:ext cx="503" cy="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 b="1">
                  <a:latin typeface="Times New Roman" panose="02020603050405020304" pitchFamily="18" charset="0"/>
                  <a:sym typeface="Symbol" panose="05050102010706020507" pitchFamily="18" charset="2"/>
                </a:rPr>
                <a:t>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5921" name="Text Box 114"/>
            <p:cNvSpPr txBox="1">
              <a:spLocks noChangeArrowheads="1"/>
            </p:cNvSpPr>
            <p:nvPr/>
          </p:nvSpPr>
          <p:spPr bwMode="auto">
            <a:xfrm>
              <a:off x="7042" y="11687"/>
              <a:ext cx="502" cy="5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65922" name="AutoShape 115"/>
            <p:cNvCxnSpPr>
              <a:cxnSpLocks noChangeShapeType="1"/>
            </p:cNvCxnSpPr>
            <p:nvPr/>
          </p:nvCxnSpPr>
          <p:spPr bwMode="auto">
            <a:xfrm>
              <a:off x="4740" y="11262"/>
              <a:ext cx="1053" cy="7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3" name="AutoShape 116"/>
            <p:cNvCxnSpPr>
              <a:cxnSpLocks noChangeShapeType="1"/>
            </p:cNvCxnSpPr>
            <p:nvPr/>
          </p:nvCxnSpPr>
          <p:spPr bwMode="auto">
            <a:xfrm>
              <a:off x="4740" y="11718"/>
              <a:ext cx="1053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4" name="AutoShape 117"/>
            <p:cNvCxnSpPr>
              <a:cxnSpLocks noChangeShapeType="1"/>
            </p:cNvCxnSpPr>
            <p:nvPr/>
          </p:nvCxnSpPr>
          <p:spPr bwMode="auto">
            <a:xfrm flipV="1">
              <a:off x="4740" y="11972"/>
              <a:ext cx="1053" cy="5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5" name="AutoShape 118"/>
            <p:cNvCxnSpPr>
              <a:cxnSpLocks noChangeShapeType="1"/>
            </p:cNvCxnSpPr>
            <p:nvPr/>
          </p:nvCxnSpPr>
          <p:spPr bwMode="auto">
            <a:xfrm flipV="1">
              <a:off x="6050" y="12243"/>
              <a:ext cx="1" cy="88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6" name="AutoShape 119"/>
            <p:cNvCxnSpPr>
              <a:cxnSpLocks noChangeShapeType="1"/>
            </p:cNvCxnSpPr>
            <p:nvPr/>
          </p:nvCxnSpPr>
          <p:spPr bwMode="auto">
            <a:xfrm>
              <a:off x="6292" y="11972"/>
              <a:ext cx="75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7" name="AutoShape 120"/>
            <p:cNvCxnSpPr>
              <a:cxnSpLocks noChangeShapeType="1"/>
            </p:cNvCxnSpPr>
            <p:nvPr/>
          </p:nvCxnSpPr>
          <p:spPr bwMode="auto">
            <a:xfrm>
              <a:off x="7552" y="11958"/>
              <a:ext cx="75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8" name="AutoShape 121"/>
            <p:cNvCxnSpPr>
              <a:cxnSpLocks noChangeShapeType="1"/>
            </p:cNvCxnSpPr>
            <p:nvPr/>
          </p:nvCxnSpPr>
          <p:spPr bwMode="auto">
            <a:xfrm flipV="1">
              <a:off x="7115" y="11820"/>
              <a:ext cx="295" cy="225"/>
            </a:xfrm>
            <a:prstGeom prst="bentConnector3">
              <a:avLst>
                <a:gd name="adj1" fmla="val 49829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5929" name="AutoShape 122"/>
            <p:cNvCxnSpPr>
              <a:cxnSpLocks noChangeShapeType="1"/>
            </p:cNvCxnSpPr>
            <p:nvPr/>
          </p:nvCxnSpPr>
          <p:spPr bwMode="auto">
            <a:xfrm>
              <a:off x="7257" y="12051"/>
              <a:ext cx="13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5930" name="Text Box 123"/>
            <p:cNvSpPr txBox="1">
              <a:spLocks noChangeArrowheads="1"/>
            </p:cNvSpPr>
            <p:nvPr/>
          </p:nvSpPr>
          <p:spPr bwMode="auto">
            <a:xfrm>
              <a:off x="4047" y="11977"/>
              <a:ext cx="834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Times New Roman" panose="02020603050405020304" pitchFamily="18" charset="0"/>
                </a:rPr>
                <a:t>...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165909" name="Rectangle 44"/>
          <p:cNvSpPr>
            <a:spLocks noChangeArrowheads="1"/>
          </p:cNvSpPr>
          <p:nvPr/>
        </p:nvSpPr>
        <p:spPr bwMode="auto">
          <a:xfrm>
            <a:off x="648853" y="3199565"/>
            <a:ext cx="10650518" cy="16312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  Với bộ tín hiệu đầu vào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mạng sẽ cho ra một giá trị đầu ra tương ứng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ouput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 Giá trị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sẽ được so sánh với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và ta sẽ điều chỉnh các trọng số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và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sao cho độ chênh lệch </a:t>
            </a: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e = y - output</a:t>
            </a: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ngày càng giảm</a:t>
            </a:r>
          </a:p>
        </p:txBody>
      </p:sp>
      <p:sp>
        <p:nvSpPr>
          <p:cNvPr id="4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87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51" name="Rectangle 19"/>
          <p:cNvSpPr>
            <a:spLocks noChangeArrowheads="1"/>
          </p:cNvSpPr>
          <p:nvPr/>
        </p:nvSpPr>
        <p:spPr bwMode="auto">
          <a:xfrm>
            <a:off x="465265" y="934971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học)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54" name="Rectangle 1"/>
          <p:cNvSpPr>
            <a:spLocks noChangeArrowheads="1"/>
          </p:cNvSpPr>
          <p:nvPr/>
        </p:nvSpPr>
        <p:spPr bwMode="auto">
          <a:xfrm>
            <a:off x="465265" y="1272316"/>
            <a:ext cx="8229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Huấn luyện mạng Perceptron</a:t>
            </a:r>
          </a:p>
        </p:txBody>
      </p:sp>
      <p:sp>
        <p:nvSpPr>
          <p:cNvPr id="167955" name="Rectangle 44"/>
          <p:cNvSpPr>
            <a:spLocks noChangeArrowheads="1"/>
          </p:cNvSpPr>
          <p:nvPr/>
        </p:nvSpPr>
        <p:spPr bwMode="auto">
          <a:xfrm>
            <a:off x="1275644" y="1870736"/>
            <a:ext cx="9640711" cy="4246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Bước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1</a:t>
            </a:r>
            <a:r>
              <a:rPr lang="en-US" altLang="en-US" sz="2000" i="1" dirty="0">
                <a:latin typeface="Times New Roman" panose="02020603050405020304" pitchFamily="18" charset="0"/>
              </a:rPr>
              <a:t>: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Khởi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tạo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ngẫu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nhiên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bộ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trọng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số</a:t>
            </a:r>
            <a:r>
              <a:rPr lang="en-US" altLang="en-US" sz="2000" i="1" dirty="0">
                <a:latin typeface="Times New Roman" panose="02020603050405020304" pitchFamily="18" charset="0"/>
              </a:rPr>
              <a:t> w, b.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Bước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2</a:t>
            </a:r>
            <a:r>
              <a:rPr lang="en-US" altLang="en-US" sz="2000" i="1" dirty="0">
                <a:latin typeface="Times New Roman" panose="02020603050405020304" pitchFamily="18" charset="0"/>
              </a:rPr>
              <a:t>: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Lấy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lần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lượt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các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mẫu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dữ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liệu</a:t>
            </a:r>
            <a:r>
              <a:rPr lang="en-US" altLang="en-US" sz="2000" i="1" dirty="0">
                <a:latin typeface="Times New Roman" panose="02020603050405020304" pitchFamily="18" charset="0"/>
              </a:rPr>
              <a:t> {x, y}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trong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tập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dữ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liệu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huấn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luyện</a:t>
            </a:r>
            <a:r>
              <a:rPr lang="en-US" altLang="en-US" sz="2000" i="1" dirty="0">
                <a:latin typeface="Times New Roman" panose="02020603050405020304" pitchFamily="18" charset="0"/>
              </a:rPr>
              <a:t>,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tính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đầu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ra</a:t>
            </a:r>
            <a:r>
              <a:rPr lang="en-US" altLang="en-US" sz="2000" i="1" dirty="0">
                <a:latin typeface="Times New Roman" panose="02020603050405020304" pitchFamily="18" charset="0"/>
              </a:rPr>
              <a:t> output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của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mạng</a:t>
            </a:r>
            <a:r>
              <a:rPr lang="en-US" altLang="en-US" sz="2000" i="1" dirty="0">
                <a:latin typeface="Times New Roman" panose="02020603050405020304" pitchFamily="18" charset="0"/>
              </a:rPr>
              <a:t>: 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ouput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=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Hardlim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w</a:t>
            </a:r>
            <a:r>
              <a:rPr lang="en-US" altLang="en-US" sz="2000" b="1" i="1" baseline="30000" dirty="0" err="1">
                <a:latin typeface="Times New Roman" panose="02020603050405020304" pitchFamily="18" charset="0"/>
              </a:rPr>
              <a:t>T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x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+ b).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Bước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3</a:t>
            </a:r>
            <a:r>
              <a:rPr lang="en-US" altLang="en-US" sz="2000" i="1" dirty="0">
                <a:latin typeface="Times New Roman" panose="02020603050405020304" pitchFamily="18" charset="0"/>
              </a:rPr>
              <a:t>: So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sánh</a:t>
            </a:r>
            <a:r>
              <a:rPr lang="en-US" altLang="en-US" sz="2000" i="1" dirty="0">
                <a:latin typeface="Times New Roman" panose="02020603050405020304" pitchFamily="18" charset="0"/>
              </a:rPr>
              <a:t> output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với</a:t>
            </a:r>
            <a:r>
              <a:rPr lang="en-US" altLang="en-US" sz="2000" i="1" dirty="0">
                <a:latin typeface="Times New Roman" panose="02020603050405020304" pitchFamily="18" charset="0"/>
              </a:rPr>
              <a:t> y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i="1" dirty="0" err="1">
                <a:latin typeface="Times New Roman" panose="02020603050405020304" pitchFamily="18" charset="0"/>
              </a:rPr>
              <a:t>Nếu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output ≠ y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thì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cập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nhật</a:t>
            </a:r>
            <a:r>
              <a:rPr lang="en-US" altLang="en-US" sz="2000" i="1" dirty="0">
                <a:latin typeface="Times New Roman" panose="02020603050405020304" pitchFamily="18" charset="0"/>
              </a:rPr>
              <a:t>:  	 </a:t>
            </a:r>
            <a:r>
              <a:rPr lang="en-US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sz="2000" b="1" i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=  w + (y – output)  </a:t>
            </a:r>
            <a:r>
              <a:rPr lang="en-US" altLang="en-US" sz="20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300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Times New Roman" panose="02020603050405020304" pitchFamily="18" charset="0"/>
              </a:rPr>
              <a:t>                    			</a:t>
            </a:r>
            <a:r>
              <a:rPr lang="en-US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b =  b  + (y – output).</a:t>
            </a:r>
            <a:endParaRPr lang="en-US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Bước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4</a:t>
            </a:r>
            <a:r>
              <a:rPr lang="en-US" altLang="en-US" sz="2000" i="1" dirty="0">
                <a:latin typeface="Times New Roman" panose="02020603050405020304" pitchFamily="18" charset="0"/>
              </a:rPr>
              <a:t>: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Lặp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bước</a:t>
            </a:r>
            <a:r>
              <a:rPr lang="en-US" altLang="en-US" sz="2000" i="1" dirty="0">
                <a:latin typeface="Times New Roman" panose="02020603050405020304" pitchFamily="18" charset="0"/>
              </a:rPr>
              <a:t> 2,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bước</a:t>
            </a:r>
            <a:r>
              <a:rPr lang="en-US" altLang="en-US" sz="2000" i="1" dirty="0">
                <a:latin typeface="Times New Roman" panose="02020603050405020304" pitchFamily="18" charset="0"/>
              </a:rPr>
              <a:t> 3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cho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đến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khi</a:t>
            </a:r>
            <a:r>
              <a:rPr lang="en-US" altLang="en-US" sz="2000" i="1" dirty="0">
                <a:latin typeface="Times New Roman" panose="02020603050405020304" pitchFamily="18" charset="0"/>
              </a:rPr>
              <a:t> output = y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với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mọi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mẫu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dữ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liệu</a:t>
            </a:r>
            <a:r>
              <a:rPr lang="en-US" altLang="en-US" sz="2000" i="1" dirty="0">
                <a:latin typeface="Times New Roman" panose="02020603050405020304" pitchFamily="18" charset="0"/>
              </a:rPr>
              <a:t> {x, y},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hoặc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thỏa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mãn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điều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kiện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dừng</a:t>
            </a:r>
            <a:r>
              <a:rPr lang="en-US" altLang="en-US" sz="2000" i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25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99" name="Rectangle 19"/>
          <p:cNvSpPr>
            <a:spLocks noChangeArrowheads="1"/>
          </p:cNvSpPr>
          <p:nvPr/>
        </p:nvSpPr>
        <p:spPr bwMode="auto">
          <a:xfrm>
            <a:off x="361951" y="952144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0002" name="Rectangle 31"/>
          <p:cNvSpPr>
            <a:spLocks noChangeArrowheads="1"/>
          </p:cNvSpPr>
          <p:nvPr/>
        </p:nvSpPr>
        <p:spPr bwMode="auto">
          <a:xfrm>
            <a:off x="765888" y="1495632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Cần nhận dạng một ảnh số xem đối tượng trong ảnh là cam hay táo</a:t>
            </a:r>
          </a:p>
        </p:txBody>
      </p:sp>
      <p:sp>
        <p:nvSpPr>
          <p:cNvPr id="170003" name="Rectangle 32"/>
          <p:cNvSpPr>
            <a:spLocks noChangeArrowheads="1"/>
          </p:cNvSpPr>
          <p:nvPr/>
        </p:nvSpPr>
        <p:spPr bwMode="auto">
          <a:xfrm>
            <a:off x="765888" y="2029033"/>
            <a:ext cx="8153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Mỗi bức ảnh được biểu diễn bởi 4 thông tin đặc trưng là: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  Red, Green, Blue, Shape</a:t>
            </a:r>
            <a:endParaRPr lang="en-US" altLang="en-US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54182" y="3582857"/>
            <a:ext cx="5072744" cy="2424037"/>
            <a:chOff x="4327" y="2424"/>
            <a:chExt cx="5292" cy="2314"/>
          </a:xfrm>
        </p:grpSpPr>
        <p:sp>
          <p:nvSpPr>
            <p:cNvPr id="170010" name="Text Box 3"/>
            <p:cNvSpPr txBox="1">
              <a:spLocks noChangeArrowheads="1"/>
            </p:cNvSpPr>
            <p:nvPr/>
          </p:nvSpPr>
          <p:spPr bwMode="auto">
            <a:xfrm>
              <a:off x="4327" y="2424"/>
              <a:ext cx="117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 dirty="0">
                  <a:latin typeface="Calibri" panose="020F0502020204030204" pitchFamily="34" charset="0"/>
                </a:rPr>
                <a:t>Red</a:t>
              </a:r>
              <a:endParaRPr lang="en-US" altLang="en-US" sz="1300" dirty="0">
                <a:latin typeface="Times New Roman" panose="02020603050405020304" pitchFamily="18" charset="0"/>
              </a:endParaRPr>
            </a:p>
          </p:txBody>
        </p:sp>
        <p:sp>
          <p:nvSpPr>
            <p:cNvPr id="170011" name="Text Box 4"/>
            <p:cNvSpPr txBox="1">
              <a:spLocks noChangeArrowheads="1"/>
            </p:cNvSpPr>
            <p:nvPr/>
          </p:nvSpPr>
          <p:spPr bwMode="auto">
            <a:xfrm>
              <a:off x="7459" y="3132"/>
              <a:ext cx="2160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output: 0 hoặc 1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  <p:sp>
          <p:nvSpPr>
            <p:cNvPr id="170012" name="Rectangle 5"/>
            <p:cNvSpPr>
              <a:spLocks noChangeArrowheads="1"/>
            </p:cNvSpPr>
            <p:nvPr/>
          </p:nvSpPr>
          <p:spPr bwMode="auto">
            <a:xfrm>
              <a:off x="5338" y="2656"/>
              <a:ext cx="209" cy="462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70013" name="AutoShape 6"/>
            <p:cNvCxnSpPr>
              <a:cxnSpLocks noChangeShapeType="1"/>
            </p:cNvCxnSpPr>
            <p:nvPr/>
          </p:nvCxnSpPr>
          <p:spPr bwMode="auto">
            <a:xfrm flipV="1">
              <a:off x="4435" y="2751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0014" name="Rectangle 7"/>
            <p:cNvSpPr>
              <a:spLocks noChangeArrowheads="1"/>
            </p:cNvSpPr>
            <p:nvPr/>
          </p:nvSpPr>
          <p:spPr bwMode="auto">
            <a:xfrm>
              <a:off x="5333" y="3196"/>
              <a:ext cx="209" cy="462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0015" name="Text Box 8"/>
            <p:cNvSpPr txBox="1">
              <a:spLocks noChangeArrowheads="1"/>
            </p:cNvSpPr>
            <p:nvPr/>
          </p:nvSpPr>
          <p:spPr bwMode="auto">
            <a:xfrm>
              <a:off x="4327" y="2964"/>
              <a:ext cx="1166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Green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  <p:sp>
          <p:nvSpPr>
            <p:cNvPr id="170016" name="Rectangle 9"/>
            <p:cNvSpPr>
              <a:spLocks noChangeArrowheads="1"/>
            </p:cNvSpPr>
            <p:nvPr/>
          </p:nvSpPr>
          <p:spPr bwMode="auto">
            <a:xfrm>
              <a:off x="5329" y="3737"/>
              <a:ext cx="209" cy="462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0017" name="Rectangle 10"/>
            <p:cNvSpPr>
              <a:spLocks noChangeArrowheads="1"/>
            </p:cNvSpPr>
            <p:nvPr/>
          </p:nvSpPr>
          <p:spPr bwMode="auto">
            <a:xfrm>
              <a:off x="5324" y="4249"/>
              <a:ext cx="209" cy="462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0018" name="Text Box 11"/>
            <p:cNvSpPr txBox="1">
              <a:spLocks noChangeArrowheads="1"/>
            </p:cNvSpPr>
            <p:nvPr/>
          </p:nvSpPr>
          <p:spPr bwMode="auto">
            <a:xfrm>
              <a:off x="4327" y="3516"/>
              <a:ext cx="1166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Blue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  <p:sp>
          <p:nvSpPr>
            <p:cNvPr id="170019" name="Text Box 12"/>
            <p:cNvSpPr txBox="1">
              <a:spLocks noChangeArrowheads="1"/>
            </p:cNvSpPr>
            <p:nvPr/>
          </p:nvSpPr>
          <p:spPr bwMode="auto">
            <a:xfrm>
              <a:off x="4327" y="4004"/>
              <a:ext cx="1166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Shape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  <p:cxnSp>
          <p:nvCxnSpPr>
            <p:cNvPr id="170020" name="AutoShape 13"/>
            <p:cNvCxnSpPr>
              <a:cxnSpLocks noChangeShapeType="1"/>
            </p:cNvCxnSpPr>
            <p:nvPr/>
          </p:nvCxnSpPr>
          <p:spPr bwMode="auto">
            <a:xfrm>
              <a:off x="5553" y="2750"/>
              <a:ext cx="1474" cy="8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021" name="AutoShape 14"/>
            <p:cNvCxnSpPr>
              <a:cxnSpLocks noChangeShapeType="1"/>
            </p:cNvCxnSpPr>
            <p:nvPr/>
          </p:nvCxnSpPr>
          <p:spPr bwMode="auto">
            <a:xfrm>
              <a:off x="5551" y="3278"/>
              <a:ext cx="1476" cy="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022" name="AutoShape 15"/>
            <p:cNvCxnSpPr>
              <a:cxnSpLocks noChangeShapeType="1"/>
            </p:cNvCxnSpPr>
            <p:nvPr/>
          </p:nvCxnSpPr>
          <p:spPr bwMode="auto">
            <a:xfrm flipV="1">
              <a:off x="5522" y="3567"/>
              <a:ext cx="1505" cy="7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023" name="AutoShape 16"/>
            <p:cNvCxnSpPr>
              <a:cxnSpLocks noChangeShapeType="1"/>
            </p:cNvCxnSpPr>
            <p:nvPr/>
          </p:nvCxnSpPr>
          <p:spPr bwMode="auto">
            <a:xfrm flipV="1">
              <a:off x="5538" y="3567"/>
              <a:ext cx="1489" cy="2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0024" name="Oval 17"/>
            <p:cNvSpPr>
              <a:spLocks noChangeArrowheads="1"/>
            </p:cNvSpPr>
            <p:nvPr/>
          </p:nvSpPr>
          <p:spPr bwMode="auto">
            <a:xfrm>
              <a:off x="7027" y="3357"/>
              <a:ext cx="416" cy="6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70025" name="AutoShape 18"/>
            <p:cNvCxnSpPr>
              <a:cxnSpLocks noChangeShapeType="1"/>
            </p:cNvCxnSpPr>
            <p:nvPr/>
          </p:nvCxnSpPr>
          <p:spPr bwMode="auto">
            <a:xfrm>
              <a:off x="7441" y="3555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0026" name="Text Box 19"/>
            <p:cNvSpPr txBox="1">
              <a:spLocks noChangeArrowheads="1"/>
            </p:cNvSpPr>
            <p:nvPr/>
          </p:nvSpPr>
          <p:spPr bwMode="auto">
            <a:xfrm>
              <a:off x="5767" y="2727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 dirty="0">
                  <a:latin typeface="Calibri" panose="020F0502020204030204" pitchFamily="34" charset="0"/>
                </a:rPr>
                <a:t>w</a:t>
              </a:r>
              <a:r>
                <a:rPr lang="en-US" altLang="en-US" sz="1300" baseline="-25000" dirty="0">
                  <a:latin typeface="Calibri" panose="020F0502020204030204" pitchFamily="34" charset="0"/>
                </a:rPr>
                <a:t>1</a:t>
              </a:r>
              <a:endParaRPr lang="en-US" altLang="en-US" sz="1300" dirty="0">
                <a:latin typeface="Times New Roman" panose="02020603050405020304" pitchFamily="18" charset="0"/>
              </a:endParaRPr>
            </a:p>
          </p:txBody>
        </p:sp>
        <p:sp>
          <p:nvSpPr>
            <p:cNvPr id="170027" name="Text Box 20"/>
            <p:cNvSpPr txBox="1">
              <a:spLocks noChangeArrowheads="1"/>
            </p:cNvSpPr>
            <p:nvPr/>
          </p:nvSpPr>
          <p:spPr bwMode="auto">
            <a:xfrm>
              <a:off x="5767" y="3114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w</a:t>
              </a:r>
              <a:r>
                <a:rPr lang="en-US" altLang="en-US" sz="1300" baseline="-25000">
                  <a:latin typeface="Calibri" panose="020F0502020204030204" pitchFamily="34" charset="0"/>
                </a:rPr>
                <a:t>2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  <p:sp>
          <p:nvSpPr>
            <p:cNvPr id="170028" name="Text Box 21"/>
            <p:cNvSpPr txBox="1">
              <a:spLocks noChangeArrowheads="1"/>
            </p:cNvSpPr>
            <p:nvPr/>
          </p:nvSpPr>
          <p:spPr bwMode="auto">
            <a:xfrm>
              <a:off x="5776" y="3447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w</a:t>
              </a:r>
              <a:r>
                <a:rPr lang="en-US" altLang="en-US" sz="1100" baseline="-25000">
                  <a:latin typeface="Calibri" panose="020F0502020204030204" pitchFamily="34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0029" name="Text Box 22"/>
            <p:cNvSpPr txBox="1">
              <a:spLocks noChangeArrowheads="1"/>
            </p:cNvSpPr>
            <p:nvPr/>
          </p:nvSpPr>
          <p:spPr bwMode="auto">
            <a:xfrm>
              <a:off x="5776" y="3762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100">
                  <a:latin typeface="Calibri" panose="020F0502020204030204" pitchFamily="34" charset="0"/>
                </a:rPr>
                <a:t>w</a:t>
              </a:r>
              <a:r>
                <a:rPr lang="en-US" altLang="en-US" sz="1100" baseline="-25000">
                  <a:latin typeface="Calibri" panose="020F0502020204030204" pitchFamily="34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70030" name="AutoShape 23"/>
            <p:cNvCxnSpPr>
              <a:cxnSpLocks noChangeShapeType="1"/>
            </p:cNvCxnSpPr>
            <p:nvPr/>
          </p:nvCxnSpPr>
          <p:spPr bwMode="auto">
            <a:xfrm flipV="1">
              <a:off x="4415" y="3288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031" name="AutoShape 24"/>
            <p:cNvCxnSpPr>
              <a:cxnSpLocks noChangeShapeType="1"/>
            </p:cNvCxnSpPr>
            <p:nvPr/>
          </p:nvCxnSpPr>
          <p:spPr bwMode="auto">
            <a:xfrm flipV="1">
              <a:off x="4407" y="3844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0032" name="AutoShape 25"/>
            <p:cNvCxnSpPr>
              <a:cxnSpLocks noChangeShapeType="1"/>
            </p:cNvCxnSpPr>
            <p:nvPr/>
          </p:nvCxnSpPr>
          <p:spPr bwMode="auto">
            <a:xfrm flipV="1">
              <a:off x="4399" y="4352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0033" name="Line 26"/>
            <p:cNvSpPr>
              <a:spLocks noChangeShapeType="1"/>
            </p:cNvSpPr>
            <p:nvPr/>
          </p:nvSpPr>
          <p:spPr bwMode="auto">
            <a:xfrm>
              <a:off x="7235" y="3979"/>
              <a:ext cx="0" cy="5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vi-VN"/>
            </a:p>
          </p:txBody>
        </p:sp>
        <p:sp>
          <p:nvSpPr>
            <p:cNvPr id="170034" name="Text Box 27"/>
            <p:cNvSpPr txBox="1">
              <a:spLocks noChangeArrowheads="1"/>
            </p:cNvSpPr>
            <p:nvPr/>
          </p:nvSpPr>
          <p:spPr bwMode="auto">
            <a:xfrm>
              <a:off x="6991" y="4378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1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  <p:sp>
          <p:nvSpPr>
            <p:cNvPr id="170035" name="Text Box 28"/>
            <p:cNvSpPr txBox="1">
              <a:spLocks noChangeArrowheads="1"/>
            </p:cNvSpPr>
            <p:nvPr/>
          </p:nvSpPr>
          <p:spPr bwMode="auto">
            <a:xfrm>
              <a:off x="7278" y="399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300">
                  <a:latin typeface="Calibri" panose="020F0502020204030204" pitchFamily="34" charset="0"/>
                </a:rPr>
                <a:t>b</a:t>
              </a:r>
              <a:endParaRPr lang="en-US" altLang="en-US" sz="1300">
                <a:latin typeface="Times New Roman" panose="02020603050405020304" pitchFamily="18" charset="0"/>
              </a:endParaRPr>
            </a:p>
          </p:txBody>
        </p:sp>
      </p:grp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842088" y="2791032"/>
            <a:ext cx="815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Mạng được thiết kế như sau</a:t>
            </a:r>
            <a:endParaRPr lang="en-US" altLang="en-US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7421" name="Object 29"/>
          <p:cNvGraphicFramePr>
            <a:graphicFrameLocks noChangeAspect="1"/>
          </p:cNvGraphicFramePr>
          <p:nvPr/>
        </p:nvGraphicFramePr>
        <p:xfrm>
          <a:off x="6330950" y="3352801"/>
          <a:ext cx="395605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4" name="Equation" r:id="rId4" imgW="2819400" imgH="965200" progId="Equation.3">
                  <p:embed/>
                </p:oleObj>
              </mc:Choice>
              <mc:Fallback>
                <p:oleObj name="Equation" r:id="rId4" imgW="2819400" imgH="965200" progId="Equation.3">
                  <p:embed/>
                  <p:pic>
                    <p:nvPicPr>
                      <p:cNvPr id="18742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3352801"/>
                        <a:ext cx="395605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324600" y="5029200"/>
            <a:ext cx="3200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Hardlim (</a:t>
            </a:r>
            <a:r>
              <a:rPr lang="en-US" altLang="en-US" sz="2000" i="1">
                <a:latin typeface="Times New Roman" panose="02020603050405020304" pitchFamily="18" charset="0"/>
              </a:rPr>
              <a:t>x)</a:t>
            </a:r>
            <a:r>
              <a:rPr lang="en-US" altLang="en-US" sz="2000">
                <a:latin typeface="Times New Roman" panose="02020603050405020304" pitchFamily="18" charset="0"/>
              </a:rPr>
              <a:t> = </a:t>
            </a:r>
            <a:endParaRPr lang="en-US" altLang="en-US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7425" name="Object 33"/>
          <p:cNvGraphicFramePr>
            <a:graphicFrameLocks noChangeAspect="1"/>
          </p:cNvGraphicFramePr>
          <p:nvPr/>
        </p:nvGraphicFramePr>
        <p:xfrm>
          <a:off x="8107364" y="4894263"/>
          <a:ext cx="17684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5" name="Equation" r:id="rId6" imgW="1231900" imgH="457200" progId="Equation.3">
                  <p:embed/>
                </p:oleObj>
              </mc:Choice>
              <mc:Fallback>
                <p:oleObj name="Equation" r:id="rId6" imgW="1231900" imgH="457200" progId="Equation.3">
                  <p:embed/>
                  <p:pic>
                    <p:nvPicPr>
                      <p:cNvPr id="18742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4" y="4894263"/>
                        <a:ext cx="17684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8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47" name="Rectangle 19"/>
          <p:cNvSpPr>
            <a:spLocks noChangeArrowheads="1"/>
          </p:cNvSpPr>
          <p:nvPr/>
        </p:nvSpPr>
        <p:spPr bwMode="auto">
          <a:xfrm>
            <a:off x="365761" y="1001712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50" name="Rectangle 31"/>
          <p:cNvSpPr>
            <a:spLocks noChangeArrowheads="1"/>
          </p:cNvSpPr>
          <p:nvPr/>
        </p:nvSpPr>
        <p:spPr bwMode="auto">
          <a:xfrm>
            <a:off x="1665514" y="1567543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Dữ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liệu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luyện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1706D804-AB09-4A4A-8F13-8C4A44FD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32753"/>
              </p:ext>
            </p:extLst>
          </p:nvPr>
        </p:nvGraphicFramePr>
        <p:xfrm>
          <a:off x="2656114" y="2177143"/>
          <a:ext cx="6095999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186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30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110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170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60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250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100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250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40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90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200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30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9E0F579A-ADD6-4425-8050-F0FD7532E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95743"/>
              </p:ext>
            </p:extLst>
          </p:nvPr>
        </p:nvGraphicFramePr>
        <p:xfrm>
          <a:off x="2656114" y="4386943"/>
          <a:ext cx="6096000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0.73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0.43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0.67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0.24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0.39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0.16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0.78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1665514" y="3853543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>
                <a:latin typeface="Times New Roman" panose="02020603050405020304" pitchFamily="18" charset="0"/>
              </a:rPr>
              <a:t> Dữ liệu huấn luyện sau khi đã chuẩn hóa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1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5" name="Rectangle 19"/>
          <p:cNvSpPr>
            <a:spLocks noChangeArrowheads="1"/>
          </p:cNvSpPr>
          <p:nvPr/>
        </p:nvSpPr>
        <p:spPr bwMode="auto">
          <a:xfrm>
            <a:off x="300447" y="1039813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Ví dụ về huấn luyện mạng Perceptron nhận dạng Táo/ Cam</a:t>
            </a:r>
            <a:endParaRPr lang="fr-FR" altLang="en-US" sz="20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098" name="Rectangle 31"/>
          <p:cNvSpPr>
            <a:spLocks noChangeArrowheads="1"/>
          </p:cNvSpPr>
          <p:nvPr/>
        </p:nvSpPr>
        <p:spPr bwMode="auto">
          <a:xfrm>
            <a:off x="881743" y="1583531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Bước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1: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Khởi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ngẫu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nhiên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en-US" altLang="en-US" sz="20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chọn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0, 1, -1, 0]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</a:t>
            </a:r>
            <a:r>
              <a:rPr lang="fr-FR" altLang="en-US" sz="2000" b="1" dirty="0">
                <a:latin typeface="Times New Roman" panose="02020603050405020304" pitchFamily="18" charset="0"/>
              </a:rPr>
              <a:t>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9681" name="Rectangle 1"/>
          <p:cNvSpPr>
            <a:spLocks noChangeArrowheads="1"/>
          </p:cNvSpPr>
          <p:nvPr/>
        </p:nvSpPr>
        <p:spPr bwMode="auto">
          <a:xfrm>
            <a:off x="679267" y="4371024"/>
            <a:ext cx="11194869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= </a:t>
            </a:r>
            <a:r>
              <a:rPr lang="fr-FR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Hardlim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(-0.31) = 0.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fr-FR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altLang="en-US" sz="2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w + (y – output) x</a:t>
            </a:r>
            <a:endParaRPr lang="fr-FR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[0, 1, -1, 0]</a:t>
            </a:r>
            <a:r>
              <a:rPr lang="fr-FR" altLang="en-US" sz="20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[0.73, 0.12, 0.43, 1.04],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0.73, 1.12, -0.57, 1.04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              </a:t>
            </a:r>
            <a:r>
              <a:rPr lang="fr-FR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b + (y – output)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9458085-47FE-4349-975B-69373330E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654279"/>
              </p:ext>
            </p:extLst>
          </p:nvPr>
        </p:nvGraphicFramePr>
        <p:xfrm>
          <a:off x="2819400" y="2569290"/>
          <a:ext cx="6096000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0.73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0.43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0.67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0.24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0.39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0.16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Courier New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0.78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28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8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76139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76141" name="Rectangle 2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76143" name="Rectangle 19"/>
          <p:cNvSpPr>
            <a:spLocks noChangeArrowheads="1"/>
          </p:cNvSpPr>
          <p:nvPr/>
        </p:nvSpPr>
        <p:spPr bwMode="auto">
          <a:xfrm>
            <a:off x="352698" y="1038226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6145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76146" name="Rectangle 31"/>
          <p:cNvSpPr>
            <a:spLocks noChangeArrowheads="1"/>
          </p:cNvSpPr>
          <p:nvPr/>
        </p:nvSpPr>
        <p:spPr bwMode="auto">
          <a:xfrm>
            <a:off x="352698" y="1511816"/>
            <a:ext cx="9853749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Bước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1: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Khởi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ngẫu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nhiên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en-US" altLang="en-US" sz="20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chọn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0, 1, -1, 0]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</a:t>
            </a:r>
            <a:r>
              <a:rPr lang="fr-FR" altLang="en-US" sz="2000" b="1" dirty="0">
                <a:latin typeface="Times New Roman" panose="02020603050405020304" pitchFamily="18" charset="0"/>
              </a:rPr>
              <a:t>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6147" name="Rectangle 1"/>
          <p:cNvSpPr>
            <a:spLocks noChangeArrowheads="1"/>
          </p:cNvSpPr>
          <p:nvPr/>
        </p:nvSpPr>
        <p:spPr bwMode="auto">
          <a:xfrm>
            <a:off x="627017" y="4800601"/>
            <a:ext cx="943138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latin typeface="Times New Roman" panose="02020603050405020304" pitchFamily="18" charset="0"/>
              </a:rPr>
              <a:t>Xét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2: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output =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Hardlim</a:t>
            </a:r>
            <a:r>
              <a:rPr lang="fr-FR" altLang="en-US" sz="2000" b="1" dirty="0">
                <a:latin typeface="Times New Roman" panose="02020603050405020304" pitchFamily="18" charset="0"/>
              </a:rPr>
              <a:t>(2.32) = 1.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đúng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67CD54F-DB88-486F-A196-367814434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256978"/>
              </p:ext>
            </p:extLst>
          </p:nvPr>
        </p:nvGraphicFramePr>
        <p:xfrm>
          <a:off x="2741023" y="2337591"/>
          <a:ext cx="6096000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latin typeface="Times New Roman"/>
                          <a:ea typeface="Times New Roman"/>
                          <a:cs typeface="Times New Roman"/>
                        </a:rPr>
                        <a:t>Stt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0.43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0.67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0.24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0.39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0.16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0.78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96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91" name="Rectangle 19"/>
          <p:cNvSpPr>
            <a:spLocks noChangeArrowheads="1"/>
          </p:cNvSpPr>
          <p:nvPr/>
        </p:nvSpPr>
        <p:spPr bwMode="auto">
          <a:xfrm>
            <a:off x="365761" y="920751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94" name="Rectangle 31"/>
          <p:cNvSpPr>
            <a:spLocks noChangeArrowheads="1"/>
          </p:cNvSpPr>
          <p:nvPr/>
        </p:nvSpPr>
        <p:spPr bwMode="auto">
          <a:xfrm>
            <a:off x="365761" y="1433785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Bước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1: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Khởi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ngẫu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nhiên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en-US" altLang="en-US" sz="20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chọn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0, 1, -1, 0]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</a:t>
            </a:r>
            <a:r>
              <a:rPr lang="fr-FR" altLang="en-US" sz="2000" b="1" dirty="0">
                <a:latin typeface="Times New Roman" panose="02020603050405020304" pitchFamily="18" charset="0"/>
              </a:rPr>
              <a:t>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8195" name="Rectangle 1"/>
          <p:cNvSpPr>
            <a:spLocks noChangeArrowheads="1"/>
          </p:cNvSpPr>
          <p:nvPr/>
        </p:nvSpPr>
        <p:spPr bwMode="auto">
          <a:xfrm>
            <a:off x="365761" y="4031114"/>
            <a:ext cx="9498874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latin typeface="Times New Roman" panose="02020603050405020304" pitchFamily="18" charset="0"/>
              </a:rPr>
              <a:t>Xét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3: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output =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Hardlim</a:t>
            </a:r>
            <a:r>
              <a:rPr lang="fr-FR" altLang="en-US" sz="2000" b="1" dirty="0">
                <a:latin typeface="Times New Roman" panose="02020603050405020304" pitchFamily="18" charset="0"/>
              </a:rPr>
              <a:t>(3.31) = 1.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sai</a:t>
            </a:r>
            <a:r>
              <a:rPr lang="fr-FR" altLang="en-US" sz="2000" b="1" dirty="0">
                <a:latin typeface="Times New Roman" panose="02020603050405020304" pitchFamily="18" charset="0"/>
              </a:rPr>
              <a:t>. Do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đó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điều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chỉnh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: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2000" b="1" i="1" baseline="30000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 =  w + (y – output) x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= [0.73, 1.12, -0.57, 1.04]- [0.39, 0.98, </a:t>
            </a:r>
            <a:r>
              <a:rPr lang="fr-FR" altLang="en-US" sz="2000" b="1" dirty="0" smtClean="0">
                <a:latin typeface="Times New Roman" panose="02020603050405020304" pitchFamily="18" charset="0"/>
              </a:rPr>
              <a:t>0.16, </a:t>
            </a:r>
            <a:r>
              <a:rPr lang="fr-FR" altLang="en-US" sz="2000" b="1" dirty="0">
                <a:latin typeface="Times New Roman" panose="02020603050405020304" pitchFamily="18" charset="0"/>
              </a:rPr>
              <a:t>0.98],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= 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0.34, 0.14, -0.73, 0.06</a:t>
            </a:r>
            <a:r>
              <a:rPr lang="fr-FR" altLang="en-US" sz="2000" b="1" dirty="0">
                <a:latin typeface="Times New Roman" panose="02020603050405020304" pitchFamily="18" charset="0"/>
              </a:rPr>
              <a:t>]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 = b + (y – output)</a:t>
            </a:r>
            <a:r>
              <a:rPr lang="fr-FR" altLang="en-US" sz="2000" b="1" dirty="0">
                <a:latin typeface="Times New Roman" panose="02020603050405020304" pitchFamily="18" charset="0"/>
              </a:rPr>
              <a:t>  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48F92B1-BE22-4799-9E6E-433E4BAD8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129575"/>
              </p:ext>
            </p:extLst>
          </p:nvPr>
        </p:nvGraphicFramePr>
        <p:xfrm>
          <a:off x="2466703" y="2311399"/>
          <a:ext cx="6096000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  <a:endParaRPr lang="en-US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0.43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0.67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0.24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0.39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0.16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0.78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48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39" name="Rectangle 19"/>
          <p:cNvSpPr>
            <a:spLocks noChangeArrowheads="1"/>
          </p:cNvSpPr>
          <p:nvPr/>
        </p:nvSpPr>
        <p:spPr bwMode="auto">
          <a:xfrm>
            <a:off x="404949" y="1039813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42" name="Rectangle 31"/>
          <p:cNvSpPr>
            <a:spLocks noChangeArrowheads="1"/>
          </p:cNvSpPr>
          <p:nvPr/>
        </p:nvSpPr>
        <p:spPr bwMode="auto">
          <a:xfrm>
            <a:off x="313508" y="1592263"/>
            <a:ext cx="9853749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Bước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1: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Khởi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ngẫu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nhiên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en-US" altLang="en-US" sz="20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chọn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0, 1, -1, 0]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</a:t>
            </a:r>
            <a:r>
              <a:rPr lang="fr-FR" altLang="en-US" sz="2000" b="1" dirty="0">
                <a:latin typeface="Times New Roman" panose="02020603050405020304" pitchFamily="18" charset="0"/>
              </a:rPr>
              <a:t>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43" name="Rectangle 1"/>
          <p:cNvSpPr>
            <a:spLocks noChangeArrowheads="1"/>
          </p:cNvSpPr>
          <p:nvPr/>
        </p:nvSpPr>
        <p:spPr bwMode="auto">
          <a:xfrm>
            <a:off x="404949" y="4354285"/>
            <a:ext cx="9577251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latin typeface="Times New Roman" panose="02020603050405020304" pitchFamily="18" charset="0"/>
              </a:rPr>
              <a:t>Xét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4: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output =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Hardlim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(0.2)</a:t>
            </a:r>
            <a:r>
              <a:rPr lang="fr-FR" altLang="en-US" sz="2000" b="1" dirty="0">
                <a:latin typeface="Times New Roman" panose="02020603050405020304" pitchFamily="18" charset="0"/>
              </a:rPr>
              <a:t> = 1.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sai</a:t>
            </a:r>
            <a:r>
              <a:rPr lang="fr-FR" altLang="en-US" sz="2000" b="1" dirty="0">
                <a:latin typeface="Times New Roman" panose="02020603050405020304" pitchFamily="18" charset="0"/>
              </a:rPr>
              <a:t>. Do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đó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điều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chỉnh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: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en-US" sz="2000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2000" b="1" i="1" baseline="30000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=  w + (y – output) x</a:t>
            </a:r>
            <a:endParaRPr lang="fr-FR" altLang="en-US" sz="2000" b="1" i="1" baseline="30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baseline="30000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  </a:t>
            </a:r>
            <a:r>
              <a:rPr lang="fr-FR" altLang="en-US" sz="2000" b="1" dirty="0">
                <a:latin typeface="Times New Roman" panose="02020603050405020304" pitchFamily="18" charset="0"/>
              </a:rPr>
              <a:t> = [0.34, 0.14, -0.73, 0.06]</a:t>
            </a:r>
            <a:r>
              <a:rPr lang="fr-FR" altLang="en-US" sz="2000" b="1" i="1" baseline="30000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>
                <a:latin typeface="Times New Roman" panose="02020603050405020304" pitchFamily="18" charset="0"/>
              </a:rPr>
              <a:t>- [</a:t>
            </a:r>
            <a:r>
              <a:rPr lang="fr-FR" altLang="en-US" sz="2000" b="1" dirty="0" smtClean="0">
                <a:latin typeface="Times New Roman" panose="02020603050405020304" pitchFamily="18" charset="0"/>
              </a:rPr>
              <a:t>0.35, 0.78, </a:t>
            </a:r>
            <a:r>
              <a:rPr lang="fr-FR" altLang="en-US" sz="2000" b="1" dirty="0">
                <a:latin typeface="Times New Roman" panose="02020603050405020304" pitchFamily="18" charset="0"/>
              </a:rPr>
              <a:t>0.12, 0.94],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= 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-0.01, -0.64, -0.85, -0.88</a:t>
            </a:r>
            <a:r>
              <a:rPr lang="fr-FR" altLang="en-US" sz="2000" b="1" dirty="0">
                <a:latin typeface="Times New Roman" panose="02020603050405020304" pitchFamily="18" charset="0"/>
              </a:rPr>
              <a:t>]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 = b + (y – output)</a:t>
            </a:r>
            <a:r>
              <a:rPr lang="fr-FR" altLang="en-US" sz="2000" b="1" dirty="0">
                <a:latin typeface="Times New Roman" panose="02020603050405020304" pitchFamily="18" charset="0"/>
              </a:rPr>
              <a:t>  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80D4C6AA-18E6-4083-8785-1EC098FD1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567884"/>
              </p:ext>
            </p:extLst>
          </p:nvPr>
        </p:nvGraphicFramePr>
        <p:xfrm>
          <a:off x="2675709" y="2497501"/>
          <a:ext cx="6096000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0.43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0.67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0.24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0.39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0.16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0.78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35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87" name="Rectangle 19"/>
          <p:cNvSpPr>
            <a:spLocks noChangeArrowheads="1"/>
          </p:cNvSpPr>
          <p:nvPr/>
        </p:nvSpPr>
        <p:spPr bwMode="auto">
          <a:xfrm>
            <a:off x="496389" y="958850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90" name="Rectangle 31"/>
          <p:cNvSpPr>
            <a:spLocks noChangeArrowheads="1"/>
          </p:cNvSpPr>
          <p:nvPr/>
        </p:nvSpPr>
        <p:spPr bwMode="auto">
          <a:xfrm>
            <a:off x="496389" y="1516063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Bước</a:t>
            </a: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1: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Khởi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tạo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ngẫu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nhiên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en-US" altLang="en-US" sz="2000" b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en-US" altLang="en-US" sz="2000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sử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chọn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0, 1, -1, 0]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</a:t>
            </a:r>
            <a:r>
              <a:rPr lang="fr-FR" altLang="en-US" sz="2000" b="1" dirty="0">
                <a:latin typeface="Times New Roman" panose="02020603050405020304" pitchFamily="18" charset="0"/>
              </a:rPr>
              <a:t>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2291" name="Rectangle 1"/>
          <p:cNvSpPr>
            <a:spLocks noChangeArrowheads="1"/>
          </p:cNvSpPr>
          <p:nvPr/>
        </p:nvSpPr>
        <p:spPr bwMode="auto">
          <a:xfrm>
            <a:off x="496389" y="4173812"/>
            <a:ext cx="9485811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 err="1">
                <a:latin typeface="Times New Roman" panose="02020603050405020304" pitchFamily="18" charset="0"/>
              </a:rPr>
              <a:t>Lặp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việc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lấy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từng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dữ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liệu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huấn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luyện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giá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trị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của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điều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chỉnh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w, b</a:t>
            </a:r>
            <a:r>
              <a:rPr lang="fr-FR" altLang="en-US" sz="2000" b="1" dirty="0">
                <a:latin typeface="Times New Roman" panose="02020603050405020304" pitchFamily="18" charset="0"/>
              </a:rPr>
              <a:t> khi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của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khác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với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đầu</a:t>
            </a:r>
            <a:r>
              <a:rPr lang="fr-FR" altLang="en-US" sz="2000" b="1" dirty="0">
                <a:latin typeface="Times New Roman" panose="02020603050405020304" pitchFamily="18" charset="0"/>
              </a:rPr>
              <a:t> ra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đã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biết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 err="1">
                <a:latin typeface="Times New Roman" panose="02020603050405020304" pitchFamily="18" charset="0"/>
              </a:rPr>
              <a:t>Xét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1:</a:t>
            </a:r>
            <a:r>
              <a:rPr lang="fr-FR" altLang="en-US" sz="2000" b="1" dirty="0">
                <a:latin typeface="Times New Roman" panose="02020603050405020304" pitchFamily="18" charset="0"/>
              </a:rPr>
              <a:t> Ta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tính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output = </a:t>
            </a:r>
            <a:r>
              <a:rPr lang="fr-FR" altLang="en-US" sz="2000" b="1" i="1" dirty="0" err="1">
                <a:latin typeface="Times New Roman" panose="02020603050405020304" pitchFamily="18" charset="0"/>
              </a:rPr>
              <a:t>Hardlim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(-</a:t>
            </a:r>
            <a:r>
              <a:rPr lang="fr-FR" altLang="en-US" sz="2000" b="1" dirty="0">
                <a:latin typeface="Times New Roman" panose="02020603050405020304" pitchFamily="18" charset="0"/>
              </a:rPr>
              <a:t>2.36) = 0.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dirty="0">
                <a:latin typeface="Times New Roman" panose="02020603050405020304" pitchFamily="18" charset="0"/>
              </a:rPr>
              <a:t>   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Mạng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nhận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dạng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sai</a:t>
            </a:r>
            <a:r>
              <a:rPr lang="fr-FR" altLang="en-US" sz="2000" b="1" dirty="0">
                <a:latin typeface="Times New Roman" panose="02020603050405020304" pitchFamily="18" charset="0"/>
              </a:rPr>
              <a:t>. Do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đó</a:t>
            </a:r>
            <a:r>
              <a:rPr lang="fr-FR" altLang="en-US" sz="2000" b="1" dirty="0">
                <a:latin typeface="Times New Roman" panose="02020603050405020304" pitchFamily="18" charset="0"/>
              </a:rPr>
              <a:t>,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bộ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trọng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điều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chỉnh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lại</a:t>
            </a:r>
            <a:r>
              <a:rPr lang="fr-FR" altLang="en-US" sz="2000" b="1" dirty="0">
                <a:latin typeface="Times New Roman" panose="02020603050405020304" pitchFamily="18" charset="0"/>
              </a:rPr>
              <a:t>:</a:t>
            </a:r>
            <a:endParaRPr lang="en-US" altLang="en-US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latin typeface="Times New Roman" panose="02020603050405020304" pitchFamily="18" charset="0"/>
              </a:rPr>
              <a:t>                   w</a:t>
            </a:r>
            <a:r>
              <a:rPr lang="fr-FR" altLang="en-US" sz="2000" b="1" i="1" baseline="30000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= </a:t>
            </a:r>
            <a:r>
              <a:rPr lang="fr-FR" altLang="en-US" sz="2000" b="1" dirty="0">
                <a:latin typeface="Times New Roman" panose="02020603050405020304" pitchFamily="18" charset="0"/>
              </a:rPr>
              <a:t> 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0.72, -0.52, -0.42, 0.16</a:t>
            </a:r>
            <a:r>
              <a:rPr lang="fr-FR" altLang="en-US" sz="2000" b="1" dirty="0">
                <a:latin typeface="Times New Roman" panose="02020603050405020304" pitchFamily="18" charset="0"/>
              </a:rPr>
              <a:t>]       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 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D673260-8562-4F43-A6FA-5795B202B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993927"/>
              </p:ext>
            </p:extLst>
          </p:nvPr>
        </p:nvGraphicFramePr>
        <p:xfrm>
          <a:off x="2706189" y="2436950"/>
          <a:ext cx="6096000" cy="1524000"/>
        </p:xfrm>
        <a:graphic>
          <a:graphicData uri="http://schemas.openxmlformats.org/drawingml/2006/table">
            <a:tbl>
              <a:tblPr/>
              <a:tblGrid>
                <a:gridCol w="83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7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0.73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0.43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1.04</a:t>
                      </a:r>
                      <a:endParaRPr lang="en-US" sz="2000" b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0.67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0.24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1.08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0.39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0.16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0.35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0.78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0.12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Courier New"/>
                          <a:ea typeface="Times New Roman"/>
                          <a:cs typeface="Times New Roman"/>
                        </a:rPr>
                        <a:t>0.94</a:t>
                      </a:r>
                      <a:endParaRPr lang="en-US" sz="2000" b="1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Táo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82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5" name="Rectangle 19"/>
          <p:cNvSpPr>
            <a:spLocks noChangeArrowheads="1"/>
          </p:cNvSpPr>
          <p:nvPr/>
        </p:nvSpPr>
        <p:spPr bwMode="auto">
          <a:xfrm>
            <a:off x="318293" y="1030329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38" name="Rectangle 1"/>
          <p:cNvSpPr>
            <a:spLocks noChangeArrowheads="1"/>
          </p:cNvSpPr>
          <p:nvPr/>
        </p:nvSpPr>
        <p:spPr bwMode="auto">
          <a:xfrm>
            <a:off x="1981200" y="1771650"/>
            <a:ext cx="807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>
                <a:latin typeface="Times New Roman" panose="02020603050405020304" pitchFamily="18" charset="0"/>
              </a:rPr>
              <a:t>w</a:t>
            </a:r>
            <a:r>
              <a:rPr lang="fr-FR" altLang="en-US" sz="2000" b="1" i="1" baseline="30000">
                <a:latin typeface="Times New Roman" panose="02020603050405020304" pitchFamily="18" charset="0"/>
              </a:rPr>
              <a:t> </a:t>
            </a:r>
            <a:r>
              <a:rPr lang="fr-FR" altLang="en-US" sz="2000" b="1" i="1">
                <a:latin typeface="Times New Roman" panose="02020603050405020304" pitchFamily="18" charset="0"/>
              </a:rPr>
              <a:t> = </a:t>
            </a:r>
            <a:r>
              <a:rPr lang="fr-FR" altLang="en-US" sz="2000" b="1">
                <a:latin typeface="Times New Roman" panose="02020603050405020304" pitchFamily="18" charset="0"/>
              </a:rPr>
              <a:t> [</a:t>
            </a:r>
            <a:r>
              <a:rPr lang="fr-FR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0.72, -0.52, -0.42, 0.16</a:t>
            </a:r>
            <a:r>
              <a:rPr lang="fr-FR" altLang="en-US" sz="2000" b="1">
                <a:latin typeface="Times New Roman" panose="02020603050405020304" pitchFamily="18" charset="0"/>
              </a:rPr>
              <a:t>]                       và </a:t>
            </a:r>
            <a:r>
              <a:rPr lang="fr-FR" altLang="en-US" sz="2000" b="1" i="1">
                <a:latin typeface="Times New Roman" panose="02020603050405020304" pitchFamily="18" charset="0"/>
              </a:rPr>
              <a:t>b = </a:t>
            </a:r>
            <a:r>
              <a:rPr lang="fr-FR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fr-FR" altLang="en-US" sz="2000" b="1">
                <a:latin typeface="Times New Roman" panose="02020603050405020304" pitchFamily="18" charset="0"/>
              </a:rPr>
              <a:t>.</a:t>
            </a:r>
            <a:endParaRPr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84339" name="Rectangle 33"/>
          <p:cNvSpPr>
            <a:spLocks noChangeArrowheads="1"/>
          </p:cNvSpPr>
          <p:nvPr/>
        </p:nvSpPr>
        <p:spPr bwMode="auto">
          <a:xfrm>
            <a:off x="822960" y="2362201"/>
            <a:ext cx="961644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1800" b="1" dirty="0">
                <a:latin typeface="Times New Roman" panose="02020603050405020304" pitchFamily="18" charset="0"/>
              </a:rPr>
              <a:t> 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Với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bộ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trọng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số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này</a:t>
            </a:r>
            <a:r>
              <a:rPr lang="fr-FR" altLang="en-US" sz="1800" b="1" dirty="0">
                <a:latin typeface="Times New Roman" panose="02020603050405020304" pitchFamily="18" charset="0"/>
              </a:rPr>
              <a:t>, ta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thấy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cả</a:t>
            </a:r>
            <a:r>
              <a:rPr lang="fr-FR" altLang="en-US" sz="1800" b="1" dirty="0">
                <a:latin typeface="Times New Roman" panose="02020603050405020304" pitchFamily="18" charset="0"/>
              </a:rPr>
              <a:t> 4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mẫu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dữ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liệu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trong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bộ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dữ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liệu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huấn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luyện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đều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được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phân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lớp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đúng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Dừng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quá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trình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huấn</a:t>
            </a:r>
            <a:r>
              <a:rPr lang="fr-FR" altLang="en-US" sz="1800" b="1" dirty="0">
                <a:latin typeface="Times New Roman" panose="02020603050405020304" pitchFamily="18" charset="0"/>
              </a:rPr>
              <a:t> </a:t>
            </a:r>
            <a:r>
              <a:rPr lang="fr-FR" altLang="en-US" sz="1800" b="1" dirty="0" err="1">
                <a:latin typeface="Times New Roman" panose="02020603050405020304" pitchFamily="18" charset="0"/>
              </a:rPr>
              <a:t>luyện</a:t>
            </a:r>
            <a:r>
              <a:rPr lang="fr-FR" altLang="en-US" sz="1800" b="1" dirty="0">
                <a:latin typeface="Times New Roman" panose="02020603050405020304" pitchFamily="18" charset="0"/>
              </a:rPr>
              <a:t>.</a:t>
            </a:r>
            <a:endParaRPr lang="en-US" altLang="en-US" sz="1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191000" y="3429001"/>
            <a:ext cx="4191000" cy="1933575"/>
            <a:chOff x="3931" y="11435"/>
            <a:chExt cx="5292" cy="2326"/>
          </a:xfrm>
        </p:grpSpPr>
        <p:sp>
          <p:nvSpPr>
            <p:cNvPr id="184341" name="Text Box 3"/>
            <p:cNvSpPr txBox="1">
              <a:spLocks noChangeArrowheads="1"/>
            </p:cNvSpPr>
            <p:nvPr/>
          </p:nvSpPr>
          <p:spPr bwMode="auto">
            <a:xfrm>
              <a:off x="3931" y="11435"/>
              <a:ext cx="1171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Red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42" name="Text Box 4"/>
            <p:cNvSpPr txBox="1">
              <a:spLocks noChangeArrowheads="1"/>
            </p:cNvSpPr>
            <p:nvPr/>
          </p:nvSpPr>
          <p:spPr bwMode="auto">
            <a:xfrm>
              <a:off x="7063" y="12155"/>
              <a:ext cx="216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output: </a:t>
              </a:r>
              <a:r>
                <a:rPr lang="en-US" altLang="en-US" sz="1400" b="1" i="1">
                  <a:latin typeface="Calibri" panose="020F0502020204030204" pitchFamily="34" charset="0"/>
                </a:rPr>
                <a:t>0 hoặc 1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43" name="Rectangle 5"/>
            <p:cNvSpPr>
              <a:spLocks noChangeArrowheads="1"/>
            </p:cNvSpPr>
            <p:nvPr/>
          </p:nvSpPr>
          <p:spPr bwMode="auto">
            <a:xfrm>
              <a:off x="4942" y="11679"/>
              <a:ext cx="209" cy="444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84344" name="AutoShape 6"/>
            <p:cNvCxnSpPr>
              <a:cxnSpLocks noChangeShapeType="1"/>
            </p:cNvCxnSpPr>
            <p:nvPr/>
          </p:nvCxnSpPr>
          <p:spPr bwMode="auto">
            <a:xfrm flipV="1">
              <a:off x="4039" y="11774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345" name="Rectangle 7"/>
            <p:cNvSpPr>
              <a:spLocks noChangeArrowheads="1"/>
            </p:cNvSpPr>
            <p:nvPr/>
          </p:nvSpPr>
          <p:spPr bwMode="auto">
            <a:xfrm>
              <a:off x="4937" y="12219"/>
              <a:ext cx="209" cy="444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84346" name="Text Box 8"/>
            <p:cNvSpPr txBox="1">
              <a:spLocks noChangeArrowheads="1"/>
            </p:cNvSpPr>
            <p:nvPr/>
          </p:nvSpPr>
          <p:spPr bwMode="auto">
            <a:xfrm>
              <a:off x="3931" y="11975"/>
              <a:ext cx="116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Green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47" name="Rectangle 9"/>
            <p:cNvSpPr>
              <a:spLocks noChangeArrowheads="1"/>
            </p:cNvSpPr>
            <p:nvPr/>
          </p:nvSpPr>
          <p:spPr bwMode="auto">
            <a:xfrm>
              <a:off x="4933" y="12760"/>
              <a:ext cx="209" cy="444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84348" name="Rectangle 10"/>
            <p:cNvSpPr>
              <a:spLocks noChangeArrowheads="1"/>
            </p:cNvSpPr>
            <p:nvPr/>
          </p:nvSpPr>
          <p:spPr bwMode="auto">
            <a:xfrm>
              <a:off x="4928" y="13272"/>
              <a:ext cx="209" cy="444"/>
            </a:xfrm>
            <a:prstGeom prst="rect">
              <a:avLst/>
            </a:prstGeom>
            <a:solidFill>
              <a:srgbClr val="4F81BD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84349" name="Text Box 11"/>
            <p:cNvSpPr txBox="1">
              <a:spLocks noChangeArrowheads="1"/>
            </p:cNvSpPr>
            <p:nvPr/>
          </p:nvSpPr>
          <p:spPr bwMode="auto">
            <a:xfrm>
              <a:off x="3931" y="12527"/>
              <a:ext cx="116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Blue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50" name="Text Box 12"/>
            <p:cNvSpPr txBox="1">
              <a:spLocks noChangeArrowheads="1"/>
            </p:cNvSpPr>
            <p:nvPr/>
          </p:nvSpPr>
          <p:spPr bwMode="auto">
            <a:xfrm>
              <a:off x="3931" y="13015"/>
              <a:ext cx="116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Shape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cxnSp>
          <p:nvCxnSpPr>
            <p:cNvPr id="184351" name="AutoShape 13"/>
            <p:cNvCxnSpPr>
              <a:cxnSpLocks noChangeShapeType="1"/>
            </p:cNvCxnSpPr>
            <p:nvPr/>
          </p:nvCxnSpPr>
          <p:spPr bwMode="auto">
            <a:xfrm>
              <a:off x="5157" y="11773"/>
              <a:ext cx="1474" cy="8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352" name="AutoShape 14"/>
            <p:cNvCxnSpPr>
              <a:cxnSpLocks noChangeShapeType="1"/>
            </p:cNvCxnSpPr>
            <p:nvPr/>
          </p:nvCxnSpPr>
          <p:spPr bwMode="auto">
            <a:xfrm>
              <a:off x="5155" y="12301"/>
              <a:ext cx="1476" cy="2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353" name="AutoShape 15"/>
            <p:cNvCxnSpPr>
              <a:cxnSpLocks noChangeShapeType="1"/>
            </p:cNvCxnSpPr>
            <p:nvPr/>
          </p:nvCxnSpPr>
          <p:spPr bwMode="auto">
            <a:xfrm flipV="1">
              <a:off x="5126" y="12590"/>
              <a:ext cx="1505" cy="7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354" name="AutoShape 16"/>
            <p:cNvCxnSpPr>
              <a:cxnSpLocks noChangeShapeType="1"/>
            </p:cNvCxnSpPr>
            <p:nvPr/>
          </p:nvCxnSpPr>
          <p:spPr bwMode="auto">
            <a:xfrm flipV="1">
              <a:off x="5142" y="12590"/>
              <a:ext cx="1489" cy="2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355" name="Oval 17"/>
            <p:cNvSpPr>
              <a:spLocks noChangeArrowheads="1"/>
            </p:cNvSpPr>
            <p:nvPr/>
          </p:nvSpPr>
          <p:spPr bwMode="auto">
            <a:xfrm>
              <a:off x="6631" y="12380"/>
              <a:ext cx="416" cy="625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cxnSp>
          <p:nvCxnSpPr>
            <p:cNvPr id="184356" name="AutoShape 18"/>
            <p:cNvCxnSpPr>
              <a:cxnSpLocks noChangeShapeType="1"/>
            </p:cNvCxnSpPr>
            <p:nvPr/>
          </p:nvCxnSpPr>
          <p:spPr bwMode="auto">
            <a:xfrm>
              <a:off x="7045" y="12578"/>
              <a:ext cx="802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357" name="Text Box 19"/>
            <p:cNvSpPr txBox="1">
              <a:spLocks noChangeArrowheads="1"/>
            </p:cNvSpPr>
            <p:nvPr/>
          </p:nvSpPr>
          <p:spPr bwMode="auto">
            <a:xfrm>
              <a:off x="5371" y="1175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 dirty="0">
                  <a:latin typeface="Calibri" panose="020F0502020204030204" pitchFamily="34" charset="0"/>
                </a:rPr>
                <a:t>0.72</a:t>
              </a:r>
              <a:endParaRPr lang="en-US" altLang="en-US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84358" name="Text Box 20"/>
            <p:cNvSpPr txBox="1">
              <a:spLocks noChangeArrowheads="1"/>
            </p:cNvSpPr>
            <p:nvPr/>
          </p:nvSpPr>
          <p:spPr bwMode="auto">
            <a:xfrm>
              <a:off x="5305" y="12159"/>
              <a:ext cx="9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-0.52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59" name="Text Box 21"/>
            <p:cNvSpPr txBox="1">
              <a:spLocks noChangeArrowheads="1"/>
            </p:cNvSpPr>
            <p:nvPr/>
          </p:nvSpPr>
          <p:spPr bwMode="auto">
            <a:xfrm>
              <a:off x="5303" y="12492"/>
              <a:ext cx="89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-0.42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60" name="Text Box 22"/>
            <p:cNvSpPr txBox="1">
              <a:spLocks noChangeArrowheads="1"/>
            </p:cNvSpPr>
            <p:nvPr/>
          </p:nvSpPr>
          <p:spPr bwMode="auto">
            <a:xfrm>
              <a:off x="5380" y="12796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0.16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cxnSp>
          <p:nvCxnSpPr>
            <p:cNvPr id="184361" name="AutoShape 23"/>
            <p:cNvCxnSpPr>
              <a:cxnSpLocks noChangeShapeType="1"/>
            </p:cNvCxnSpPr>
            <p:nvPr/>
          </p:nvCxnSpPr>
          <p:spPr bwMode="auto">
            <a:xfrm flipV="1">
              <a:off x="4019" y="12311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362" name="AutoShape 24"/>
            <p:cNvCxnSpPr>
              <a:cxnSpLocks noChangeShapeType="1"/>
            </p:cNvCxnSpPr>
            <p:nvPr/>
          </p:nvCxnSpPr>
          <p:spPr bwMode="auto">
            <a:xfrm flipV="1">
              <a:off x="4011" y="12867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363" name="AutoShape 25"/>
            <p:cNvCxnSpPr>
              <a:cxnSpLocks noChangeShapeType="1"/>
            </p:cNvCxnSpPr>
            <p:nvPr/>
          </p:nvCxnSpPr>
          <p:spPr bwMode="auto">
            <a:xfrm flipV="1">
              <a:off x="4003" y="13375"/>
              <a:ext cx="8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364" name="Line 26"/>
            <p:cNvSpPr>
              <a:spLocks noChangeShapeType="1"/>
            </p:cNvSpPr>
            <p:nvPr/>
          </p:nvSpPr>
          <p:spPr bwMode="auto">
            <a:xfrm>
              <a:off x="6839" y="12976"/>
              <a:ext cx="0" cy="5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vi-VN"/>
            </a:p>
          </p:txBody>
        </p:sp>
        <p:sp>
          <p:nvSpPr>
            <p:cNvPr id="184365" name="Text Box 27"/>
            <p:cNvSpPr txBox="1">
              <a:spLocks noChangeArrowheads="1"/>
            </p:cNvSpPr>
            <p:nvPr/>
          </p:nvSpPr>
          <p:spPr bwMode="auto">
            <a:xfrm>
              <a:off x="6595" y="1340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Calibri" panose="020F0502020204030204" pitchFamily="34" charset="0"/>
                </a:rPr>
                <a:t>1</a:t>
              </a:r>
              <a:endParaRPr lang="en-US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84366" name="Text Box 28"/>
            <p:cNvSpPr txBox="1">
              <a:spLocks noChangeArrowheads="1"/>
            </p:cNvSpPr>
            <p:nvPr/>
          </p:nvSpPr>
          <p:spPr bwMode="auto">
            <a:xfrm>
              <a:off x="7063" y="13095"/>
              <a:ext cx="617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400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47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9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83" name="Rectangle 19"/>
          <p:cNvSpPr>
            <a:spLocks noChangeArrowheads="1"/>
          </p:cNvSpPr>
          <p:nvPr/>
        </p:nvSpPr>
        <p:spPr bwMode="auto">
          <a:xfrm>
            <a:off x="509452" y="976313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Ví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dụ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về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huấn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luyện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Perceptron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nhận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dạng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Táo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 Cam</a:t>
            </a:r>
            <a:endParaRPr lang="fr-FR" altLang="en-US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86" name="Rectangle 1"/>
          <p:cNvSpPr>
            <a:spLocks noChangeArrowheads="1"/>
          </p:cNvSpPr>
          <p:nvPr/>
        </p:nvSpPr>
        <p:spPr bwMode="auto">
          <a:xfrm>
            <a:off x="1693817" y="1416050"/>
            <a:ext cx="807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en-US" sz="2000" b="1" i="1" dirty="0">
                <a:latin typeface="Times New Roman" panose="02020603050405020304" pitchFamily="18" charset="0"/>
              </a:rPr>
              <a:t>w</a:t>
            </a:r>
            <a:r>
              <a:rPr lang="fr-FR" altLang="en-US" sz="2000" b="1" i="1" baseline="30000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 = </a:t>
            </a:r>
            <a:r>
              <a:rPr lang="fr-FR" altLang="en-US" sz="2000" b="1" dirty="0">
                <a:latin typeface="Times New Roman" panose="02020603050405020304" pitchFamily="18" charset="0"/>
              </a:rPr>
              <a:t> [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0.72, -0.52, -0.42, 0.16</a:t>
            </a:r>
            <a:r>
              <a:rPr lang="fr-FR" altLang="en-US" sz="2000" b="1" dirty="0">
                <a:latin typeface="Times New Roman" panose="02020603050405020304" pitchFamily="18" charset="0"/>
              </a:rPr>
              <a:t>]                       </a:t>
            </a:r>
            <a:r>
              <a:rPr lang="fr-FR" altLang="en-US" sz="2000" b="1" dirty="0" err="1">
                <a:latin typeface="Times New Roman" panose="02020603050405020304" pitchFamily="18" charset="0"/>
              </a:rPr>
              <a:t>và</a:t>
            </a:r>
            <a:r>
              <a:rPr lang="fr-FR" altLang="en-US" sz="2000" b="1" dirty="0">
                <a:latin typeface="Times New Roman" panose="02020603050405020304" pitchFamily="18" charset="0"/>
              </a:rPr>
              <a:t> </a:t>
            </a:r>
            <a:r>
              <a:rPr lang="fr-FR" altLang="en-US" sz="2000" b="1" i="1" dirty="0">
                <a:latin typeface="Times New Roman" panose="02020603050405020304" pitchFamily="18" charset="0"/>
              </a:rPr>
              <a:t>b = </a:t>
            </a:r>
            <a:r>
              <a:rPr lang="fr-FR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fr-FR" altLang="en-US" sz="2000" b="1" dirty="0">
                <a:latin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86387" name="Rectangle 33"/>
          <p:cNvSpPr>
            <a:spLocks noChangeArrowheads="1"/>
          </p:cNvSpPr>
          <p:nvPr/>
        </p:nvSpPr>
        <p:spPr bwMode="auto">
          <a:xfrm>
            <a:off x="1693817" y="1949450"/>
            <a:ext cx="845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fr-FR" altLang="en-US" sz="1800" b="1">
                <a:latin typeface="Times New Roman" panose="02020603050405020304" pitchFamily="18" charset="0"/>
              </a:rPr>
              <a:t>  Giả sửa cần nhận dạng mẫu dữ liệu mới sau (giả sử mẫu là trái Cam)</a:t>
            </a:r>
            <a:endParaRPr lang="en-US" altLang="en-US" sz="1800" b="1">
              <a:latin typeface="Times New Roman" panose="02020603050405020304" pitchFamily="18" charset="0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460576D0-946A-4D9B-976D-BEFE6E865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38400"/>
              </p:ext>
            </p:extLst>
          </p:nvPr>
        </p:nvGraphicFramePr>
        <p:xfrm>
          <a:off x="2379617" y="2559050"/>
          <a:ext cx="6781800" cy="762000"/>
        </p:xfrm>
        <a:graphic>
          <a:graphicData uri="http://schemas.openxmlformats.org/drawingml/2006/table">
            <a:tbl>
              <a:tblPr/>
              <a:tblGrid>
                <a:gridCol w="924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3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Stt.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Green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Blue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Shape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5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0.85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0.23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0.71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Courier New"/>
                          <a:ea typeface="Times New Roman"/>
                          <a:cs typeface="Times New Roman"/>
                        </a:rPr>
                        <a:t>1.12</a:t>
                      </a:r>
                      <a:endParaRPr lang="en-US" sz="20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6414" name="Rectangle 47"/>
          <p:cNvSpPr>
            <a:spLocks noChangeArrowheads="1"/>
          </p:cNvSpPr>
          <p:nvPr/>
        </p:nvSpPr>
        <p:spPr bwMode="auto">
          <a:xfrm>
            <a:off x="1693817" y="3778250"/>
            <a:ext cx="777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US" sz="2000" b="1">
                <a:latin typeface="Times New Roman" panose="02020603050405020304" pitchFamily="18" charset="0"/>
              </a:rPr>
              <a:t>  Dễ dàng tính được: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output   = Hardlim</a:t>
            </a:r>
            <a:r>
              <a:rPr lang="en-US" altLang="en-US" sz="2000" b="1">
                <a:latin typeface="Times New Roman" panose="02020603050405020304" pitchFamily="18" charset="0"/>
              </a:rPr>
              <a:t>(0.85*0.72 - 0.23*0.52 – 0.71*0.42 + 0.16*1.12 + 0)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      	= </a:t>
            </a:r>
            <a:r>
              <a:rPr lang="en-US" altLang="en-US" sz="2000" b="1" i="1">
                <a:latin typeface="Times New Roman" panose="02020603050405020304" pitchFamily="18" charset="0"/>
              </a:rPr>
              <a:t>Hardlim</a:t>
            </a:r>
            <a:r>
              <a:rPr lang="en-US" altLang="en-US" sz="2000" b="1">
                <a:latin typeface="Times New Roman" panose="02020603050405020304" pitchFamily="18" charset="0"/>
              </a:rPr>
              <a:t>(0.37) = </a:t>
            </a:r>
            <a:r>
              <a:rPr lang="en-US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86415" name="Rectangle 48"/>
          <p:cNvSpPr>
            <a:spLocks noChangeArrowheads="1"/>
          </p:cNvSpPr>
          <p:nvPr/>
        </p:nvSpPr>
        <p:spPr bwMode="auto">
          <a:xfrm>
            <a:off x="1693817" y="4845050"/>
            <a:ext cx="7772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US" sz="2000" b="1">
                <a:latin typeface="Times New Roman" panose="02020603050405020304" pitchFamily="18" charset="0"/>
              </a:rPr>
              <a:t>  Mẫu được nhận dạng là trái Cam</a:t>
            </a:r>
          </a:p>
        </p:txBody>
      </p:sp>
      <p:sp>
        <p:nvSpPr>
          <p:cNvPr id="186416" name="Rectangle 49"/>
          <p:cNvSpPr>
            <a:spLocks noChangeArrowheads="1"/>
          </p:cNvSpPr>
          <p:nvPr/>
        </p:nvSpPr>
        <p:spPr bwMode="auto">
          <a:xfrm>
            <a:off x="1693817" y="5302251"/>
            <a:ext cx="8686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US" sz="2000" b="1">
                <a:solidFill>
                  <a:srgbClr val="0000FF"/>
                </a:solidFill>
                <a:latin typeface="Times New Roman" panose="02020603050405020304" pitchFamily="18" charset="0"/>
              </a:rPr>
              <a:t>  Điều này chứng tỏ mạng đã nhận dạng đúng, ngay cả khi mẫu nhận dạng không phải là một trong 4 mẫu trong bảng dữ liệu huấn luyện.</a:t>
            </a: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46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1823702-5956-42B9-BCC3-D7A8CA2D96B3}"/>
              </a:ext>
            </a:extLst>
          </p:cNvPr>
          <p:cNvGraphicFramePr>
            <a:graphicFrameLocks noGrp="1"/>
          </p:cNvGraphicFramePr>
          <p:nvPr/>
        </p:nvGraphicFramePr>
        <p:xfrm>
          <a:off x="3733801" y="3810000"/>
          <a:ext cx="4498975" cy="1371600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777041308"/>
                    </a:ext>
                  </a:extLst>
                </a:gridCol>
                <a:gridCol w="1125538">
                  <a:extLst>
                    <a:ext uri="{9D8B030D-6E8A-4147-A177-3AD203B41FA5}">
                      <a16:colId xmlns:a16="http://schemas.microsoft.com/office/drawing/2014/main" val="3878975716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614663030"/>
                    </a:ext>
                  </a:extLst>
                </a:gridCol>
                <a:gridCol w="1125537">
                  <a:extLst>
                    <a:ext uri="{9D8B030D-6E8A-4147-A177-3AD203B41FA5}">
                      <a16:colId xmlns:a16="http://schemas.microsoft.com/office/drawing/2014/main" val="131382272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Dài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Rộng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Nặng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559077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424878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48471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78083"/>
                  </a:ext>
                </a:extLst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</a:t>
                      </a:r>
                      <a:endParaRPr kumimoji="0" lang="en-US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626852"/>
                  </a:ext>
                </a:extLst>
              </a:tr>
            </a:tbl>
          </a:graphicData>
        </a:graphic>
      </p:graphicFrame>
      <p:sp>
        <p:nvSpPr>
          <p:cNvPr id="188465" name="Rectangle 1"/>
          <p:cNvSpPr>
            <a:spLocks noChangeArrowheads="1"/>
          </p:cNvSpPr>
          <p:nvPr/>
        </p:nvSpPr>
        <p:spPr bwMode="auto">
          <a:xfrm>
            <a:off x="694508" y="960438"/>
            <a:ext cx="85344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9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9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nơ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ron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Perceptron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9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Cho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0/ </a:t>
            </a:r>
            <a:r>
              <a:rPr lang="en-US" alt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</a:t>
            </a:r>
            <a:endParaRPr lang="en-US" altLang="en-US" sz="1900" b="1" dirty="0">
              <a:latin typeface="Times New Roman" panose="02020603050405020304" pitchFamily="18" charset="0"/>
            </a:endParaRPr>
          </a:p>
        </p:txBody>
      </p:sp>
      <p:sp>
        <p:nvSpPr>
          <p:cNvPr id="188466" name="Rectangle 25"/>
          <p:cNvSpPr>
            <a:spLocks noChangeArrowheads="1"/>
          </p:cNvSpPr>
          <p:nvPr/>
        </p:nvSpPr>
        <p:spPr bwMode="auto">
          <a:xfrm>
            <a:off x="2438400" y="5486400"/>
            <a:ext cx="762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Hãy huấn luyện mạng để thu được bộ trọng số tốt nhất.</a:t>
            </a:r>
            <a:endParaRPr lang="en-US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HUẤN LUYỆN MẠNG NƠ RON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2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4150"/>
          </a:xfrm>
          <a:solidFill>
            <a:srgbClr val="FF6600"/>
          </a:solidFill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MODULE 3</a:t>
            </a:r>
            <a:endParaRPr lang="vi-VN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36979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3408675" y="1269242"/>
            <a:ext cx="5374649" cy="3957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/>
              <a:t>POTENTIAL TEAMS TRAINING</a:t>
            </a:r>
            <a:endParaRPr lang="vi-VN" sz="28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929129" y="2912533"/>
            <a:ext cx="6491783" cy="18175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6000" b="1" dirty="0" smtClean="0"/>
              <a:t>OPTIMIZATION</a:t>
            </a:r>
          </a:p>
          <a:p>
            <a:pPr algn="ctr">
              <a:lnSpc>
                <a:spcPct val="120000"/>
              </a:lnSpc>
            </a:pPr>
            <a:r>
              <a:rPr lang="en-US" sz="3000" b="1" dirty="0" smtClean="0"/>
              <a:t>IN MACHINE LEARNING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872C9-B36E-4CA2-9A6A-33E7BDED6744}" type="datetime1">
              <a:rPr lang="vi-VN" smtClean="0"/>
              <a:t>15/12/21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9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65" name="Rectangle 1"/>
          <p:cNvSpPr>
            <a:spLocks noChangeArrowheads="1"/>
          </p:cNvSpPr>
          <p:nvPr/>
        </p:nvSpPr>
        <p:spPr bwMode="auto">
          <a:xfrm>
            <a:off x="576943" y="869951"/>
            <a:ext cx="8534400" cy="478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900" b="1" dirty="0">
              <a:latin typeface="Times New Roman" panose="02020603050405020304" pitchFamily="18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632858" y="2329593"/>
            <a:ext cx="104110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Máy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móc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có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thể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suy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nghĩ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và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hành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động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giống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con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người</a:t>
            </a:r>
            <a:endParaRPr lang="en-US" altLang="en-US" sz="3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632858" y="3030582"/>
            <a:ext cx="104110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Máy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móc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có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thể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suy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nghĩ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và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hành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động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hợp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lý</a:t>
            </a:r>
            <a:endParaRPr lang="en-US" altLang="en-US" sz="3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5132" y="2107252"/>
            <a:ext cx="15000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9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9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07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65" name="Rectangle 1"/>
          <p:cNvSpPr>
            <a:spLocks noChangeArrowheads="1"/>
          </p:cNvSpPr>
          <p:nvPr/>
        </p:nvSpPr>
        <p:spPr bwMode="auto">
          <a:xfrm>
            <a:off x="1946364" y="1122027"/>
            <a:ext cx="8490857" cy="1108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5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 NÀO LÀ HỢP LÝ ?</a:t>
            </a:r>
            <a:endParaRPr lang="en-US" altLang="en-US" sz="5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1521" y="1014434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149531" y="2445466"/>
            <a:ext cx="937913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Cần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đưa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ra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một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tiêu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chuẩn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để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đo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tính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hợp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lý</a:t>
            </a:r>
            <a:endParaRPr lang="en-US" alt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149530" y="3230296"/>
            <a:ext cx="1016290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Tìm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các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phương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án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để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“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Tiêu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chuẩn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hợp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lý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”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là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cao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nhất</a:t>
            </a:r>
            <a:endParaRPr lang="en-US" alt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149531" y="4005253"/>
            <a:ext cx="10267406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Gọi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là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phương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án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và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F(x)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là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giá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trị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tính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hợp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lý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của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X</a:t>
            </a:r>
            <a:endParaRPr lang="en-US" alt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149530" y="4748598"/>
            <a:ext cx="10267406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Tìm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X*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sao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cho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F(X*)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đạt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en-US" sz="3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7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8465" name="Rectangle 1"/>
              <p:cNvSpPr>
                <a:spLocks noChangeArrowheads="1"/>
              </p:cNvSpPr>
              <p:nvPr/>
            </p:nvSpPr>
            <p:spPr bwMode="auto">
              <a:xfrm>
                <a:off x="1946365" y="497055"/>
                <a:ext cx="3004458" cy="2178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457200" algn="l"/>
                  </a:tabLs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4572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457200" algn="l"/>
                  </a:tabLs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en-US" sz="50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𝑨𝑿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en-US" sz="50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altLang="en-US" sz="5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8465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6365" y="497055"/>
                <a:ext cx="3004458" cy="2178994"/>
              </a:xfrm>
              <a:prstGeom prst="rect">
                <a:avLst/>
              </a:prstGeom>
              <a:blipFill>
                <a:blip r:embed="rId3"/>
                <a:stretch>
                  <a:fillRect r="-89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47256" y="2673434"/>
            <a:ext cx="1319349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 D</a:t>
            </a:r>
            <a:endParaRPr lang="en-US" alt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757646" y="4126774"/>
            <a:ext cx="1026740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smtClean="0">
                <a:solidFill>
                  <a:srgbClr val="7030A0"/>
                </a:solidFill>
              </a:rPr>
              <a:t>HẦU HẾT CÁC MÔ HÌNH TRONG TRÍ TUỆ NHÂN TẠO ĐỀU QUY VỀ BÀI TOÁN TỐI ƯU VÀ GIẢI !</a:t>
            </a:r>
            <a:endParaRPr lang="en-US" altLang="en-US" sz="3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"/>
              <p:cNvSpPr>
                <a:spLocks noChangeArrowheads="1"/>
              </p:cNvSpPr>
              <p:nvPr/>
            </p:nvSpPr>
            <p:spPr bwMode="auto">
              <a:xfrm>
                <a:off x="6897188" y="495218"/>
                <a:ext cx="3004458" cy="21789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457200" algn="l"/>
                  </a:tabLs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4572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457200" algn="l"/>
                  </a:tabLs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4572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en-US" sz="50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𝑰𝑵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en-US" sz="50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en-US" sz="5000" b="1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altLang="en-US" sz="5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7188" y="495218"/>
                <a:ext cx="3004458" cy="2178994"/>
              </a:xfrm>
              <a:prstGeom prst="rect">
                <a:avLst/>
              </a:prstGeom>
              <a:blipFill>
                <a:blip r:embed="rId4"/>
                <a:stretch>
                  <a:fillRect r="-62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7067005" y="2595470"/>
            <a:ext cx="1319349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 D</a:t>
            </a:r>
            <a:endParaRPr lang="en-US" alt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5891349" y="1136469"/>
            <a:ext cx="0" cy="2243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16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975361" y="4971075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3327" y="4658971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661853" y="1196708"/>
            <a:ext cx="10267406" cy="598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Step 1: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hóa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bài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toán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thực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tế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thành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bài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toán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tối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ưu</a:t>
            </a:r>
            <a:endParaRPr lang="en-US" altLang="en-US" sz="2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661853" y="1912099"/>
            <a:ext cx="10267406" cy="598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Step 2: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Giải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bài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toán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tối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ưu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để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tìm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nghiệm</a:t>
            </a:r>
            <a:endParaRPr lang="en-US" altLang="en-US" sz="2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1484813" y="2918850"/>
            <a:ext cx="10267406" cy="598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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hóa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bài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toán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 MÔ HÌNH BÀI TOÁN</a:t>
            </a:r>
            <a:endParaRPr lang="en-US" altLang="en-US" sz="2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1484813" y="3565133"/>
            <a:ext cx="10267406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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Giải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bài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toán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                KỸ THUẬT/ THUẬT TOÁN</a:t>
            </a:r>
            <a:endParaRPr lang="en-US" altLang="en-US" sz="2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59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  <p:bldP spid="1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61704" y="1985427"/>
            <a:ext cx="10267406" cy="1823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SVM: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Tìm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phương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án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tách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bộ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làm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hai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phần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sao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lề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của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nó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đạt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cực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đại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altLang="en-US" sz="2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648218"/>
              </p:ext>
            </p:extLst>
          </p:nvPr>
        </p:nvGraphicFramePr>
        <p:xfrm>
          <a:off x="5723483" y="4099379"/>
          <a:ext cx="19050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6" name="Equation" r:id="rId4" imgW="787400" imgH="469900" progId="Equation.3">
                  <p:embed/>
                </p:oleObj>
              </mc:Choice>
              <mc:Fallback>
                <p:oleObj name="Equation" r:id="rId4" imgW="787400" imgH="46990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3483" y="4099379"/>
                        <a:ext cx="19050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81506"/>
              </p:ext>
            </p:extLst>
          </p:nvPr>
        </p:nvGraphicFramePr>
        <p:xfrm>
          <a:off x="8128545" y="4075567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7" name="Equation" r:id="rId6" imgW="1180588" imgH="393529" progId="Equation.3">
                  <p:embed/>
                </p:oleObj>
              </mc:Choice>
              <mc:Fallback>
                <p:oleObj name="Equation" r:id="rId6" imgW="1180588" imgH="393529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545" y="4075567"/>
                        <a:ext cx="2857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960656"/>
              </p:ext>
            </p:extLst>
          </p:nvPr>
        </p:nvGraphicFramePr>
        <p:xfrm>
          <a:off x="6714083" y="5242379"/>
          <a:ext cx="34671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8" name="Equation" r:id="rId8" imgW="1460500" imgH="228600" progId="Equation.3">
                  <p:embed/>
                </p:oleObj>
              </mc:Choice>
              <mc:Fallback>
                <p:oleObj name="Equation" r:id="rId8" imgW="1460500" imgH="228600" progId="Equation.3">
                  <p:embed/>
                  <p:pic>
                    <p:nvPicPr>
                      <p:cNvPr id="1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083" y="5242379"/>
                        <a:ext cx="34671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561704" y="4267347"/>
            <a:ext cx="3842658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X: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Siêu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phẳng</a:t>
            </a:r>
            <a:endParaRPr lang="en-US" altLang="en-US" sz="25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F(X):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Lề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tạo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ra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bởi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X</a:t>
            </a:r>
            <a:endParaRPr lang="en-US" altLang="en-US" sz="25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35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1911129"/>
            <a:ext cx="10267406" cy="598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alt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(data clustering):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18458" y="2955812"/>
            <a:ext cx="4937759" cy="263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 n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điểm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hãy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tìm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phương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án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chia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các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điểm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thành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k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các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điểm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trong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thì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“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Giống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nhau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”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hơn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các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điểm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khác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16" name="Picture 19" descr="class_cluster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195" y="2509306"/>
            <a:ext cx="5133703" cy="38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327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1911129"/>
            <a:ext cx="10267406" cy="598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alt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(data clustering):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18458" y="2634715"/>
            <a:ext cx="10358845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Gọi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phương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án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chia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các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C, ta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cần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tìm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phương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án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C*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tổng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khoảng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cách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từ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các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điểm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dữ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liệu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tới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>
                <a:solidFill>
                  <a:srgbClr val="FF0000"/>
                </a:solidFill>
              </a:rPr>
              <a:t>t</a:t>
            </a:r>
            <a:r>
              <a:rPr lang="en-US" altLang="en-US" sz="2200" b="1" i="1" dirty="0" err="1" smtClean="0">
                <a:solidFill>
                  <a:srgbClr val="FF0000"/>
                </a:solidFill>
              </a:rPr>
              <a:t>âm</a:t>
            </a:r>
            <a:r>
              <a:rPr lang="en-US" altLang="en-US" sz="2200" b="1" i="1" dirty="0" smtClean="0">
                <a:solidFill>
                  <a:srgbClr val="FF0000"/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của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nhóm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của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nó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nhỏ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nhất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18458" y="4219156"/>
            <a:ext cx="10358845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Vậy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F(C) = Tổng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khoảng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cách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từ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các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điểm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tới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tâm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của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nó</a:t>
            </a:r>
            <a:endParaRPr lang="en-US" altLang="en-US" sz="2200" b="1" i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849340"/>
              </p:ext>
            </p:extLst>
          </p:nvPr>
        </p:nvGraphicFramePr>
        <p:xfrm>
          <a:off x="3861163" y="4787933"/>
          <a:ext cx="4469674" cy="1345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3" name="Equation" r:id="rId4" imgW="1434960" imgH="431640" progId="Equation.3">
                  <p:embed/>
                </p:oleObj>
              </mc:Choice>
              <mc:Fallback>
                <p:oleObj name="Equation" r:id="rId4" imgW="1434960" imgH="431640" progId="Equation.3">
                  <p:embed/>
                  <p:pic>
                    <p:nvPicPr>
                      <p:cNvPr id="102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163" y="4787933"/>
                        <a:ext cx="4469674" cy="1345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891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1911129"/>
            <a:ext cx="10267406" cy="598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cụm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dữ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liệu</a:t>
            </a:r>
            <a:r>
              <a:rPr lang="en-US" alt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(data clustering): </a:t>
            </a: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849362"/>
              </p:ext>
            </p:extLst>
          </p:nvPr>
        </p:nvGraphicFramePr>
        <p:xfrm>
          <a:off x="3691345" y="2528058"/>
          <a:ext cx="4469674" cy="1345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7" name="Equation" r:id="rId4" imgW="1434960" imgH="431640" progId="Equation.3">
                  <p:embed/>
                </p:oleObj>
              </mc:Choice>
              <mc:Fallback>
                <p:oleObj name="Equation" r:id="rId4" imgW="1434960" imgH="431640" progId="Equation.3">
                  <p:embed/>
                  <p:pic>
                    <p:nvPicPr>
                      <p:cNvPr id="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1345" y="2528058"/>
                        <a:ext cx="4469674" cy="1345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746760" y="4381726"/>
            <a:ext cx="10358845" cy="53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F(C)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có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thể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được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gọi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hàm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tổn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thất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(LOSS FUNCTION)</a:t>
            </a:r>
          </a:p>
        </p:txBody>
      </p:sp>
    </p:spTree>
    <p:extLst>
      <p:ext uri="{BB962C8B-B14F-4D97-AF65-F5344CB8AC3E}">
        <p14:creationId xmlns:p14="http://schemas.microsoft.com/office/powerpoint/2010/main" val="270509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VAI TRÒ CỦA TỐI ƯU HÓA TRONG HỌC MÁY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1875511"/>
            <a:ext cx="10267406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mạng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nơ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PERCEPTRON: </a:t>
            </a: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718458" y="2634715"/>
            <a:ext cx="10358845" cy="53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Tìm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bộ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trọng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số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tối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ưu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lỗi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lớp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nhỏ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nhất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18456" y="3438547"/>
            <a:ext cx="1035884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Gọi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X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bộ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trọng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số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F(x)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lỗi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phân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lớp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Bài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toán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trở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thành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Tìm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X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F(X)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đạt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MIN.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18457" y="4724093"/>
            <a:ext cx="10358845" cy="53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F(X)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được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gọi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là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hàm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tổn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200" b="1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thất</a:t>
            </a:r>
            <a:r>
              <a:rPr lang="en-US" altLang="en-US" sz="2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– LOSS FUNCTION</a:t>
            </a:r>
          </a:p>
        </p:txBody>
      </p:sp>
    </p:spTree>
    <p:extLst>
      <p:ext uri="{BB962C8B-B14F-4D97-AF65-F5344CB8AC3E}">
        <p14:creationId xmlns:p14="http://schemas.microsoft.com/office/powerpoint/2010/main" val="70653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0"/>
          <p:cNvSpPr>
            <a:spLocks noChangeArrowheads="1"/>
          </p:cNvSpPr>
          <p:nvPr/>
        </p:nvSpPr>
        <p:spPr bwMode="auto">
          <a:xfrm>
            <a:off x="8633460" y="1122998"/>
            <a:ext cx="2034540" cy="6172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vi-VN" altLang="vi-VN" sz="2160"/>
          </a:p>
        </p:txBody>
      </p:sp>
      <p:sp>
        <p:nvSpPr>
          <p:cNvPr id="10244" name="TextBox 12"/>
          <p:cNvSpPr txBox="1">
            <a:spLocks noChangeArrowheads="1"/>
          </p:cNvSpPr>
          <p:nvPr/>
        </p:nvSpPr>
        <p:spPr bwMode="auto">
          <a:xfrm>
            <a:off x="1701165" y="260033"/>
            <a:ext cx="565213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vi-VN" sz="252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PHẦN 1: CHIẾN THUẬT THAM LAM</a:t>
            </a:r>
          </a:p>
        </p:txBody>
      </p:sp>
      <p:sp>
        <p:nvSpPr>
          <p:cNvPr id="10245" name="TextBox 12"/>
          <p:cNvSpPr txBox="1">
            <a:spLocks noChangeArrowheads="1"/>
          </p:cNvSpPr>
          <p:nvPr/>
        </p:nvSpPr>
        <p:spPr bwMode="auto">
          <a:xfrm>
            <a:off x="671445" y="1122998"/>
            <a:ext cx="56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 TỐI ƯU</a:t>
            </a:r>
          </a:p>
        </p:txBody>
      </p:sp>
      <p:sp>
        <p:nvSpPr>
          <p:cNvPr id="10246" name="TextBox 12"/>
          <p:cNvSpPr txBox="1">
            <a:spLocks noChangeArrowheads="1"/>
          </p:cNvSpPr>
          <p:nvPr/>
        </p:nvSpPr>
        <p:spPr bwMode="auto">
          <a:xfrm>
            <a:off x="3923280" y="1588771"/>
            <a:ext cx="21531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 f(x)</a:t>
            </a:r>
          </a:p>
          <a:p>
            <a:r>
              <a:rPr lang="en-US" altLang="vi-VN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altLang="vi-VN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 D</a:t>
            </a:r>
            <a:endParaRPr lang="en-US" altLang="vi-VN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5" name="TextBox 12"/>
          <p:cNvSpPr txBox="1">
            <a:spLocks noChangeArrowheads="1"/>
          </p:cNvSpPr>
          <p:nvPr/>
        </p:nvSpPr>
        <p:spPr bwMode="auto">
          <a:xfrm>
            <a:off x="947194" y="2494956"/>
            <a:ext cx="78867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f: </a:t>
            </a:r>
            <a:r>
              <a:rPr lang="en-US" alt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vi-V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objective function</a:t>
            </a:r>
          </a:p>
          <a:p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x: </a:t>
            </a:r>
            <a:r>
              <a:rPr lang="en-US" alt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variable</a:t>
            </a:r>
          </a:p>
          <a:p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D: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miền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domain</a:t>
            </a:r>
          </a:p>
        </p:txBody>
      </p:sp>
      <p:sp>
        <p:nvSpPr>
          <p:cNvPr id="7176" name="TextBox 12"/>
          <p:cNvSpPr txBox="1">
            <a:spLocks noChangeArrowheads="1"/>
          </p:cNvSpPr>
          <p:nvPr/>
        </p:nvSpPr>
        <p:spPr bwMode="auto">
          <a:xfrm>
            <a:off x="947194" y="4619080"/>
            <a:ext cx="7886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x* = arc min f(x) </a:t>
            </a:r>
          </a:p>
          <a:p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altLang="vi-VN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optimal solution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GIẢI BÀI TOÁN TỐI ƯU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64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  <p:bldP spid="717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8655" indent="-257175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8700" indent="-205740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40180" indent="-205740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51660" indent="-205740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6314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7462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8610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9758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A039F0-65C6-4EE6-BD26-AC47415F1648}" type="slidenum">
              <a:rPr lang="en-US" altLang="en-US" sz="1260"/>
              <a:pPr/>
              <a:t>72</a:t>
            </a:fld>
            <a:endParaRPr lang="en-US" altLang="en-US" sz="1260"/>
          </a:p>
        </p:txBody>
      </p:sp>
      <p:sp>
        <p:nvSpPr>
          <p:cNvPr id="11268" name="TextBox 12"/>
          <p:cNvSpPr txBox="1">
            <a:spLocks noChangeArrowheads="1"/>
          </p:cNvSpPr>
          <p:nvPr/>
        </p:nvSpPr>
        <p:spPr bwMode="auto">
          <a:xfrm>
            <a:off x="1701165" y="260033"/>
            <a:ext cx="565213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vi-VN" sz="252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PHẦN 1: CHIẾN THUẬT THAM LAM</a:t>
            </a:r>
          </a:p>
        </p:txBody>
      </p:sp>
      <p:sp>
        <p:nvSpPr>
          <p:cNvPr id="11270" name="TextBox 12"/>
          <p:cNvSpPr txBox="1">
            <a:spLocks noChangeArrowheads="1"/>
          </p:cNvSpPr>
          <p:nvPr/>
        </p:nvSpPr>
        <p:spPr bwMode="auto">
          <a:xfrm>
            <a:off x="788327" y="1894653"/>
            <a:ext cx="41562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sz="1800" b="1">
                <a:latin typeface="Courier New" panose="02070309020205020404" pitchFamily="49" charset="0"/>
                <a:cs typeface="Courier New" panose="02070309020205020404" pitchFamily="49" charset="0"/>
              </a:rPr>
              <a:t>x*: f(x) &gt;= f(x*) </a:t>
            </a:r>
            <a:r>
              <a:rPr lang="en-US" altLang="vi-VN" sz="1800" b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 x  D </a:t>
            </a:r>
          </a:p>
        </p:txBody>
      </p:sp>
      <p:sp>
        <p:nvSpPr>
          <p:cNvPr id="11271" name="TextBox 12"/>
          <p:cNvSpPr txBox="1">
            <a:spLocks noChangeArrowheads="1"/>
          </p:cNvSpPr>
          <p:nvPr/>
        </p:nvSpPr>
        <p:spPr bwMode="auto">
          <a:xfrm>
            <a:off x="746894" y="1057406"/>
            <a:ext cx="78867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Nghiệm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tối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ưu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toàn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cục</a:t>
            </a:r>
            <a:endParaRPr lang="en-US" altLang="vi-VN" sz="2160" b="1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Global optimum</a:t>
            </a:r>
            <a:endParaRPr lang="en-US" altLang="vi-VN" sz="216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272" name="Group 19"/>
          <p:cNvGrpSpPr>
            <a:grpSpLocks/>
          </p:cNvGrpSpPr>
          <p:nvPr/>
        </p:nvGrpSpPr>
        <p:grpSpPr bwMode="auto">
          <a:xfrm>
            <a:off x="6846979" y="841405"/>
            <a:ext cx="3972501" cy="2146161"/>
            <a:chOff x="5306694" y="1247775"/>
            <a:chExt cx="4853306" cy="3426760"/>
          </a:xfrm>
        </p:grpSpPr>
        <p:sp>
          <p:nvSpPr>
            <p:cNvPr id="11276" name="Rectangle 130"/>
            <p:cNvSpPr>
              <a:spLocks noChangeArrowheads="1"/>
            </p:cNvSpPr>
            <p:nvPr/>
          </p:nvSpPr>
          <p:spPr bwMode="auto">
            <a:xfrm>
              <a:off x="7899400" y="1247775"/>
              <a:ext cx="2260600" cy="685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vi-VN" altLang="vi-VN" sz="2160"/>
            </a:p>
          </p:txBody>
        </p:sp>
        <p:pic>
          <p:nvPicPr>
            <p:cNvPr id="11277" name="Picture 11" descr="images (1)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6694" y="1283017"/>
              <a:ext cx="4218305" cy="3391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6" name="Straight Connector 15"/>
            <p:cNvCxnSpPr/>
            <p:nvPr/>
          </p:nvCxnSpPr>
          <p:spPr>
            <a:xfrm rot="5400000">
              <a:off x="7101772" y="3946829"/>
              <a:ext cx="335989" cy="15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5654379" y="4066253"/>
              <a:ext cx="3383185" cy="38075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62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/>
                </a:rPr>
                <a:t>x</a:t>
              </a:r>
              <a:r>
                <a:rPr lang="en-US" sz="1620" b="1" baseline="30000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/>
                </a:rPr>
                <a:t></a:t>
              </a:r>
              <a:r>
                <a:rPr lang="en-US" sz="162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</a:p>
          </p:txBody>
        </p:sp>
      </p:grpSp>
      <p:sp>
        <p:nvSpPr>
          <p:cNvPr id="8201" name="TextBox 12"/>
          <p:cNvSpPr txBox="1">
            <a:spLocks noChangeArrowheads="1"/>
          </p:cNvSpPr>
          <p:nvPr/>
        </p:nvSpPr>
        <p:spPr bwMode="auto">
          <a:xfrm>
            <a:off x="746894" y="4816929"/>
            <a:ext cx="41562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sz="1800" b="1">
                <a:latin typeface="Courier New" panose="02070309020205020404" pitchFamily="49" charset="0"/>
                <a:cs typeface="Courier New" panose="02070309020205020404" pitchFamily="49" charset="0"/>
              </a:rPr>
              <a:t>x*: f(x) &gt;= f(x*) </a:t>
            </a:r>
            <a:r>
              <a:rPr lang="en-US" altLang="vi-VN" sz="1800" b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 x  U</a:t>
            </a:r>
          </a:p>
          <a:p>
            <a:r>
              <a:rPr lang="en-US" altLang="vi-VN" sz="1800" b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với U là lân cận của x </a:t>
            </a:r>
          </a:p>
        </p:txBody>
      </p:sp>
      <p:sp>
        <p:nvSpPr>
          <p:cNvPr id="8202" name="TextBox 17"/>
          <p:cNvSpPr txBox="1">
            <a:spLocks noChangeArrowheads="1"/>
          </p:cNvSpPr>
          <p:nvPr/>
        </p:nvSpPr>
        <p:spPr bwMode="auto">
          <a:xfrm>
            <a:off x="746893" y="3436678"/>
            <a:ext cx="7886700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Nghiệm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tối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ưu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địa</a:t>
            </a:r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altLang="vi-VN" sz="2160" b="1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phương</a:t>
            </a:r>
            <a:endParaRPr lang="en-US" altLang="vi-VN" sz="2160" b="1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r>
              <a:rPr lang="en-US" altLang="vi-VN" sz="2160" b="1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Local optimum</a:t>
            </a:r>
            <a:endParaRPr lang="en-US" altLang="vi-VN" sz="216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203" name="Picture 18" descr="image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639" y="3145363"/>
            <a:ext cx="4815909" cy="3042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GIẢI BÀI TOÁN TỐI ƯU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09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201" grpId="0"/>
      <p:bldP spid="820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68655" indent="-257175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8700" indent="-205740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40180" indent="-205740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51660" indent="-205740"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6314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7462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8610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97580" indent="-205740" eaLnBrk="0" fontAlgn="base" hangingPunct="0">
              <a:spcBef>
                <a:spcPct val="0"/>
              </a:spcBef>
              <a:spcAft>
                <a:spcPct val="0"/>
              </a:spcAft>
              <a:defRPr sz="216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1CEB192-974E-4F48-BA54-EC14E0105C8C}" type="slidenum">
              <a:rPr lang="en-US" altLang="en-US" sz="1260"/>
              <a:pPr/>
              <a:t>73</a:t>
            </a:fld>
            <a:endParaRPr lang="en-US" altLang="en-US" sz="1260"/>
          </a:p>
        </p:txBody>
      </p:sp>
      <p:sp>
        <p:nvSpPr>
          <p:cNvPr id="12292" name="TextBox 12"/>
          <p:cNvSpPr txBox="1">
            <a:spLocks noChangeArrowheads="1"/>
          </p:cNvSpPr>
          <p:nvPr/>
        </p:nvSpPr>
        <p:spPr bwMode="auto">
          <a:xfrm>
            <a:off x="1701165" y="260033"/>
            <a:ext cx="565213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vi-VN" sz="252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PHẦN 1: CHIẾN THUẬT THAM LAM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299891" y="5322201"/>
            <a:ext cx="97643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1584213" y="1120346"/>
            <a:ext cx="0" cy="4562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2130198" y="1436915"/>
            <a:ext cx="7235871" cy="2991394"/>
          </a:xfrm>
          <a:custGeom>
            <a:avLst/>
            <a:gdLst>
              <a:gd name="connsiteX0" fmla="*/ 0 w 6172200"/>
              <a:gd name="connsiteY0" fmla="*/ 487680 h 2961640"/>
              <a:gd name="connsiteX1" fmla="*/ 640080 w 6172200"/>
              <a:gd name="connsiteY1" fmla="*/ 1280160 h 2961640"/>
              <a:gd name="connsiteX2" fmla="*/ 1082040 w 6172200"/>
              <a:gd name="connsiteY2" fmla="*/ 838200 h 2961640"/>
              <a:gd name="connsiteX3" fmla="*/ 1432560 w 6172200"/>
              <a:gd name="connsiteY3" fmla="*/ 1173480 h 2961640"/>
              <a:gd name="connsiteX4" fmla="*/ 1600200 w 6172200"/>
              <a:gd name="connsiteY4" fmla="*/ 1584960 h 2961640"/>
              <a:gd name="connsiteX5" fmla="*/ 2011680 w 6172200"/>
              <a:gd name="connsiteY5" fmla="*/ 2240280 h 2961640"/>
              <a:gd name="connsiteX6" fmla="*/ 2484120 w 6172200"/>
              <a:gd name="connsiteY6" fmla="*/ 1082040 h 2961640"/>
              <a:gd name="connsiteX7" fmla="*/ 3307080 w 6172200"/>
              <a:gd name="connsiteY7" fmla="*/ 2849880 h 2961640"/>
              <a:gd name="connsiteX8" fmla="*/ 4053840 w 6172200"/>
              <a:gd name="connsiteY8" fmla="*/ 1752600 h 2961640"/>
              <a:gd name="connsiteX9" fmla="*/ 4526280 w 6172200"/>
              <a:gd name="connsiteY9" fmla="*/ 2026920 h 2961640"/>
              <a:gd name="connsiteX10" fmla="*/ 4861560 w 6172200"/>
              <a:gd name="connsiteY10" fmla="*/ 1310640 h 2961640"/>
              <a:gd name="connsiteX11" fmla="*/ 5334000 w 6172200"/>
              <a:gd name="connsiteY11" fmla="*/ 1508760 h 2961640"/>
              <a:gd name="connsiteX12" fmla="*/ 6172200 w 6172200"/>
              <a:gd name="connsiteY12" fmla="*/ 0 h 2961640"/>
              <a:gd name="connsiteX13" fmla="*/ 6172200 w 6172200"/>
              <a:gd name="connsiteY13" fmla="*/ 0 h 296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2961640">
                <a:moveTo>
                  <a:pt x="0" y="487680"/>
                </a:moveTo>
                <a:cubicBezTo>
                  <a:pt x="229870" y="854710"/>
                  <a:pt x="459740" y="1221740"/>
                  <a:pt x="640080" y="1280160"/>
                </a:cubicBezTo>
                <a:cubicBezTo>
                  <a:pt x="820420" y="1338580"/>
                  <a:pt x="949960" y="855980"/>
                  <a:pt x="1082040" y="838200"/>
                </a:cubicBezTo>
                <a:cubicBezTo>
                  <a:pt x="1214120" y="820420"/>
                  <a:pt x="1346200" y="1049020"/>
                  <a:pt x="1432560" y="1173480"/>
                </a:cubicBezTo>
                <a:cubicBezTo>
                  <a:pt x="1518920" y="1297940"/>
                  <a:pt x="1503680" y="1407160"/>
                  <a:pt x="1600200" y="1584960"/>
                </a:cubicBezTo>
                <a:cubicBezTo>
                  <a:pt x="1696720" y="1762760"/>
                  <a:pt x="1864360" y="2324100"/>
                  <a:pt x="2011680" y="2240280"/>
                </a:cubicBezTo>
                <a:cubicBezTo>
                  <a:pt x="2159000" y="2156460"/>
                  <a:pt x="2268220" y="980440"/>
                  <a:pt x="2484120" y="1082040"/>
                </a:cubicBezTo>
                <a:cubicBezTo>
                  <a:pt x="2700020" y="1183640"/>
                  <a:pt x="3045460" y="2738120"/>
                  <a:pt x="3307080" y="2849880"/>
                </a:cubicBezTo>
                <a:cubicBezTo>
                  <a:pt x="3568700" y="2961640"/>
                  <a:pt x="3850640" y="1889760"/>
                  <a:pt x="4053840" y="1752600"/>
                </a:cubicBezTo>
                <a:cubicBezTo>
                  <a:pt x="4257040" y="1615440"/>
                  <a:pt x="4391660" y="2100580"/>
                  <a:pt x="4526280" y="2026920"/>
                </a:cubicBezTo>
                <a:cubicBezTo>
                  <a:pt x="4660900" y="1953260"/>
                  <a:pt x="4726940" y="1397000"/>
                  <a:pt x="4861560" y="1310640"/>
                </a:cubicBezTo>
                <a:cubicBezTo>
                  <a:pt x="4996180" y="1224280"/>
                  <a:pt x="5115560" y="1727200"/>
                  <a:pt x="5334000" y="1508760"/>
                </a:cubicBezTo>
                <a:cubicBezTo>
                  <a:pt x="5552440" y="1290320"/>
                  <a:pt x="6172200" y="0"/>
                  <a:pt x="6172200" y="0"/>
                </a:cubicBezTo>
                <a:lnTo>
                  <a:pt x="6172200" y="0"/>
                </a:lnTo>
              </a:path>
            </a:pathLst>
          </a:cu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620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GIẢI BÀI TOÁN TỐI ƯU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72445" y="5682346"/>
            <a:ext cx="387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Tối</a:t>
            </a:r>
            <a:r>
              <a:rPr lang="en-US" b="1" dirty="0" smtClean="0"/>
              <a:t> </a:t>
            </a:r>
            <a:r>
              <a:rPr lang="en-US" b="1" dirty="0" err="1" smtClean="0"/>
              <a:t>ưu</a:t>
            </a:r>
            <a:r>
              <a:rPr lang="en-US" b="1" dirty="0" smtClean="0"/>
              <a:t> </a:t>
            </a:r>
            <a:r>
              <a:rPr lang="en-US" b="1" dirty="0" err="1" smtClean="0"/>
              <a:t>hóa</a:t>
            </a:r>
            <a:r>
              <a:rPr lang="en-US" b="1" dirty="0" smtClean="0"/>
              <a:t> </a:t>
            </a:r>
            <a:r>
              <a:rPr lang="en-US" b="1" dirty="0" err="1" smtClean="0"/>
              <a:t>hàm</a:t>
            </a:r>
            <a:r>
              <a:rPr lang="en-US" b="1" dirty="0" smtClean="0"/>
              <a:t> </a:t>
            </a:r>
            <a:r>
              <a:rPr lang="en-US" b="1" dirty="0" err="1" smtClean="0"/>
              <a:t>không</a:t>
            </a:r>
            <a:r>
              <a:rPr lang="en-US" b="1" dirty="0" smtClean="0"/>
              <a:t> </a:t>
            </a:r>
            <a:r>
              <a:rPr lang="en-US" b="1" dirty="0" err="1" smtClean="0"/>
              <a:t>lồi</a:t>
            </a:r>
            <a:endParaRPr lang="vi-VN" b="1" dirty="0"/>
          </a:p>
        </p:txBody>
      </p:sp>
    </p:spTree>
    <p:extLst>
      <p:ext uri="{BB962C8B-B14F-4D97-AF65-F5344CB8AC3E}">
        <p14:creationId xmlns:p14="http://schemas.microsoft.com/office/powerpoint/2010/main" val="299082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 FUNCTION TRONG MẠNG HỌC SÂU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1875511"/>
            <a:ext cx="10267406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mạng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nơ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PERCEPTRON: </a:t>
            </a: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888276" y="2671101"/>
            <a:ext cx="412786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i="1" dirty="0"/>
              <a:t>During training, we adjust the parameters to minimize the loss function and make our model as optimized as possible</a:t>
            </a:r>
            <a:endParaRPr lang="en-US" altLang="en-US" sz="2400" b="1" i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833" y="2544925"/>
            <a:ext cx="59245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6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 FUNCTION TRONG MẠNG HỌC SÂU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0492" y="967742"/>
            <a:ext cx="10267406" cy="69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3000" b="1" dirty="0" err="1" smtClean="0">
                <a:solidFill>
                  <a:srgbClr val="0070C0"/>
                </a:solidFill>
              </a:rPr>
              <a:t>Xây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dựng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HÀM MỤC TIÊU F(X)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như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thế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</a:t>
            </a:r>
            <a:r>
              <a:rPr lang="en-US" altLang="en-US" sz="3000" b="1" dirty="0" err="1" smtClean="0">
                <a:solidFill>
                  <a:srgbClr val="0070C0"/>
                </a:solidFill>
              </a:rPr>
              <a:t>nào</a:t>
            </a:r>
            <a:r>
              <a:rPr lang="en-US" altLang="en-US" sz="3000" b="1" dirty="0" smtClean="0">
                <a:solidFill>
                  <a:srgbClr val="0070C0"/>
                </a:solidFill>
              </a:rPr>
              <a:t> ?</a:t>
            </a:r>
            <a:endParaRPr lang="en-US" altLang="en-US" sz="30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458" y="655638"/>
            <a:ext cx="15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0" dirty="0" smtClean="0">
                <a:solidFill>
                  <a:srgbClr val="FF0000"/>
                </a:solidFill>
                <a:sym typeface="Webdings" panose="05030102010509060703" pitchFamily="18" charset="2"/>
              </a:rPr>
              <a:t></a:t>
            </a:r>
            <a:endParaRPr lang="vi-VN" sz="8000" dirty="0">
              <a:solidFill>
                <a:srgbClr val="FF0000"/>
              </a:solidFill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1875511"/>
            <a:ext cx="10267406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mạng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nơ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ron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PERCEPTRON: </a:t>
            </a: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1210492" y="2763082"/>
            <a:ext cx="9908177" cy="1477328"/>
          </a:xfrm>
          <a:prstGeom prst="rect">
            <a:avLst/>
          </a:prstGeom>
          <a:noFill/>
          <a:ln w="2857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Có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nhiều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định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nghĩa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khác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nhau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về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Loss Function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cho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cùng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bài</a:t>
            </a:r>
            <a:r>
              <a:rPr lang="en-US" sz="3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3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toán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altLang="en-US" sz="30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119053" y="4567702"/>
            <a:ext cx="10358845" cy="124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>
              <a:buFont typeface="Courier New" panose="02070309020205020404" pitchFamily="49" charset="0"/>
              <a:buChar char="o"/>
            </a:pPr>
            <a:r>
              <a:rPr lang="vi-VN" sz="2200" b="1" dirty="0"/>
              <a:t>Regression:</a:t>
            </a:r>
            <a:r>
              <a:rPr lang="vi-VN" sz="2200" dirty="0"/>
              <a:t> Squared error, Huber loss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vi-VN" sz="2200" b="1" dirty="0"/>
              <a:t>Binary Classification: </a:t>
            </a:r>
            <a:r>
              <a:rPr lang="vi-VN" sz="2200" dirty="0"/>
              <a:t>Binary cross-entropy, hinge loss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vi-VN" sz="2200" b="1" dirty="0"/>
              <a:t>Multi-class classification: </a:t>
            </a:r>
            <a:r>
              <a:rPr lang="vi-VN" sz="2200" dirty="0"/>
              <a:t>Multi-class cross-entropy, Kullback divergence</a:t>
            </a:r>
          </a:p>
        </p:txBody>
      </p:sp>
    </p:spTree>
    <p:extLst>
      <p:ext uri="{BB962C8B-B14F-4D97-AF65-F5344CB8AC3E}">
        <p14:creationId xmlns:p14="http://schemas.microsoft.com/office/powerpoint/2010/main" val="294321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 FUNCTION TRONG MẠNG HỌC SÂU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8641" y="745720"/>
            <a:ext cx="10267406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ct val="0"/>
              </a:spcBef>
            </a:pP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Với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mô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hình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mạng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học </a:t>
            </a:r>
            <a:r>
              <a:rPr lang="en-US" altLang="en-US" sz="25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sâu</a:t>
            </a:r>
            <a:r>
              <a:rPr lang="en-US" altLang="en-US" sz="25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CNN: </a:t>
            </a:r>
          </a:p>
        </p:txBody>
      </p:sp>
      <p:sp>
        <p:nvSpPr>
          <p:cNvPr id="2" name="Rectangle 1"/>
          <p:cNvSpPr/>
          <p:nvPr/>
        </p:nvSpPr>
        <p:spPr>
          <a:xfrm>
            <a:off x="844732" y="1589860"/>
            <a:ext cx="370806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Squared Error Loss</a:t>
            </a:r>
            <a:endParaRPr lang="vi-VN" sz="2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4732" y="2085611"/>
            <a:ext cx="46971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Cross-Entropy Loss (or Log Loss)</a:t>
            </a:r>
            <a:endParaRPr lang="vi-VN" sz="2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41852" y="1530698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Contrastive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Loss</a:t>
            </a: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Triplet Loss</a:t>
            </a: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Center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Loss</a:t>
            </a: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SphereFace</a:t>
            </a: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</a:endParaRP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CosFace</a:t>
            </a: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</a:endParaRP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ArcFace</a:t>
            </a: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</a:endParaRP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AdaCos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 </a:t>
            </a:r>
            <a:endParaRPr lang="en-US" sz="2200" dirty="0" smtClean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</a:endParaRP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Sub-Center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ArcFace</a:t>
            </a: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</a:endParaRPr>
          </a:p>
          <a:p>
            <a:pPr marL="742950" lvl="1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ArcFace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</a:rPr>
              <a:t> with Dynamic Margin</a:t>
            </a:r>
            <a:endParaRPr lang="en-US" sz="22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" panose="020B0502040504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4732" y="2581362"/>
            <a:ext cx="21050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Sofmax Loss</a:t>
            </a:r>
            <a:endParaRPr lang="vi-VN" sz="2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5455" y="5683783"/>
            <a:ext cx="107933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vi-VN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 </a:t>
            </a:r>
            <a:r>
              <a:rPr lang="vi-VN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function có ảnh hưởng lớn tới hiệu năng của mạng !!!</a:t>
            </a:r>
            <a:endParaRPr lang="vi-VN" sz="2800" b="1" dirty="0"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4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 FUNCTION TRONG MẠNG HỌC SÂU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44287" y="964323"/>
            <a:ext cx="7236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vi-V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 </a:t>
            </a:r>
            <a:r>
              <a:rPr lang="vi-V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function và Deep Metric Learning</a:t>
            </a:r>
            <a:endParaRPr lang="vi-VN" sz="28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74" y="1673216"/>
            <a:ext cx="5198572" cy="387563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490977" y="5773646"/>
            <a:ext cx="17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SoftMax LOSS</a:t>
            </a:r>
            <a:endParaRPr lang="vi-VN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236" y="1678348"/>
            <a:ext cx="5107950" cy="387050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60703" y="5773646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vi-VN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Center LOSS</a:t>
            </a:r>
            <a:endParaRPr lang="vi-VN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7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DEEP METRIC LEARNING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44287" y="964323"/>
            <a:ext cx="7236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vi-V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 </a:t>
            </a:r>
            <a:r>
              <a:rPr lang="vi-V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function và Deep Metric Learning</a:t>
            </a:r>
            <a:endParaRPr lang="vi-VN" sz="28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49234" y="3949265"/>
            <a:ext cx="10763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 Learning: Vừa giải quyết bài toán, vừa tìm ra độ đo phù hợp cho bài toán</a:t>
            </a:r>
            <a:endParaRPr lang="vi-VN" sz="24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49234" y="2646547"/>
            <a:ext cx="10090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vi-VN" sz="24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Làm thế nào để biết độ đo bạn sử dụng có phù hợp với dữ liệu và bài toán của bạn hay không ?</a:t>
            </a:r>
            <a:endParaRPr lang="vi-VN" sz="2400" b="1" dirty="0"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9234" y="4971991"/>
            <a:ext cx="107631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vi-V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 Learning trong mô hình học sâu (vd CNN) gọi là </a:t>
            </a:r>
            <a:r>
              <a:rPr lang="vi-V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Deep Metric Learning</a:t>
            </a:r>
            <a:endParaRPr lang="vi-VN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49234" y="1715265"/>
            <a:ext cx="8385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vi-V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Các Loss Function có sử dụng các độ đo để tính toán</a:t>
            </a:r>
            <a:endParaRPr lang="vi-VN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0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  <p:bldP spid="1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 txBox="1">
            <a:spLocks/>
          </p:cNvSpPr>
          <p:nvPr/>
        </p:nvSpPr>
        <p:spPr>
          <a:xfrm>
            <a:off x="0" y="0"/>
            <a:ext cx="12192000" cy="65563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    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METRIC LEARNING</a:t>
            </a:r>
            <a:endParaRPr lang="vi-VN" sz="2400" b="1" dirty="0">
              <a:solidFill>
                <a:schemeClr val="bg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736600"/>
            <a:ext cx="12192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44287" y="964323"/>
            <a:ext cx="7236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vi-V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 </a:t>
            </a:r>
            <a:r>
              <a:rPr lang="vi-V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function và Deep Metric Learning</a:t>
            </a:r>
            <a:endParaRPr lang="vi-VN" sz="28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78" y="1993262"/>
            <a:ext cx="10415044" cy="29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2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3803</TotalTime>
  <Words>6859</Words>
  <Application>Microsoft Office PowerPoint</Application>
  <PresentationFormat>Widescreen</PresentationFormat>
  <Paragraphs>1135</Paragraphs>
  <Slides>79</Slides>
  <Notes>45</Notes>
  <HiddenSlides>0</HiddenSlides>
  <MMClips>1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3" baseType="lpstr">
      <vt:lpstr>Arial</vt:lpstr>
      <vt:lpstr>Arial Black</vt:lpstr>
      <vt:lpstr>Calibri</vt:lpstr>
      <vt:lpstr>Calibri Light</vt:lpstr>
      <vt:lpstr>Cambria Math</vt:lpstr>
      <vt:lpstr>Courier New</vt:lpstr>
      <vt:lpstr>Noto Sans</vt:lpstr>
      <vt:lpstr>Roboto Slab</vt:lpstr>
      <vt:lpstr>Symbol</vt:lpstr>
      <vt:lpstr>Times New Roman</vt:lpstr>
      <vt:lpstr>Webdings</vt:lpstr>
      <vt:lpstr>Wingdings</vt:lpstr>
      <vt:lpstr>Retrospect</vt:lpstr>
      <vt:lpstr>Equation</vt:lpstr>
      <vt:lpstr>MACHINE LEARNING</vt:lpstr>
      <vt:lpstr>MODULE 1</vt:lpstr>
      <vt:lpstr>PowerPoint Presentation</vt:lpstr>
      <vt:lpstr>PowerPoint Presentation</vt:lpstr>
      <vt:lpstr>    BÀI TOÁN</vt:lpstr>
      <vt:lpstr>    PHƯƠNG PHÁP</vt:lpstr>
      <vt:lpstr>    PHƯƠNG PHÁP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PHÂN LỚP DỮ LIỆU BẰNG SVM</vt:lpstr>
      <vt:lpstr>    THỰC NGHIỆM PHÂN LỚP</vt:lpstr>
      <vt:lpstr>    THỰC NGHIỆM PHÂN LỚP</vt:lpstr>
      <vt:lpstr>    THỰC NGHIỆM PHÂN LỚP</vt:lpstr>
      <vt:lpstr>    BÀI TẬP</vt:lpstr>
      <vt:lpstr>    BÀI TẬP</vt:lpstr>
      <vt:lpstr>    BÀI TẬP</vt:lpstr>
      <vt:lpstr>MODULE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DỮ LIỆU</dc:title>
  <dc:creator>Admin</dc:creator>
  <cp:lastModifiedBy>Admin</cp:lastModifiedBy>
  <cp:revision>276</cp:revision>
  <dcterms:created xsi:type="dcterms:W3CDTF">2020-12-17T02:10:33Z</dcterms:created>
  <dcterms:modified xsi:type="dcterms:W3CDTF">2021-12-15T14:37:19Z</dcterms:modified>
</cp:coreProperties>
</file>